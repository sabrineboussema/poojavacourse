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12192000"/>
  <p:notesSz cx="6858000" cy="9144000"/>
  <p:embeddedFontLst>
    <p:embeddedFont>
      <p:font typeface="Tahoma"/>
      <p:regular r:id="rId40"/>
      <p:bold r:id="rId41"/>
    </p:embeddedFont>
    <p:embeddedFont>
      <p:font typeface="Quattrocento Sans"/>
      <p:regular r:id="rId42"/>
      <p:bold r:id="rId43"/>
      <p:italic r:id="rId44"/>
      <p:boldItalic r:id="rId45"/>
    </p:embeddedFont>
    <p:embeddedFont>
      <p:font typeface="Merriweather"/>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gHcALODk+kiB1c1omp4Ss+nVba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DB4A2B-A616-4299-9F59-80E0FF929C61}">
  <a:tblStyle styleId="{AADB4A2B-A616-4299-9F59-80E0FF929C61}"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42" Type="http://schemas.openxmlformats.org/officeDocument/2006/relationships/font" Target="fonts/QuattrocentoSans-regular.fntdata"/><Relationship Id="rId41" Type="http://schemas.openxmlformats.org/officeDocument/2006/relationships/font" Target="fonts/Tahoma-bold.fntdata"/><Relationship Id="rId44" Type="http://schemas.openxmlformats.org/officeDocument/2006/relationships/font" Target="fonts/QuattrocentoSans-italic.fntdata"/><Relationship Id="rId43" Type="http://schemas.openxmlformats.org/officeDocument/2006/relationships/font" Target="fonts/QuattrocentoSans-bold.fntdata"/><Relationship Id="rId46" Type="http://schemas.openxmlformats.org/officeDocument/2006/relationships/font" Target="fonts/Merriweather-regular.fntdata"/><Relationship Id="rId45" Type="http://schemas.openxmlformats.org/officeDocument/2006/relationships/font" Target="fonts/Quattrocento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erriweather-italic.fntdata"/><Relationship Id="rId47" Type="http://schemas.openxmlformats.org/officeDocument/2006/relationships/font" Target="fonts/Merriweather-bold.fntdata"/><Relationship Id="rId49"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L’encapsulation : l'encapsulation permet d’enfermer dans une capsule les données brutes afin d’éviter des erreurs de manipulation ou de corruptions des données. L’encapsulation permet ainsi de cacher des méthodes et des attributs à l’extérieur de la classe.</a:t>
            </a:r>
            <a:endParaRPr/>
          </a:p>
          <a:p>
            <a:pPr indent="0" lvl="0" marL="0" rtl="0" algn="l">
              <a:spcBef>
                <a:spcPts val="0"/>
              </a:spcBef>
              <a:spcAft>
                <a:spcPts val="0"/>
              </a:spcAft>
              <a:buNone/>
            </a:pPr>
            <a:r>
              <a:t/>
            </a:r>
            <a:endParaRPr/>
          </a:p>
        </p:txBody>
      </p:sp>
      <p:sp>
        <p:nvSpPr>
          <p:cNvPr id="373" name="Google Shape;37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type="title">
  <p:cSld name="TITLE">
    <p:spTree>
      <p:nvGrpSpPr>
        <p:cNvPr id="18" name="Shape 18"/>
        <p:cNvGrpSpPr/>
        <p:nvPr/>
      </p:nvGrpSpPr>
      <p:grpSpPr>
        <a:xfrm>
          <a:off x="0" y="0"/>
          <a:ext cx="0" cy="0"/>
          <a:chOff x="0" y="0"/>
          <a:chExt cx="0" cy="0"/>
        </a:xfrm>
      </p:grpSpPr>
      <p:sp>
        <p:nvSpPr>
          <p:cNvPr id="19" name="Google Shape;19;p3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6"/>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6"/>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3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36"/>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showMasterSp="0" type="secHead">
  <p:cSld name="SECTION_HEADER">
    <p:bg>
      <p:bgPr>
        <a:solidFill>
          <a:schemeClr val="lt1"/>
        </a:solidFill>
      </p:bgPr>
    </p:bg>
    <p:spTree>
      <p:nvGrpSpPr>
        <p:cNvPr id="27" name="Shape 27"/>
        <p:cNvGrpSpPr/>
        <p:nvPr/>
      </p:nvGrpSpPr>
      <p:grpSpPr>
        <a:xfrm>
          <a:off x="0" y="0"/>
          <a:ext cx="0" cy="0"/>
          <a:chOff x="0" y="0"/>
          <a:chExt cx="0" cy="0"/>
        </a:xfrm>
      </p:grpSpPr>
      <p:sp>
        <p:nvSpPr>
          <p:cNvPr id="28" name="Google Shape;28;p3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7"/>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7"/>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2" name="Google Shape;32;p3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5" name="Google Shape;35;p3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6" name="Shape 36"/>
        <p:cNvGrpSpPr/>
        <p:nvPr/>
      </p:nvGrpSpPr>
      <p:grpSpPr>
        <a:xfrm>
          <a:off x="0" y="0"/>
          <a:ext cx="0" cy="0"/>
          <a:chOff x="0" y="0"/>
          <a:chExt cx="0" cy="0"/>
        </a:xfrm>
      </p:grpSpPr>
      <p:sp>
        <p:nvSpPr>
          <p:cNvPr id="37" name="Google Shape;37;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3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2" name="Shape 42"/>
        <p:cNvGrpSpPr/>
        <p:nvPr/>
      </p:nvGrpSpPr>
      <p:grpSpPr>
        <a:xfrm>
          <a:off x="0" y="0"/>
          <a:ext cx="0" cy="0"/>
          <a:chOff x="0" y="0"/>
          <a:chExt cx="0" cy="0"/>
        </a:xfrm>
      </p:grpSpPr>
      <p:sp>
        <p:nvSpPr>
          <p:cNvPr id="43" name="Google Shape;43;p3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39"/>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5" name="Google Shape;45;p39"/>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3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9" name="Shape 49"/>
        <p:cNvGrpSpPr/>
        <p:nvPr/>
      </p:nvGrpSpPr>
      <p:grpSpPr>
        <a:xfrm>
          <a:off x="0" y="0"/>
          <a:ext cx="0" cy="0"/>
          <a:chOff x="0" y="0"/>
          <a:chExt cx="0" cy="0"/>
        </a:xfrm>
      </p:grpSpPr>
      <p:sp>
        <p:nvSpPr>
          <p:cNvPr id="50" name="Google Shape;50;p4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2" name="Google Shape;52;p40"/>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p40"/>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40"/>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4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8" name="Shape 58"/>
        <p:cNvGrpSpPr/>
        <p:nvPr/>
      </p:nvGrpSpPr>
      <p:grpSpPr>
        <a:xfrm>
          <a:off x="0" y="0"/>
          <a:ext cx="0" cy="0"/>
          <a:chOff x="0" y="0"/>
          <a:chExt cx="0" cy="0"/>
        </a:xfrm>
      </p:grpSpPr>
      <p:sp>
        <p:nvSpPr>
          <p:cNvPr id="59" name="Google Shape;59;p4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showMasterSp="0" type="blank">
  <p:cSld name="BLANK">
    <p:spTree>
      <p:nvGrpSpPr>
        <p:cNvPr id="63" name="Shape 63"/>
        <p:cNvGrpSpPr/>
        <p:nvPr/>
      </p:nvGrpSpPr>
      <p:grpSpPr>
        <a:xfrm>
          <a:off x="0" y="0"/>
          <a:ext cx="0" cy="0"/>
          <a:chOff x="0" y="0"/>
          <a:chExt cx="0" cy="0"/>
        </a:xfrm>
      </p:grpSpPr>
      <p:sp>
        <p:nvSpPr>
          <p:cNvPr id="64" name="Google Shape;64;p4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showMasterSp="0" type="objTx">
  <p:cSld name="OBJECT_WITH_CAPTION_TEXT">
    <p:spTree>
      <p:nvGrpSpPr>
        <p:cNvPr id="69" name="Shape 69"/>
        <p:cNvGrpSpPr/>
        <p:nvPr/>
      </p:nvGrpSpPr>
      <p:grpSpPr>
        <a:xfrm>
          <a:off x="0" y="0"/>
          <a:ext cx="0" cy="0"/>
          <a:chOff x="0" y="0"/>
          <a:chExt cx="0" cy="0"/>
        </a:xfrm>
      </p:grpSpPr>
      <p:sp>
        <p:nvSpPr>
          <p:cNvPr id="70" name="Google Shape;70;p43"/>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3"/>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3"/>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3"/>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43"/>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43"/>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3"/>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showMasterSp="0" type="picTx">
  <p:cSld name="PICTURE_WITH_CAPTION_TEXT">
    <p:spTree>
      <p:nvGrpSpPr>
        <p:cNvPr id="78" name="Shape 78"/>
        <p:cNvGrpSpPr/>
        <p:nvPr/>
      </p:nvGrpSpPr>
      <p:grpSpPr>
        <a:xfrm>
          <a:off x="0" y="0"/>
          <a:ext cx="0" cy="0"/>
          <a:chOff x="0" y="0"/>
          <a:chExt cx="0" cy="0"/>
        </a:xfrm>
      </p:grpSpPr>
      <p:sp>
        <p:nvSpPr>
          <p:cNvPr id="79" name="Google Shape;79;p44"/>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4"/>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4"/>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44"/>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83" name="Google Shape;83;p44"/>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4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7" name="Shape 87"/>
        <p:cNvGrpSpPr/>
        <p:nvPr/>
      </p:nvGrpSpPr>
      <p:grpSpPr>
        <a:xfrm>
          <a:off x="0" y="0"/>
          <a:ext cx="0" cy="0"/>
          <a:chOff x="0" y="0"/>
          <a:chExt cx="0" cy="0"/>
        </a:xfrm>
      </p:grpSpPr>
      <p:sp>
        <p:nvSpPr>
          <p:cNvPr id="88" name="Google Shape;88;p4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45"/>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4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showMasterSp="0" type="vertTitleAndTx">
  <p:cSld name="VERTICAL_TITLE_AND_VERTICAL_TEXT">
    <p:spTree>
      <p:nvGrpSpPr>
        <p:cNvPr id="93" name="Shape 93"/>
        <p:cNvGrpSpPr/>
        <p:nvPr/>
      </p:nvGrpSpPr>
      <p:grpSpPr>
        <a:xfrm>
          <a:off x="0" y="0"/>
          <a:ext cx="0" cy="0"/>
          <a:chOff x="0" y="0"/>
          <a:chExt cx="0" cy="0"/>
        </a:xfrm>
      </p:grpSpPr>
      <p:sp>
        <p:nvSpPr>
          <p:cNvPr id="94" name="Google Shape;94;p4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6"/>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46"/>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4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35"/>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35"/>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8000"/>
              <a:buFont typeface="Calibri"/>
              <a:buNone/>
            </a:pPr>
            <a:r>
              <a:rPr b="1" lang="en-US"/>
              <a:t>Programmation Orientée Objet</a:t>
            </a:r>
            <a:br>
              <a:rPr b="1" lang="en-US"/>
            </a:br>
            <a:r>
              <a:rPr lang="en-US" sz="3600"/>
              <a:t>3</a:t>
            </a:r>
            <a:r>
              <a:rPr baseline="30000" lang="en-US" sz="3600"/>
              <a:t>ème</a:t>
            </a:r>
            <a:r>
              <a:rPr lang="en-US" sz="3600"/>
              <a:t> année Ingénieur en Informatique</a:t>
            </a:r>
            <a:br>
              <a:rPr b="1" lang="en-US"/>
            </a:br>
            <a:r>
              <a:rPr lang="en-US" sz="6600"/>
              <a:t> </a:t>
            </a:r>
            <a:endParaRPr b="1" sz="2000"/>
          </a:p>
        </p:txBody>
      </p:sp>
      <p:sp>
        <p:nvSpPr>
          <p:cNvPr id="106" name="Google Shape;106;p1"/>
          <p:cNvSpPr txBox="1"/>
          <p:nvPr>
            <p:ph idx="1" type="subTitle"/>
          </p:nvPr>
        </p:nvSpPr>
        <p:spPr>
          <a:xfrm>
            <a:off x="1100051" y="4455621"/>
            <a:ext cx="10058400" cy="152832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160000"/>
              </a:lnSpc>
              <a:spcBef>
                <a:spcPts val="0"/>
              </a:spcBef>
              <a:spcAft>
                <a:spcPts val="0"/>
              </a:spcAft>
              <a:buSzPct val="100000"/>
              <a:buNone/>
            </a:pPr>
            <a:r>
              <a:rPr b="1" lang="en-US" cap="none">
                <a:latin typeface="Times New Roman"/>
                <a:ea typeface="Times New Roman"/>
                <a:cs typeface="Times New Roman"/>
                <a:sym typeface="Times New Roman"/>
              </a:rPr>
              <a:t>Dr. Ing.  Rihab BEN LAMINE</a:t>
            </a:r>
            <a:br>
              <a:rPr b="1" lang="en-US" cap="none">
                <a:latin typeface="Times New Roman"/>
                <a:ea typeface="Times New Roman"/>
                <a:cs typeface="Times New Roman"/>
                <a:sym typeface="Times New Roman"/>
              </a:rPr>
            </a:br>
            <a:r>
              <a:rPr b="1" i="1" lang="en-US" sz="1900" cap="none">
                <a:latin typeface="Times New Roman"/>
                <a:ea typeface="Times New Roman"/>
                <a:cs typeface="Times New Roman"/>
                <a:sym typeface="Times New Roman"/>
              </a:rPr>
              <a:t>benlaminerihab@gmail.com</a:t>
            </a:r>
            <a:endParaRPr/>
          </a:p>
          <a:p>
            <a:pPr indent="0" lvl="0" marL="0" rtl="0" algn="ctr">
              <a:lnSpc>
                <a:spcPct val="90000"/>
              </a:lnSpc>
              <a:spcBef>
                <a:spcPts val="1400"/>
              </a:spcBef>
              <a:spcAft>
                <a:spcPts val="0"/>
              </a:spcAft>
              <a:buSzPct val="100000"/>
              <a:buNone/>
            </a:pPr>
            <a:r>
              <a:rPr i="1" lang="en-US" sz="2600" cap="none">
                <a:latin typeface="Times New Roman"/>
                <a:ea typeface="Times New Roman"/>
                <a:cs typeface="Times New Roman"/>
                <a:sym typeface="Times New Roman"/>
              </a:rPr>
              <a:t>2023-2024</a:t>
            </a:r>
            <a:endParaRPr i="1" sz="2600" cap="none">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just">
              <a:lnSpc>
                <a:spcPct val="85000"/>
              </a:lnSpc>
              <a:spcBef>
                <a:spcPts val="0"/>
              </a:spcBef>
              <a:spcAft>
                <a:spcPts val="0"/>
              </a:spcAft>
              <a:buClr>
                <a:srgbClr val="262626"/>
              </a:buClr>
              <a:buSzPts val="8000"/>
              <a:buFont typeface="Calibri"/>
              <a:buNone/>
            </a:pPr>
            <a:r>
              <a:rPr lang="en-US"/>
              <a:t>Chapitre 2: Classes et Objets</a:t>
            </a:r>
            <a:endParaRPr/>
          </a:p>
        </p:txBody>
      </p:sp>
      <p:sp>
        <p:nvSpPr>
          <p:cNvPr id="112" name="Google Shape;112;p2"/>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
        <p:nvSpPr>
          <p:cNvPr id="113" name="Google Shape;113;p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119" name="Google Shape;119;p3"/>
          <p:cNvSpPr txBox="1"/>
          <p:nvPr>
            <p:ph idx="1" type="body"/>
          </p:nvPr>
        </p:nvSpPr>
        <p:spPr>
          <a:xfrm>
            <a:off x="1097280" y="1549900"/>
            <a:ext cx="10058400" cy="3338688"/>
          </a:xfrm>
          <a:prstGeom prst="rect">
            <a:avLst/>
          </a:prstGeom>
          <a:noFill/>
          <a:ln>
            <a:noFill/>
          </a:ln>
        </p:spPr>
        <p:txBody>
          <a:bodyPr anchorCtr="0" anchor="t" bIns="0" lIns="0" spcFirstLastPara="1" rIns="0" wrap="square" tIns="380300">
            <a:spAutoFit/>
          </a:bodyPr>
          <a:lstStyle/>
          <a:p>
            <a:pPr indent="0" lvl="0" marL="0" rtl="0" algn="just">
              <a:lnSpc>
                <a:spcPct val="100000"/>
              </a:lnSpc>
              <a:spcBef>
                <a:spcPts val="0"/>
              </a:spcBef>
              <a:spcAft>
                <a:spcPts val="0"/>
              </a:spcAft>
              <a:buSzPts val="2400"/>
              <a:buNone/>
            </a:pPr>
            <a:r>
              <a:rPr lang="en-US" sz="2400">
                <a:solidFill>
                  <a:schemeClr val="dk1"/>
                </a:solidFill>
              </a:rPr>
              <a:t>La classe</a:t>
            </a:r>
            <a:endParaRPr/>
          </a:p>
          <a:p>
            <a:pPr indent="-342900" lvl="0" marL="664844" rtl="0" algn="just">
              <a:lnSpc>
                <a:spcPct val="100000"/>
              </a:lnSpc>
              <a:spcBef>
                <a:spcPts val="0"/>
              </a:spcBef>
              <a:spcAft>
                <a:spcPts val="0"/>
              </a:spcAft>
              <a:buSzPts val="2400"/>
              <a:buFont typeface="Noto Sans Symbols"/>
              <a:buChar char="▪"/>
            </a:pPr>
            <a:r>
              <a:rPr b="0" lang="en-US" sz="2400">
                <a:solidFill>
                  <a:schemeClr val="dk1"/>
                </a:solidFill>
              </a:rPr>
              <a:t>Permet de créer des types de données plus complexes</a:t>
            </a:r>
            <a:endParaRPr sz="2400">
              <a:solidFill>
                <a:schemeClr val="dk1"/>
              </a:solidFill>
            </a:endParaRPr>
          </a:p>
          <a:p>
            <a:pPr indent="-342900" lvl="0" marL="664844" rtl="0" algn="just">
              <a:lnSpc>
                <a:spcPct val="100000"/>
              </a:lnSpc>
              <a:spcBef>
                <a:spcPts val="0"/>
              </a:spcBef>
              <a:spcAft>
                <a:spcPts val="0"/>
              </a:spcAft>
              <a:buSzPts val="2400"/>
              <a:buFont typeface="Noto Sans Symbols"/>
              <a:buChar char="▪"/>
            </a:pPr>
            <a:r>
              <a:rPr b="0" lang="en-US" sz="2400">
                <a:solidFill>
                  <a:schemeClr val="dk1"/>
                </a:solidFill>
              </a:rPr>
              <a:t>Garantit que tous les objets crées auront</a:t>
            </a:r>
            <a:endParaRPr sz="2400">
              <a:solidFill>
                <a:schemeClr val="dk1"/>
              </a:solidFill>
            </a:endParaRPr>
          </a:p>
          <a:p>
            <a:pPr indent="-342900" lvl="0" marL="1122045" rtl="0" algn="just">
              <a:lnSpc>
                <a:spcPct val="100000"/>
              </a:lnSpc>
              <a:spcBef>
                <a:spcPts val="0"/>
              </a:spcBef>
              <a:spcAft>
                <a:spcPts val="0"/>
              </a:spcAft>
              <a:buSzPts val="2400"/>
              <a:buFont typeface="Noto Sans Symbols"/>
              <a:buChar char="⮚"/>
            </a:pPr>
            <a:r>
              <a:rPr b="0" lang="en-US" sz="2400">
                <a:solidFill>
                  <a:schemeClr val="dk1"/>
                </a:solidFill>
              </a:rPr>
              <a:t>Même structure</a:t>
            </a:r>
            <a:endParaRPr sz="2400">
              <a:solidFill>
                <a:schemeClr val="dk1"/>
              </a:solidFill>
            </a:endParaRPr>
          </a:p>
          <a:p>
            <a:pPr indent="-342900" lvl="0" marL="1122045" rtl="0" algn="just">
              <a:lnSpc>
                <a:spcPct val="100000"/>
              </a:lnSpc>
              <a:spcBef>
                <a:spcPts val="0"/>
              </a:spcBef>
              <a:spcAft>
                <a:spcPts val="0"/>
              </a:spcAft>
              <a:buSzPts val="2400"/>
              <a:buFont typeface="Noto Sans Symbols"/>
              <a:buChar char="⮚"/>
            </a:pPr>
            <a:r>
              <a:rPr b="0" lang="en-US" sz="2400">
                <a:solidFill>
                  <a:schemeClr val="dk1"/>
                </a:solidFill>
              </a:rPr>
              <a:t>Même comportement</a:t>
            </a:r>
            <a:endParaRPr sz="2400">
              <a:solidFill>
                <a:schemeClr val="dk1"/>
              </a:solidFill>
            </a:endParaRPr>
          </a:p>
          <a:p>
            <a:pPr indent="-342900" lvl="0" marL="664844" rtl="0" algn="just">
              <a:lnSpc>
                <a:spcPct val="100000"/>
              </a:lnSpc>
              <a:spcBef>
                <a:spcPts val="0"/>
              </a:spcBef>
              <a:spcAft>
                <a:spcPts val="0"/>
              </a:spcAft>
              <a:buSzPts val="2400"/>
              <a:buFont typeface="Noto Sans Symbols"/>
              <a:buChar char="▪"/>
            </a:pPr>
            <a:r>
              <a:rPr b="0" lang="en-US" sz="2400">
                <a:solidFill>
                  <a:schemeClr val="dk1"/>
                </a:solidFill>
              </a:rPr>
              <a:t>Se compose</a:t>
            </a:r>
            <a:endParaRPr sz="2400">
              <a:solidFill>
                <a:schemeClr val="dk1"/>
              </a:solidFill>
            </a:endParaRPr>
          </a:p>
          <a:p>
            <a:pPr indent="-342900" lvl="0" marL="1122045" rtl="0" algn="just">
              <a:lnSpc>
                <a:spcPct val="100000"/>
              </a:lnSpc>
              <a:spcBef>
                <a:spcPts val="0"/>
              </a:spcBef>
              <a:spcAft>
                <a:spcPts val="0"/>
              </a:spcAft>
              <a:buSzPts val="2400"/>
              <a:buFont typeface="Noto Sans Symbols"/>
              <a:buChar char="⮚"/>
            </a:pPr>
            <a:r>
              <a:rPr b="0" lang="en-US" sz="2400">
                <a:solidFill>
                  <a:schemeClr val="dk1"/>
                </a:solidFill>
              </a:rPr>
              <a:t>Attributs</a:t>
            </a:r>
            <a:endParaRPr sz="2400">
              <a:solidFill>
                <a:schemeClr val="dk1"/>
              </a:solidFill>
            </a:endParaRPr>
          </a:p>
          <a:p>
            <a:pPr indent="-342900" lvl="0" marL="1122045" rtl="0" algn="just">
              <a:lnSpc>
                <a:spcPct val="100000"/>
              </a:lnSpc>
              <a:spcBef>
                <a:spcPts val="0"/>
              </a:spcBef>
              <a:spcAft>
                <a:spcPts val="0"/>
              </a:spcAft>
              <a:buSzPts val="2400"/>
              <a:buFont typeface="Noto Sans Symbols"/>
              <a:buChar char="⮚"/>
            </a:pPr>
            <a:r>
              <a:rPr b="0" lang="en-US" sz="2400">
                <a:solidFill>
                  <a:schemeClr val="dk1"/>
                </a:solidFill>
              </a:rPr>
              <a:t>Méthodes</a:t>
            </a:r>
            <a:endParaRPr sz="2400">
              <a:solidFill>
                <a:schemeClr val="dk1"/>
              </a:solidFill>
            </a:endParaRPr>
          </a:p>
        </p:txBody>
      </p:sp>
      <p:sp>
        <p:nvSpPr>
          <p:cNvPr id="120" name="Google Shape;120;p3"/>
          <p:cNvSpPr txBox="1"/>
          <p:nvPr/>
        </p:nvSpPr>
        <p:spPr>
          <a:xfrm>
            <a:off x="1064767" y="799033"/>
            <a:ext cx="16700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0" i="0" lang="en-US" sz="2000" u="none" cap="none" strike="noStrike">
                <a:solidFill>
                  <a:srgbClr val="FDFFFF"/>
                </a:solidFill>
                <a:latin typeface="Verdana"/>
                <a:ea typeface="Verdana"/>
                <a:cs typeface="Verdana"/>
                <a:sym typeface="Verdana"/>
              </a:rPr>
              <a:t>8</a:t>
            </a:r>
            <a:endParaRPr b="0" i="0" sz="2000" u="none" cap="none" strike="noStrike">
              <a:solidFill>
                <a:schemeClr val="dk1"/>
              </a:solidFill>
              <a:latin typeface="Verdana"/>
              <a:ea typeface="Verdana"/>
              <a:cs typeface="Verdana"/>
              <a:sym typeface="Verdana"/>
            </a:endParaRPr>
          </a:p>
        </p:txBody>
      </p:sp>
      <p:grpSp>
        <p:nvGrpSpPr>
          <p:cNvPr id="121" name="Google Shape;121;p3"/>
          <p:cNvGrpSpPr/>
          <p:nvPr/>
        </p:nvGrpSpPr>
        <p:grpSpPr>
          <a:xfrm>
            <a:off x="2490216" y="5520466"/>
            <a:ext cx="8953499" cy="867156"/>
            <a:chOff x="2490216" y="5775959"/>
            <a:chExt cx="8953499" cy="867156"/>
          </a:xfrm>
        </p:grpSpPr>
        <p:pic>
          <p:nvPicPr>
            <p:cNvPr id="122" name="Google Shape;122;p3"/>
            <p:cNvPicPr preferRelativeResize="0"/>
            <p:nvPr/>
          </p:nvPicPr>
          <p:blipFill rotWithShape="1">
            <a:blip r:embed="rId3">
              <a:alphaModFix/>
            </a:blip>
            <a:srcRect b="0" l="0" r="0" t="0"/>
            <a:stretch/>
          </p:blipFill>
          <p:spPr>
            <a:xfrm>
              <a:off x="2535936" y="5775959"/>
              <a:ext cx="8907779" cy="803148"/>
            </a:xfrm>
            <a:prstGeom prst="rect">
              <a:avLst/>
            </a:prstGeom>
            <a:noFill/>
            <a:ln>
              <a:noFill/>
            </a:ln>
          </p:spPr>
        </p:pic>
        <p:pic>
          <p:nvPicPr>
            <p:cNvPr id="123" name="Google Shape;123;p3"/>
            <p:cNvPicPr preferRelativeResize="0"/>
            <p:nvPr/>
          </p:nvPicPr>
          <p:blipFill rotWithShape="1">
            <a:blip r:embed="rId4">
              <a:alphaModFix/>
            </a:blip>
            <a:srcRect b="0" l="0" r="0" t="0"/>
            <a:stretch/>
          </p:blipFill>
          <p:spPr>
            <a:xfrm>
              <a:off x="2490216" y="5782055"/>
              <a:ext cx="7924800" cy="861060"/>
            </a:xfrm>
            <a:prstGeom prst="rect">
              <a:avLst/>
            </a:prstGeom>
            <a:noFill/>
            <a:ln>
              <a:noFill/>
            </a:ln>
          </p:spPr>
        </p:pic>
        <p:pic>
          <p:nvPicPr>
            <p:cNvPr id="124" name="Google Shape;124;p3"/>
            <p:cNvPicPr preferRelativeResize="0"/>
            <p:nvPr/>
          </p:nvPicPr>
          <p:blipFill rotWithShape="1">
            <a:blip r:embed="rId5">
              <a:alphaModFix/>
            </a:blip>
            <a:srcRect b="0" l="0" r="0" t="0"/>
            <a:stretch/>
          </p:blipFill>
          <p:spPr>
            <a:xfrm>
              <a:off x="2589276" y="5791199"/>
              <a:ext cx="8801100" cy="696468"/>
            </a:xfrm>
            <a:prstGeom prst="rect">
              <a:avLst/>
            </a:prstGeom>
            <a:noFill/>
            <a:ln>
              <a:noFill/>
            </a:ln>
          </p:spPr>
        </p:pic>
      </p:grpSp>
      <p:sp>
        <p:nvSpPr>
          <p:cNvPr id="125" name="Google Shape;125;p3"/>
          <p:cNvSpPr txBox="1"/>
          <p:nvPr/>
        </p:nvSpPr>
        <p:spPr>
          <a:xfrm>
            <a:off x="2589276" y="5535706"/>
            <a:ext cx="8801100" cy="696595"/>
          </a:xfrm>
          <a:prstGeom prst="rect">
            <a:avLst/>
          </a:prstGeom>
          <a:solidFill>
            <a:srgbClr val="222A35"/>
          </a:solidFill>
          <a:ln>
            <a:noFill/>
          </a:ln>
        </p:spPr>
        <p:txBody>
          <a:bodyPr anchorCtr="0" anchor="t" bIns="0" lIns="0" spcFirstLastPara="1" rIns="0" wrap="square" tIns="71100">
            <a:spAutoFit/>
          </a:bodyPr>
          <a:lstStyle/>
          <a:p>
            <a:pPr indent="0" lvl="0" marL="91440" marR="0" rtl="0" algn="l">
              <a:lnSpc>
                <a:spcPct val="100000"/>
              </a:lnSpc>
              <a:spcBef>
                <a:spcPts val="0"/>
              </a:spcBef>
              <a:spcAft>
                <a:spcPts val="0"/>
              </a:spcAft>
              <a:buNone/>
            </a:pPr>
            <a:r>
              <a:rPr b="0" i="0" lang="en-US" sz="1800" u="none" cap="none" strike="noStrike">
                <a:solidFill>
                  <a:srgbClr val="FFFFFF"/>
                </a:solidFill>
                <a:latin typeface="Verdana"/>
                <a:ea typeface="Verdana"/>
                <a:cs typeface="Verdana"/>
                <a:sym typeface="Verdana"/>
              </a:rPr>
              <a:t>Par convention, le nom d’une classe commence par une Majuscule</a:t>
            </a:r>
            <a:endParaRPr b="0" i="0" sz="1800" u="none" cap="none" strike="noStrike">
              <a:solidFill>
                <a:schemeClr val="dk1"/>
              </a:solidFill>
              <a:latin typeface="Verdana"/>
              <a:ea typeface="Verdana"/>
              <a:cs typeface="Verdana"/>
              <a:sym typeface="Verdana"/>
            </a:endParaRPr>
          </a:p>
          <a:p>
            <a:pPr indent="0" lvl="0" marL="91440" marR="0" rtl="0" algn="l">
              <a:lnSpc>
                <a:spcPct val="100000"/>
              </a:lnSpc>
              <a:spcBef>
                <a:spcPts val="0"/>
              </a:spcBef>
              <a:spcAft>
                <a:spcPts val="0"/>
              </a:spcAft>
              <a:buNone/>
            </a:pPr>
            <a:r>
              <a:rPr b="0" i="0" lang="en-US" sz="1800" u="none" cap="none" strike="noStrike">
                <a:solidFill>
                  <a:srgbClr val="FFFFFF"/>
                </a:solidFill>
                <a:latin typeface="Verdana"/>
                <a:ea typeface="Verdana"/>
                <a:cs typeface="Verdana"/>
                <a:sym typeface="Verdana"/>
              </a:rPr>
              <a:t>Ex. Point</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131" name="Google Shape;131;p4"/>
          <p:cNvSpPr txBox="1"/>
          <p:nvPr>
            <p:ph idx="1" type="body"/>
          </p:nvPr>
        </p:nvSpPr>
        <p:spPr>
          <a:xfrm>
            <a:off x="1097280" y="1724711"/>
            <a:ext cx="10058400" cy="3288721"/>
          </a:xfrm>
          <a:prstGeom prst="rect">
            <a:avLst/>
          </a:prstGeom>
          <a:noFill/>
          <a:ln>
            <a:noFill/>
          </a:ln>
        </p:spPr>
        <p:txBody>
          <a:bodyPr anchorCtr="0" anchor="t" bIns="0" lIns="0" spcFirstLastPara="1" rIns="0" wrap="square" tIns="153025">
            <a:spAutoFit/>
          </a:bodyPr>
          <a:lstStyle/>
          <a:p>
            <a:pPr indent="-152400" lvl="0" marL="12700" rtl="0" algn="just">
              <a:lnSpc>
                <a:spcPct val="100000"/>
              </a:lnSpc>
              <a:spcBef>
                <a:spcPts val="0"/>
              </a:spcBef>
              <a:spcAft>
                <a:spcPts val="0"/>
              </a:spcAft>
              <a:buSzPts val="2400"/>
              <a:buChar char=" "/>
            </a:pPr>
            <a:r>
              <a:rPr lang="en-US" sz="2400">
                <a:solidFill>
                  <a:schemeClr val="dk1"/>
                </a:solidFill>
              </a:rPr>
              <a:t>Les attributs</a:t>
            </a:r>
            <a:endParaRPr/>
          </a:p>
          <a:p>
            <a:pPr indent="-285750" lvl="0" marL="664210" rtl="0" algn="just">
              <a:lnSpc>
                <a:spcPct val="100000"/>
              </a:lnSpc>
              <a:spcBef>
                <a:spcPts val="200"/>
              </a:spcBef>
              <a:spcAft>
                <a:spcPts val="0"/>
              </a:spcAft>
              <a:buSzPts val="2400"/>
              <a:buFont typeface="Noto Sans Symbols"/>
              <a:buChar char="▪"/>
            </a:pPr>
            <a:r>
              <a:rPr b="0" lang="en-US" sz="2400">
                <a:solidFill>
                  <a:schemeClr val="dk1"/>
                </a:solidFill>
              </a:rPr>
              <a:t>Données qui caractérisent l’entité modélisée</a:t>
            </a:r>
            <a:endParaRPr sz="2400">
              <a:solidFill>
                <a:schemeClr val="dk1"/>
              </a:solidFill>
            </a:endParaRPr>
          </a:p>
          <a:p>
            <a:pPr indent="-285750" lvl="0" marL="664210" rtl="0" algn="just">
              <a:lnSpc>
                <a:spcPct val="100000"/>
              </a:lnSpc>
              <a:spcBef>
                <a:spcPts val="200"/>
              </a:spcBef>
              <a:spcAft>
                <a:spcPts val="0"/>
              </a:spcAft>
              <a:buSzPts val="2400"/>
              <a:buFont typeface="Noto Sans Symbols"/>
              <a:buChar char="▪"/>
            </a:pPr>
            <a:r>
              <a:rPr b="0" lang="en-US" sz="2400">
                <a:solidFill>
                  <a:schemeClr val="dk1"/>
                </a:solidFill>
              </a:rPr>
              <a:t>Les attributs sont accessibles partout au sein de la classe</a:t>
            </a:r>
            <a:endParaRPr sz="2400">
              <a:solidFill>
                <a:schemeClr val="dk1"/>
              </a:solidFill>
            </a:endParaRPr>
          </a:p>
          <a:p>
            <a:pPr indent="-285750" lvl="0" marL="1121410" rtl="0" algn="just">
              <a:lnSpc>
                <a:spcPct val="100000"/>
              </a:lnSpc>
              <a:spcBef>
                <a:spcPts val="200"/>
              </a:spcBef>
              <a:spcAft>
                <a:spcPts val="0"/>
              </a:spcAft>
              <a:buSzPts val="2400"/>
              <a:buFont typeface="Noto Sans Symbols"/>
              <a:buChar char="⮚"/>
            </a:pPr>
            <a:r>
              <a:rPr b="0" lang="en-US" sz="2400">
                <a:solidFill>
                  <a:schemeClr val="dk1"/>
                </a:solidFill>
              </a:rPr>
              <a:t>Visibles et modifiables dans toutes les méthodes de la classe</a:t>
            </a:r>
            <a:endParaRPr sz="2400">
              <a:solidFill>
                <a:schemeClr val="dk1"/>
              </a:solidFill>
            </a:endParaRPr>
          </a:p>
          <a:p>
            <a:pPr indent="-285750" lvl="0" marL="664210" rtl="0" algn="just">
              <a:lnSpc>
                <a:spcPct val="100000"/>
              </a:lnSpc>
              <a:spcBef>
                <a:spcPts val="200"/>
              </a:spcBef>
              <a:spcAft>
                <a:spcPts val="0"/>
              </a:spcAft>
              <a:buSzPts val="2400"/>
              <a:buFont typeface="Noto Sans Symbols"/>
              <a:buChar char="▪"/>
            </a:pPr>
            <a:r>
              <a:rPr b="0" lang="en-US" sz="2400">
                <a:solidFill>
                  <a:schemeClr val="dk1"/>
                </a:solidFill>
              </a:rPr>
              <a:t>Définis par</a:t>
            </a:r>
            <a:endParaRPr sz="2400">
              <a:solidFill>
                <a:schemeClr val="dk1"/>
              </a:solidFill>
            </a:endParaRPr>
          </a:p>
          <a:p>
            <a:pPr indent="-285750" lvl="0" marL="1121410" rtl="0" algn="just">
              <a:lnSpc>
                <a:spcPct val="100000"/>
              </a:lnSpc>
              <a:spcBef>
                <a:spcPts val="200"/>
              </a:spcBef>
              <a:spcAft>
                <a:spcPts val="0"/>
              </a:spcAft>
              <a:buSzPts val="2400"/>
              <a:buFont typeface="Noto Sans Symbols"/>
              <a:buChar char="⮚"/>
            </a:pPr>
            <a:r>
              <a:rPr b="0" lang="en-US" sz="2400">
                <a:solidFill>
                  <a:schemeClr val="dk1"/>
                </a:solidFill>
              </a:rPr>
              <a:t>Un type (primitif ou classe)</a:t>
            </a:r>
            <a:endParaRPr sz="2400">
              <a:solidFill>
                <a:schemeClr val="dk1"/>
              </a:solidFill>
            </a:endParaRPr>
          </a:p>
          <a:p>
            <a:pPr indent="-285750" lvl="0" marL="1121410" rtl="0" algn="just">
              <a:lnSpc>
                <a:spcPct val="100000"/>
              </a:lnSpc>
              <a:spcBef>
                <a:spcPts val="200"/>
              </a:spcBef>
              <a:spcAft>
                <a:spcPts val="0"/>
              </a:spcAft>
              <a:buSzPts val="2400"/>
              <a:buFont typeface="Noto Sans Symbols"/>
              <a:buChar char="⮚"/>
            </a:pPr>
            <a:r>
              <a:rPr b="0" lang="en-US" sz="2400">
                <a:solidFill>
                  <a:schemeClr val="dk1"/>
                </a:solidFill>
              </a:rPr>
              <a:t>Un nom</a:t>
            </a:r>
            <a:endParaRPr sz="2400">
              <a:solidFill>
                <a:schemeClr val="dk1"/>
              </a:solidFill>
            </a:endParaRPr>
          </a:p>
          <a:p>
            <a:pPr indent="-152400" lvl="0" marL="927100" rtl="0" algn="l">
              <a:lnSpc>
                <a:spcPct val="100000"/>
              </a:lnSpc>
              <a:spcBef>
                <a:spcPts val="200"/>
              </a:spcBef>
              <a:spcAft>
                <a:spcPts val="0"/>
              </a:spcAft>
              <a:buSzPts val="2400"/>
              <a:buChar char=" "/>
            </a:pPr>
            <a:r>
              <a:rPr b="0" lang="en-US" sz="2400">
                <a:solidFill>
                  <a:srgbClr val="5B9BD4"/>
                </a:solidFill>
              </a:rPr>
              <a:t>            </a:t>
            </a:r>
            <a:r>
              <a:rPr b="0" lang="en-US" sz="2400">
                <a:solidFill>
                  <a:schemeClr val="accent5"/>
                </a:solidFill>
              </a:rPr>
              <a:t>&lt;typeAttribut&gt; &lt;nomAttribut&gt;</a:t>
            </a:r>
            <a:endParaRPr sz="2400">
              <a:solidFill>
                <a:schemeClr val="accent5"/>
              </a:solidFill>
            </a:endParaRPr>
          </a:p>
        </p:txBody>
      </p:sp>
      <p:sp>
        <p:nvSpPr>
          <p:cNvPr id="132" name="Google Shape;132;p4"/>
          <p:cNvSpPr txBox="1"/>
          <p:nvPr/>
        </p:nvSpPr>
        <p:spPr>
          <a:xfrm>
            <a:off x="1064767" y="799033"/>
            <a:ext cx="16700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0" i="0" lang="en-US" sz="2000" u="none" cap="none" strike="noStrike">
                <a:solidFill>
                  <a:srgbClr val="FDFFFF"/>
                </a:solidFill>
                <a:latin typeface="Verdana"/>
                <a:ea typeface="Verdana"/>
                <a:cs typeface="Verdana"/>
                <a:sym typeface="Verdana"/>
              </a:rPr>
              <a:t>9</a:t>
            </a:r>
            <a:endParaRPr b="0" i="0" sz="2000" u="none" cap="none" strike="noStrike">
              <a:solidFill>
                <a:schemeClr val="dk1"/>
              </a:solidFill>
              <a:latin typeface="Verdana"/>
              <a:ea typeface="Verdana"/>
              <a:cs typeface="Verdana"/>
              <a:sym typeface="Verdana"/>
            </a:endParaRPr>
          </a:p>
        </p:txBody>
      </p:sp>
      <p:grpSp>
        <p:nvGrpSpPr>
          <p:cNvPr id="133" name="Google Shape;133;p4"/>
          <p:cNvGrpSpPr/>
          <p:nvPr/>
        </p:nvGrpSpPr>
        <p:grpSpPr>
          <a:xfrm>
            <a:off x="2490216" y="5520466"/>
            <a:ext cx="8953499" cy="867156"/>
            <a:chOff x="2490216" y="5775959"/>
            <a:chExt cx="8953499" cy="867156"/>
          </a:xfrm>
        </p:grpSpPr>
        <p:pic>
          <p:nvPicPr>
            <p:cNvPr id="134" name="Google Shape;134;p4"/>
            <p:cNvPicPr preferRelativeResize="0"/>
            <p:nvPr/>
          </p:nvPicPr>
          <p:blipFill rotWithShape="1">
            <a:blip r:embed="rId3">
              <a:alphaModFix/>
            </a:blip>
            <a:srcRect b="0" l="0" r="0" t="0"/>
            <a:stretch/>
          </p:blipFill>
          <p:spPr>
            <a:xfrm>
              <a:off x="2535936" y="5775959"/>
              <a:ext cx="8907779" cy="803148"/>
            </a:xfrm>
            <a:prstGeom prst="rect">
              <a:avLst/>
            </a:prstGeom>
            <a:noFill/>
            <a:ln>
              <a:noFill/>
            </a:ln>
          </p:spPr>
        </p:pic>
        <p:pic>
          <p:nvPicPr>
            <p:cNvPr id="135" name="Google Shape;135;p4"/>
            <p:cNvPicPr preferRelativeResize="0"/>
            <p:nvPr/>
          </p:nvPicPr>
          <p:blipFill rotWithShape="1">
            <a:blip r:embed="rId4">
              <a:alphaModFix/>
            </a:blip>
            <a:srcRect b="0" l="0" r="0" t="0"/>
            <a:stretch/>
          </p:blipFill>
          <p:spPr>
            <a:xfrm>
              <a:off x="2490216" y="5782055"/>
              <a:ext cx="7924800" cy="861060"/>
            </a:xfrm>
            <a:prstGeom prst="rect">
              <a:avLst/>
            </a:prstGeom>
            <a:noFill/>
            <a:ln>
              <a:noFill/>
            </a:ln>
          </p:spPr>
        </p:pic>
        <p:pic>
          <p:nvPicPr>
            <p:cNvPr id="136" name="Google Shape;136;p4"/>
            <p:cNvPicPr preferRelativeResize="0"/>
            <p:nvPr/>
          </p:nvPicPr>
          <p:blipFill rotWithShape="1">
            <a:blip r:embed="rId5">
              <a:alphaModFix/>
            </a:blip>
            <a:srcRect b="0" l="0" r="0" t="0"/>
            <a:stretch/>
          </p:blipFill>
          <p:spPr>
            <a:xfrm>
              <a:off x="2589276" y="5791199"/>
              <a:ext cx="8801100" cy="696468"/>
            </a:xfrm>
            <a:prstGeom prst="rect">
              <a:avLst/>
            </a:prstGeom>
            <a:noFill/>
            <a:ln>
              <a:noFill/>
            </a:ln>
          </p:spPr>
        </p:pic>
      </p:grpSp>
      <p:sp>
        <p:nvSpPr>
          <p:cNvPr id="137" name="Google Shape;137;p4"/>
          <p:cNvSpPr txBox="1"/>
          <p:nvPr/>
        </p:nvSpPr>
        <p:spPr>
          <a:xfrm>
            <a:off x="2589276" y="5535706"/>
            <a:ext cx="8801100" cy="702756"/>
          </a:xfrm>
          <a:prstGeom prst="rect">
            <a:avLst/>
          </a:prstGeom>
          <a:solidFill>
            <a:srgbClr val="222A35"/>
          </a:solidFill>
          <a:ln>
            <a:noFill/>
          </a:ln>
        </p:spPr>
        <p:txBody>
          <a:bodyPr anchorCtr="0" anchor="t" bIns="0" lIns="0" spcFirstLastPara="1" rIns="0" wrap="square" tIns="71100">
            <a:spAutoFit/>
          </a:bodyPr>
          <a:lstStyle/>
          <a:p>
            <a:pPr indent="0" lvl="0" marL="91440" marR="0" rtl="0" algn="l">
              <a:lnSpc>
                <a:spcPct val="100000"/>
              </a:lnSpc>
              <a:spcBef>
                <a:spcPts val="0"/>
              </a:spcBef>
              <a:spcAft>
                <a:spcPts val="0"/>
              </a:spcAft>
              <a:buNone/>
            </a:pPr>
            <a:r>
              <a:rPr b="0" i="0" lang="en-US" sz="1800" u="none" cap="none" strike="noStrike">
                <a:solidFill>
                  <a:srgbClr val="FFFFFF"/>
                </a:solidFill>
                <a:latin typeface="Verdana"/>
                <a:ea typeface="Verdana"/>
                <a:cs typeface="Verdana"/>
                <a:sym typeface="Verdana"/>
              </a:rPr>
              <a:t>Par convention, le nom d’un attribut commence par une minuscule</a:t>
            </a:r>
            <a:endParaRPr b="0" i="0" sz="1800" u="none" cap="none" strike="noStrike">
              <a:solidFill>
                <a:schemeClr val="dk1"/>
              </a:solidFill>
              <a:latin typeface="Verdana"/>
              <a:ea typeface="Verdana"/>
              <a:cs typeface="Verdana"/>
              <a:sym typeface="Verdana"/>
            </a:endParaRPr>
          </a:p>
          <a:p>
            <a:pPr indent="0" lvl="0" marL="91440" marR="0" rtl="0" algn="l">
              <a:lnSpc>
                <a:spcPct val="100000"/>
              </a:lnSpc>
              <a:spcBef>
                <a:spcPts val="560"/>
              </a:spcBef>
              <a:spcAft>
                <a:spcPts val="0"/>
              </a:spcAft>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143" name="Google Shape;143;p5"/>
          <p:cNvSpPr txBox="1"/>
          <p:nvPr>
            <p:ph idx="1" type="body"/>
          </p:nvPr>
        </p:nvSpPr>
        <p:spPr>
          <a:xfrm>
            <a:off x="1097280" y="1845734"/>
            <a:ext cx="10058400" cy="3847848"/>
          </a:xfrm>
          <a:prstGeom prst="rect">
            <a:avLst/>
          </a:prstGeom>
          <a:noFill/>
          <a:ln>
            <a:noFill/>
          </a:ln>
        </p:spPr>
        <p:txBody>
          <a:bodyPr anchorCtr="0" anchor="t" bIns="0" lIns="0" spcFirstLastPara="1" rIns="0" wrap="square" tIns="153025">
            <a:spAutoFit/>
          </a:bodyPr>
          <a:lstStyle/>
          <a:p>
            <a:pPr indent="-152400" lvl="0" marL="12700" rtl="0" algn="just">
              <a:lnSpc>
                <a:spcPct val="100000"/>
              </a:lnSpc>
              <a:spcBef>
                <a:spcPts val="0"/>
              </a:spcBef>
              <a:spcAft>
                <a:spcPts val="0"/>
              </a:spcAft>
              <a:buSzPts val="2400"/>
              <a:buChar char=" "/>
            </a:pPr>
            <a:r>
              <a:rPr lang="en-US" sz="2400">
                <a:solidFill>
                  <a:schemeClr val="dk1"/>
                </a:solidFill>
              </a:rPr>
              <a:t>Les méthodes</a:t>
            </a:r>
            <a:endParaRPr/>
          </a:p>
          <a:p>
            <a:pPr indent="-342900" lvl="0" marL="721360" rtl="0" algn="just">
              <a:lnSpc>
                <a:spcPct val="100000"/>
              </a:lnSpc>
              <a:spcBef>
                <a:spcPts val="0"/>
              </a:spcBef>
              <a:spcAft>
                <a:spcPts val="0"/>
              </a:spcAft>
              <a:buSzPts val="2400"/>
              <a:buFont typeface="Noto Sans Symbols"/>
              <a:buChar char="▪"/>
            </a:pPr>
            <a:r>
              <a:rPr b="0" lang="en-US" sz="2400">
                <a:solidFill>
                  <a:schemeClr val="dk1"/>
                </a:solidFill>
              </a:rPr>
              <a:t>Définissent le comportement de l’entité modélisée</a:t>
            </a:r>
            <a:endParaRPr sz="2400">
              <a:solidFill>
                <a:schemeClr val="dk1"/>
              </a:solidFill>
            </a:endParaRPr>
          </a:p>
          <a:p>
            <a:pPr indent="-342900" lvl="0" marL="721360" rtl="0" algn="just">
              <a:lnSpc>
                <a:spcPct val="100000"/>
              </a:lnSpc>
              <a:spcBef>
                <a:spcPts val="0"/>
              </a:spcBef>
              <a:spcAft>
                <a:spcPts val="0"/>
              </a:spcAft>
              <a:buSzPts val="2400"/>
              <a:buFont typeface="Noto Sans Symbols"/>
              <a:buChar char="▪"/>
            </a:pPr>
            <a:r>
              <a:rPr b="0" lang="en-US" sz="2400">
                <a:solidFill>
                  <a:schemeClr val="dk1"/>
                </a:solidFill>
              </a:rPr>
              <a:t>Accessibles aux autres méthodes de la classe</a:t>
            </a:r>
            <a:endParaRPr sz="2400">
              <a:solidFill>
                <a:schemeClr val="dk1"/>
              </a:solidFill>
            </a:endParaRPr>
          </a:p>
          <a:p>
            <a:pPr indent="-342900" lvl="0" marL="721360" rtl="0" algn="just">
              <a:lnSpc>
                <a:spcPct val="100000"/>
              </a:lnSpc>
              <a:spcBef>
                <a:spcPts val="0"/>
              </a:spcBef>
              <a:spcAft>
                <a:spcPts val="0"/>
              </a:spcAft>
              <a:buSzPts val="2400"/>
              <a:buFont typeface="Noto Sans Symbols"/>
              <a:buChar char="▪"/>
            </a:pPr>
            <a:r>
              <a:rPr b="0" lang="en-US" sz="2400">
                <a:solidFill>
                  <a:schemeClr val="dk1"/>
                </a:solidFill>
              </a:rPr>
              <a:t>Définies par</a:t>
            </a:r>
            <a:endParaRPr sz="2400">
              <a:solidFill>
                <a:schemeClr val="dk1"/>
              </a:solidFill>
            </a:endParaRPr>
          </a:p>
          <a:p>
            <a:pPr indent="-342900" lvl="0" marL="1178560" rtl="0" algn="just">
              <a:lnSpc>
                <a:spcPct val="100000"/>
              </a:lnSpc>
              <a:spcBef>
                <a:spcPts val="0"/>
              </a:spcBef>
              <a:spcAft>
                <a:spcPts val="0"/>
              </a:spcAft>
              <a:buSzPts val="2400"/>
              <a:buFont typeface="Noto Sans Symbols"/>
              <a:buChar char="⮚"/>
            </a:pPr>
            <a:r>
              <a:rPr b="0" lang="en-US" sz="2400">
                <a:solidFill>
                  <a:schemeClr val="dk1"/>
                </a:solidFill>
              </a:rPr>
              <a:t>Un type de retour</a:t>
            </a:r>
            <a:endParaRPr sz="2400">
              <a:solidFill>
                <a:schemeClr val="dk1"/>
              </a:solidFill>
            </a:endParaRPr>
          </a:p>
          <a:p>
            <a:pPr indent="-342900" lvl="0" marL="1178560" rtl="0" algn="just">
              <a:lnSpc>
                <a:spcPct val="100000"/>
              </a:lnSpc>
              <a:spcBef>
                <a:spcPts val="0"/>
              </a:spcBef>
              <a:spcAft>
                <a:spcPts val="0"/>
              </a:spcAft>
              <a:buSzPts val="2400"/>
              <a:buFont typeface="Noto Sans Symbols"/>
              <a:buChar char="⮚"/>
            </a:pPr>
            <a:r>
              <a:rPr b="0" lang="en-US" sz="2400">
                <a:solidFill>
                  <a:schemeClr val="dk1"/>
                </a:solidFill>
              </a:rPr>
              <a:t>Un nom</a:t>
            </a:r>
            <a:endParaRPr sz="2400">
              <a:solidFill>
                <a:schemeClr val="dk1"/>
              </a:solidFill>
            </a:endParaRPr>
          </a:p>
          <a:p>
            <a:pPr indent="-342900" lvl="0" marL="1178560" rtl="0" algn="just">
              <a:lnSpc>
                <a:spcPct val="100000"/>
              </a:lnSpc>
              <a:spcBef>
                <a:spcPts val="0"/>
              </a:spcBef>
              <a:spcAft>
                <a:spcPts val="0"/>
              </a:spcAft>
              <a:buSzPts val="2400"/>
              <a:buFont typeface="Noto Sans Symbols"/>
              <a:buChar char="⮚"/>
            </a:pPr>
            <a:r>
              <a:rPr b="0" lang="en-US" sz="2400">
                <a:solidFill>
                  <a:schemeClr val="dk1"/>
                </a:solidFill>
              </a:rPr>
              <a:t>Des paramètres</a:t>
            </a:r>
            <a:endParaRPr sz="2400">
              <a:solidFill>
                <a:schemeClr val="dk1"/>
              </a:solidFill>
            </a:endParaRPr>
          </a:p>
          <a:p>
            <a:pPr indent="-342900" lvl="0" marL="1635760" rtl="0" algn="just">
              <a:lnSpc>
                <a:spcPct val="100000"/>
              </a:lnSpc>
              <a:spcBef>
                <a:spcPts val="0"/>
              </a:spcBef>
              <a:spcAft>
                <a:spcPts val="0"/>
              </a:spcAft>
              <a:buSzPts val="2400"/>
              <a:buFont typeface="Arial"/>
              <a:buChar char="•"/>
            </a:pPr>
            <a:r>
              <a:rPr b="0" lang="en-US" sz="2400">
                <a:solidFill>
                  <a:schemeClr val="dk1"/>
                </a:solidFill>
              </a:rPr>
              <a:t>Eléments dont la classe a besoin pour réaliser le traitement</a:t>
            </a:r>
            <a:endParaRPr sz="2400">
              <a:solidFill>
                <a:schemeClr val="dk1"/>
              </a:solidFill>
            </a:endParaRPr>
          </a:p>
          <a:p>
            <a:pPr indent="-342900" lvl="0" marL="1635760" rtl="0" algn="just">
              <a:lnSpc>
                <a:spcPct val="100000"/>
              </a:lnSpc>
              <a:spcBef>
                <a:spcPts val="0"/>
              </a:spcBef>
              <a:spcAft>
                <a:spcPts val="0"/>
              </a:spcAft>
              <a:buSzPts val="2400"/>
              <a:buFont typeface="Arial"/>
              <a:buChar char="•"/>
            </a:pPr>
            <a:r>
              <a:rPr b="0" lang="en-US" sz="2400">
                <a:solidFill>
                  <a:schemeClr val="dk1"/>
                </a:solidFill>
              </a:rPr>
              <a:t>Accessibles uniquement dans la méthode</a:t>
            </a:r>
            <a:endParaRPr sz="2400">
              <a:solidFill>
                <a:schemeClr val="dk1"/>
              </a:solidFill>
            </a:endParaRPr>
          </a:p>
          <a:p>
            <a:pPr indent="-152400" lvl="0" marL="927100" rtl="0" algn="just">
              <a:lnSpc>
                <a:spcPct val="100000"/>
              </a:lnSpc>
              <a:spcBef>
                <a:spcPts val="0"/>
              </a:spcBef>
              <a:spcAft>
                <a:spcPts val="0"/>
              </a:spcAft>
              <a:buSzPts val="2400"/>
              <a:buChar char=" "/>
            </a:pPr>
            <a:r>
              <a:rPr b="0" lang="en-US" sz="2400">
                <a:solidFill>
                  <a:srgbClr val="5B9BD4"/>
                </a:solidFill>
              </a:rPr>
              <a:t>&lt;typeRetour&gt; &lt;nomMethode&gt; (paramètre1, paramètre2 ….)</a:t>
            </a:r>
            <a:endParaRPr sz="2400"/>
          </a:p>
        </p:txBody>
      </p:sp>
      <p:sp>
        <p:nvSpPr>
          <p:cNvPr id="144" name="Google Shape;144;p5"/>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0" i="0" lang="en-US" sz="2000" u="none" cap="none" strike="noStrike">
                <a:solidFill>
                  <a:srgbClr val="FDFFFF"/>
                </a:solidFill>
                <a:latin typeface="Verdana"/>
                <a:ea typeface="Verdana"/>
                <a:cs typeface="Verdana"/>
                <a:sym typeface="Verdana"/>
              </a:rPr>
              <a:t>10</a:t>
            </a:r>
            <a:endParaRPr b="0" i="0" sz="2000" u="none" cap="none" strike="noStrike">
              <a:solidFill>
                <a:schemeClr val="dk1"/>
              </a:solidFill>
              <a:latin typeface="Verdana"/>
              <a:ea typeface="Verdana"/>
              <a:cs typeface="Verdana"/>
              <a:sym typeface="Verdana"/>
            </a:endParaRPr>
          </a:p>
        </p:txBody>
      </p:sp>
      <p:grpSp>
        <p:nvGrpSpPr>
          <p:cNvPr id="145" name="Google Shape;145;p5"/>
          <p:cNvGrpSpPr/>
          <p:nvPr/>
        </p:nvGrpSpPr>
        <p:grpSpPr>
          <a:xfrm>
            <a:off x="2490216" y="5628042"/>
            <a:ext cx="8953499" cy="867156"/>
            <a:chOff x="2490216" y="5775959"/>
            <a:chExt cx="8953499" cy="867156"/>
          </a:xfrm>
        </p:grpSpPr>
        <p:pic>
          <p:nvPicPr>
            <p:cNvPr id="146" name="Google Shape;146;p5"/>
            <p:cNvPicPr preferRelativeResize="0"/>
            <p:nvPr/>
          </p:nvPicPr>
          <p:blipFill rotWithShape="1">
            <a:blip r:embed="rId3">
              <a:alphaModFix/>
            </a:blip>
            <a:srcRect b="0" l="0" r="0" t="0"/>
            <a:stretch/>
          </p:blipFill>
          <p:spPr>
            <a:xfrm>
              <a:off x="2535936" y="5775959"/>
              <a:ext cx="8907779" cy="803148"/>
            </a:xfrm>
            <a:prstGeom prst="rect">
              <a:avLst/>
            </a:prstGeom>
            <a:noFill/>
            <a:ln>
              <a:noFill/>
            </a:ln>
          </p:spPr>
        </p:pic>
        <p:pic>
          <p:nvPicPr>
            <p:cNvPr id="147" name="Google Shape;147;p5"/>
            <p:cNvPicPr preferRelativeResize="0"/>
            <p:nvPr/>
          </p:nvPicPr>
          <p:blipFill rotWithShape="1">
            <a:blip r:embed="rId4">
              <a:alphaModFix/>
            </a:blip>
            <a:srcRect b="0" l="0" r="0" t="0"/>
            <a:stretch/>
          </p:blipFill>
          <p:spPr>
            <a:xfrm>
              <a:off x="2490216" y="5782055"/>
              <a:ext cx="7924800" cy="861060"/>
            </a:xfrm>
            <a:prstGeom prst="rect">
              <a:avLst/>
            </a:prstGeom>
            <a:noFill/>
            <a:ln>
              <a:noFill/>
            </a:ln>
          </p:spPr>
        </p:pic>
        <p:pic>
          <p:nvPicPr>
            <p:cNvPr id="148" name="Google Shape;148;p5"/>
            <p:cNvPicPr preferRelativeResize="0"/>
            <p:nvPr/>
          </p:nvPicPr>
          <p:blipFill rotWithShape="1">
            <a:blip r:embed="rId5">
              <a:alphaModFix/>
            </a:blip>
            <a:srcRect b="0" l="0" r="0" t="0"/>
            <a:stretch/>
          </p:blipFill>
          <p:spPr>
            <a:xfrm>
              <a:off x="2589276" y="5791199"/>
              <a:ext cx="8801100" cy="696468"/>
            </a:xfrm>
            <a:prstGeom prst="rect">
              <a:avLst/>
            </a:prstGeom>
            <a:noFill/>
            <a:ln>
              <a:noFill/>
            </a:ln>
          </p:spPr>
        </p:pic>
      </p:grpSp>
      <p:sp>
        <p:nvSpPr>
          <p:cNvPr id="149" name="Google Shape;149;p5"/>
          <p:cNvSpPr txBox="1"/>
          <p:nvPr/>
        </p:nvSpPr>
        <p:spPr>
          <a:xfrm>
            <a:off x="2589276" y="5643282"/>
            <a:ext cx="8801100" cy="702756"/>
          </a:xfrm>
          <a:prstGeom prst="rect">
            <a:avLst/>
          </a:prstGeom>
          <a:solidFill>
            <a:srgbClr val="222A35"/>
          </a:solidFill>
          <a:ln>
            <a:noFill/>
          </a:ln>
        </p:spPr>
        <p:txBody>
          <a:bodyPr anchorCtr="0" anchor="t" bIns="0" lIns="0" spcFirstLastPara="1" rIns="0" wrap="square" tIns="71100">
            <a:spAutoFit/>
          </a:bodyPr>
          <a:lstStyle/>
          <a:p>
            <a:pPr indent="0" lvl="0" marL="91440" marR="0" rtl="0" algn="l">
              <a:lnSpc>
                <a:spcPct val="100000"/>
              </a:lnSpc>
              <a:spcBef>
                <a:spcPts val="0"/>
              </a:spcBef>
              <a:spcAft>
                <a:spcPts val="0"/>
              </a:spcAft>
              <a:buNone/>
            </a:pPr>
            <a:r>
              <a:rPr b="0" i="0" lang="en-US" sz="1800" u="none" cap="none" strike="noStrike">
                <a:solidFill>
                  <a:srgbClr val="FFFFFF"/>
                </a:solidFill>
                <a:latin typeface="Verdana"/>
                <a:ea typeface="Verdana"/>
                <a:cs typeface="Verdana"/>
                <a:sym typeface="Verdana"/>
              </a:rPr>
              <a:t>Par convention, le nom d’une méthode commence par une minuscule</a:t>
            </a:r>
            <a:endParaRPr b="0" i="0" sz="1800" u="none" cap="none" strike="noStrike">
              <a:solidFill>
                <a:schemeClr val="dk1"/>
              </a:solidFill>
              <a:latin typeface="Verdana"/>
              <a:ea typeface="Verdana"/>
              <a:cs typeface="Verdana"/>
              <a:sym typeface="Verdana"/>
            </a:endParaRPr>
          </a:p>
          <a:p>
            <a:pPr indent="0" lvl="0" marL="91440" marR="0" rtl="0" algn="l">
              <a:lnSpc>
                <a:spcPct val="100000"/>
              </a:lnSpc>
              <a:spcBef>
                <a:spcPts val="560"/>
              </a:spcBef>
              <a:spcAft>
                <a:spcPts val="0"/>
              </a:spcAft>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nvSpPr>
        <p:spPr>
          <a:xfrm>
            <a:off x="2668270" y="1987872"/>
            <a:ext cx="424561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0" lang="en-US" sz="1800" u="none" cap="none" strike="noStrike">
                <a:solidFill>
                  <a:srgbClr val="404040"/>
                </a:solidFill>
                <a:latin typeface="Tahoma"/>
                <a:ea typeface="Tahoma"/>
                <a:cs typeface="Tahoma"/>
                <a:sym typeface="Tahoma"/>
              </a:rPr>
              <a:t>Exemple d’un point dans un repère 2D</a:t>
            </a:r>
            <a:endParaRPr b="0" i="0" sz="1800" u="none" cap="none" strike="noStrike">
              <a:solidFill>
                <a:schemeClr val="dk1"/>
              </a:solidFill>
              <a:latin typeface="Tahoma"/>
              <a:ea typeface="Tahoma"/>
              <a:cs typeface="Tahoma"/>
              <a:sym typeface="Tahoma"/>
            </a:endParaRPr>
          </a:p>
        </p:txBody>
      </p:sp>
      <p:sp>
        <p:nvSpPr>
          <p:cNvPr id="155" name="Google Shape;155;p6"/>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156" name="Google Shape;156;p6"/>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0" i="0" lang="en-US" sz="2000" u="none" cap="none" strike="noStrike">
                <a:solidFill>
                  <a:srgbClr val="FDFFFF"/>
                </a:solidFill>
                <a:latin typeface="Verdana"/>
                <a:ea typeface="Verdana"/>
                <a:cs typeface="Verdana"/>
                <a:sym typeface="Verdana"/>
              </a:rPr>
              <a:t>11</a:t>
            </a:r>
            <a:endParaRPr b="0" i="0" sz="2000" u="none" cap="none" strike="noStrike">
              <a:solidFill>
                <a:schemeClr val="dk1"/>
              </a:solidFill>
              <a:latin typeface="Verdana"/>
              <a:ea typeface="Verdana"/>
              <a:cs typeface="Verdana"/>
              <a:sym typeface="Verdana"/>
            </a:endParaRPr>
          </a:p>
        </p:txBody>
      </p:sp>
      <p:graphicFrame>
        <p:nvGraphicFramePr>
          <p:cNvPr id="157" name="Google Shape;157;p6"/>
          <p:cNvGraphicFramePr/>
          <p:nvPr/>
        </p:nvGraphicFramePr>
        <p:xfrm>
          <a:off x="5136641" y="2422353"/>
          <a:ext cx="3000000" cy="3000000"/>
        </p:xfrm>
        <a:graphic>
          <a:graphicData uri="http://schemas.openxmlformats.org/drawingml/2006/table">
            <a:tbl>
              <a:tblPr bandRow="1" firstRow="1">
                <a:noFill/>
                <a:tableStyleId>{AADB4A2B-A616-4299-9F59-80E0FF929C61}</a:tableStyleId>
              </a:tblPr>
              <a:tblGrid>
                <a:gridCol w="2643500"/>
              </a:tblGrid>
              <a:tr h="579125">
                <a:tc>
                  <a:txBody>
                    <a:bodyPr/>
                    <a:lstStyle/>
                    <a:p>
                      <a:pPr indent="0" lvl="0" marL="635" marR="0" rtl="0" algn="ctr">
                        <a:lnSpc>
                          <a:spcPct val="100000"/>
                        </a:lnSpc>
                        <a:spcBef>
                          <a:spcPts val="0"/>
                        </a:spcBef>
                        <a:spcAft>
                          <a:spcPts val="0"/>
                        </a:spcAft>
                        <a:buNone/>
                      </a:pPr>
                      <a:r>
                        <a:rPr b="1" lang="en-US" sz="2000" u="none" cap="none" strike="noStrike">
                          <a:solidFill>
                            <a:srgbClr val="FFFFFF"/>
                          </a:solidFill>
                          <a:latin typeface="Tahoma"/>
                          <a:ea typeface="Tahoma"/>
                          <a:cs typeface="Tahoma"/>
                          <a:sym typeface="Tahoma"/>
                        </a:rPr>
                        <a:t>Point</a:t>
                      </a:r>
                      <a:endParaRPr sz="2000" u="none" cap="none" strike="noStrike">
                        <a:latin typeface="Tahoma"/>
                        <a:ea typeface="Tahoma"/>
                        <a:cs typeface="Tahoma"/>
                        <a:sym typeface="Tahoma"/>
                      </a:endParaRPr>
                    </a:p>
                  </a:txBody>
                  <a:tcPr marT="133350"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solidFill>
                      <a:srgbClr val="5B9BD4"/>
                    </a:solidFill>
                  </a:tcPr>
                </a:tc>
              </a:tr>
              <a:tr h="911225">
                <a:tc>
                  <a:txBody>
                    <a:bodyPr/>
                    <a:lstStyle/>
                    <a:p>
                      <a:pPr indent="0" lvl="0" marL="92710" marR="1790064" rtl="0" algn="l">
                        <a:lnSpc>
                          <a:spcPct val="100000"/>
                        </a:lnSpc>
                        <a:spcBef>
                          <a:spcPts val="0"/>
                        </a:spcBef>
                        <a:spcAft>
                          <a:spcPts val="0"/>
                        </a:spcAft>
                        <a:buNone/>
                      </a:pPr>
                      <a:r>
                        <a:rPr lang="en-US" sz="1600" u="none" cap="none" strike="noStrike">
                          <a:latin typeface="Verdana"/>
                          <a:ea typeface="Verdana"/>
                          <a:cs typeface="Verdana"/>
                          <a:sym typeface="Verdana"/>
                        </a:rPr>
                        <a:t>x: Entier y: Entier</a:t>
                      </a:r>
                      <a:endParaRPr sz="1600" u="none" cap="none" strike="noStrike">
                        <a:latin typeface="Verdana"/>
                        <a:ea typeface="Verdana"/>
                        <a:cs typeface="Verdana"/>
                        <a:sym typeface="Verdana"/>
                      </a:endParaRPr>
                    </a:p>
                  </a:txBody>
                  <a:tcPr marT="41275"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solidFill>
                      <a:srgbClr val="FFFFFF"/>
                    </a:solidFill>
                  </a:tcPr>
                </a:tc>
              </a:tr>
              <a:tr h="996325">
                <a:tc>
                  <a:txBody>
                    <a:bodyPr/>
                    <a:lstStyle/>
                    <a:p>
                      <a:pPr indent="0" lvl="0" marL="91440" marR="0" rtl="0" algn="l">
                        <a:lnSpc>
                          <a:spcPct val="100000"/>
                        </a:lnSpc>
                        <a:spcBef>
                          <a:spcPts val="0"/>
                        </a:spcBef>
                        <a:spcAft>
                          <a:spcPts val="0"/>
                        </a:spcAft>
                        <a:buNone/>
                      </a:pPr>
                      <a:r>
                        <a:rPr lang="en-US" sz="1600" u="none" cap="none" strike="noStrike">
                          <a:latin typeface="Verdana"/>
                          <a:ea typeface="Verdana"/>
                          <a:cs typeface="Verdana"/>
                          <a:sym typeface="Verdana"/>
                        </a:rPr>
                        <a:t>afficher()</a:t>
                      </a:r>
                      <a:endParaRPr sz="1600" u="none" cap="none" strike="noStrike">
                        <a:latin typeface="Verdana"/>
                        <a:ea typeface="Verdana"/>
                        <a:cs typeface="Verdana"/>
                        <a:sym typeface="Verdana"/>
                      </a:endParaRPr>
                    </a:p>
                    <a:p>
                      <a:pPr indent="0" lvl="0" marL="91440" marR="0" rtl="0" algn="l">
                        <a:lnSpc>
                          <a:spcPct val="100000"/>
                        </a:lnSpc>
                        <a:spcBef>
                          <a:spcPts val="0"/>
                        </a:spcBef>
                        <a:spcAft>
                          <a:spcPts val="0"/>
                        </a:spcAft>
                        <a:buNone/>
                      </a:pPr>
                      <a:r>
                        <a:rPr lang="en-US" sz="1600" u="none" cap="none" strike="noStrike">
                          <a:latin typeface="Verdana"/>
                          <a:ea typeface="Verdana"/>
                          <a:cs typeface="Verdana"/>
                          <a:sym typeface="Verdana"/>
                        </a:rPr>
                        <a:t>deplacer(int dx, int dy)</a:t>
                      </a:r>
                      <a:endParaRPr sz="1600" u="none" cap="none" strike="noStrike">
                        <a:latin typeface="Verdana"/>
                        <a:ea typeface="Verdana"/>
                        <a:cs typeface="Verdana"/>
                        <a:sym typeface="Verdana"/>
                      </a:endParaRPr>
                    </a:p>
                  </a:txBody>
                  <a:tcPr marT="40650"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solidFill>
                      <a:srgbClr val="FFFFFF"/>
                    </a:solidFill>
                  </a:tcPr>
                </a:tc>
              </a:tr>
            </a:tbl>
          </a:graphicData>
        </a:graphic>
      </p:graphicFrame>
      <p:sp>
        <p:nvSpPr>
          <p:cNvPr id="158" name="Google Shape;158;p6"/>
          <p:cNvSpPr txBox="1"/>
          <p:nvPr/>
        </p:nvSpPr>
        <p:spPr>
          <a:xfrm>
            <a:off x="1870486" y="5044728"/>
            <a:ext cx="8915400" cy="1150315"/>
          </a:xfrm>
          <a:prstGeom prst="rect">
            <a:avLst/>
          </a:prstGeom>
          <a:solidFill>
            <a:srgbClr val="B3C6E7"/>
          </a:solidFill>
          <a:ln>
            <a:noFill/>
          </a:ln>
        </p:spPr>
        <p:txBody>
          <a:bodyPr anchorCtr="0" anchor="t" bIns="0" lIns="0" spcFirstLastPara="1" rIns="0" wrap="square" tIns="16500">
            <a:spAutoFit/>
          </a:bodyPr>
          <a:lstStyle/>
          <a:p>
            <a:pPr indent="0" lvl="0" marL="91440" marR="0" rtl="0" algn="l">
              <a:lnSpc>
                <a:spcPct val="100000"/>
              </a:lnSpc>
              <a:spcBef>
                <a:spcPts val="0"/>
              </a:spcBef>
              <a:spcAft>
                <a:spcPts val="0"/>
              </a:spcAft>
              <a:buNone/>
            </a:pPr>
            <a:r>
              <a:rPr b="0" i="0" lang="en-US" sz="1700" u="none" cap="none" strike="noStrike">
                <a:solidFill>
                  <a:srgbClr val="5B9BD4"/>
                </a:solidFill>
                <a:latin typeface="Quattrocento Sans"/>
                <a:ea typeface="Quattrocento Sans"/>
                <a:cs typeface="Quattrocento Sans"/>
                <a:sym typeface="Quattrocento Sans"/>
              </a:rPr>
              <a:t>	</a:t>
            </a:r>
            <a:r>
              <a:rPr b="1" i="0" lang="en-US" sz="1700" u="none" cap="none" strike="noStrike">
                <a:solidFill>
                  <a:schemeClr val="dk1"/>
                </a:solidFill>
                <a:latin typeface="Tahoma"/>
                <a:ea typeface="Tahoma"/>
                <a:cs typeface="Tahoma"/>
                <a:sym typeface="Tahoma"/>
              </a:rPr>
              <a:t>Quel que soit le point créé dans le programme</a:t>
            </a:r>
            <a:endParaRPr b="0" i="0" sz="1700" u="none" cap="none" strike="noStrike">
              <a:solidFill>
                <a:schemeClr val="dk1"/>
              </a:solidFill>
              <a:latin typeface="Tahoma"/>
              <a:ea typeface="Tahoma"/>
              <a:cs typeface="Tahoma"/>
              <a:sym typeface="Tahoma"/>
            </a:endParaRPr>
          </a:p>
          <a:p>
            <a:pPr indent="0" lvl="0" marL="548640" marR="0" rtl="0" algn="l">
              <a:lnSpc>
                <a:spcPct val="100000"/>
              </a:lnSpc>
              <a:spcBef>
                <a:spcPts val="825"/>
              </a:spcBef>
              <a:spcAft>
                <a:spcPts val="0"/>
              </a:spcAft>
              <a:buNone/>
            </a:pPr>
            <a:r>
              <a:rPr b="0" i="0" lang="en-US" sz="1500" u="none" cap="none" strike="noStrike">
                <a:solidFill>
                  <a:schemeClr val="dk1"/>
                </a:solidFill>
                <a:latin typeface="Quattrocento Sans"/>
                <a:ea typeface="Quattrocento Sans"/>
                <a:cs typeface="Quattrocento Sans"/>
                <a:sym typeface="Quattrocento Sans"/>
              </a:rPr>
              <a:t>🠶  </a:t>
            </a:r>
            <a:r>
              <a:rPr b="0" i="0" lang="en-US" sz="1500" u="none" cap="none" strike="noStrike">
                <a:solidFill>
                  <a:schemeClr val="dk1"/>
                </a:solidFill>
                <a:latin typeface="Verdana"/>
                <a:ea typeface="Verdana"/>
                <a:cs typeface="Verdana"/>
                <a:sym typeface="Verdana"/>
              </a:rPr>
              <a:t>Un point sera toujours caractérisé par deux entiers: x et y</a:t>
            </a:r>
            <a:endParaRPr b="0" i="0" sz="1500" u="none" cap="none" strike="noStrike">
              <a:solidFill>
                <a:schemeClr val="dk1"/>
              </a:solidFill>
              <a:latin typeface="Verdana"/>
              <a:ea typeface="Verdana"/>
              <a:cs typeface="Verdana"/>
              <a:sym typeface="Verdana"/>
            </a:endParaRPr>
          </a:p>
          <a:p>
            <a:pPr indent="-287020" lvl="0" marL="835025" marR="2789555" rtl="0" algn="l">
              <a:lnSpc>
                <a:spcPct val="108000"/>
              </a:lnSpc>
              <a:spcBef>
                <a:spcPts val="1025"/>
              </a:spcBef>
              <a:spcAft>
                <a:spcPts val="0"/>
              </a:spcAft>
              <a:buNone/>
            </a:pPr>
            <a:r>
              <a:rPr b="0" i="0" lang="en-US" sz="1500" u="none" cap="none" strike="noStrike">
                <a:solidFill>
                  <a:schemeClr val="dk1"/>
                </a:solidFill>
                <a:latin typeface="Quattrocento Sans"/>
                <a:ea typeface="Quattrocento Sans"/>
                <a:cs typeface="Quattrocento Sans"/>
                <a:sym typeface="Quattrocento Sans"/>
              </a:rPr>
              <a:t>🠶  </a:t>
            </a:r>
            <a:r>
              <a:rPr b="0" i="0" lang="en-US" sz="1500" u="none" cap="none" strike="noStrike">
                <a:solidFill>
                  <a:schemeClr val="dk1"/>
                </a:solidFill>
                <a:latin typeface="Verdana"/>
                <a:ea typeface="Verdana"/>
                <a:cs typeface="Verdana"/>
                <a:sym typeface="Verdana"/>
              </a:rPr>
              <a:t>Un point sera toujours en mesure de répondre à 2 actions Affiche toi ! Déplace toi !</a:t>
            </a:r>
            <a:endParaRPr b="0" i="0" sz="1500" u="none" cap="none" strike="noStrike">
              <a:solidFill>
                <a:schemeClr val="dk1"/>
              </a:solidFill>
              <a:latin typeface="Verdana"/>
              <a:ea typeface="Verdana"/>
              <a:cs typeface="Verdana"/>
              <a:sym typeface="Verdana"/>
            </a:endParaRPr>
          </a:p>
        </p:txBody>
      </p:sp>
      <p:sp>
        <p:nvSpPr>
          <p:cNvPr id="159" name="Google Shape;159;p6"/>
          <p:cNvSpPr/>
          <p:nvPr/>
        </p:nvSpPr>
        <p:spPr>
          <a:xfrm>
            <a:off x="8038338" y="2430736"/>
            <a:ext cx="325120" cy="2487295"/>
          </a:xfrm>
          <a:custGeom>
            <a:rect b="b" l="l" r="r" t="t"/>
            <a:pathLst>
              <a:path extrusionOk="0" h="2487295" w="325120">
                <a:moveTo>
                  <a:pt x="0" y="1423415"/>
                </a:moveTo>
                <a:lnTo>
                  <a:pt x="63186" y="1425535"/>
                </a:lnTo>
                <a:lnTo>
                  <a:pt x="114776" y="1431321"/>
                </a:lnTo>
                <a:lnTo>
                  <a:pt x="149554" y="1439918"/>
                </a:lnTo>
                <a:lnTo>
                  <a:pt x="162305" y="1450466"/>
                </a:lnTo>
                <a:lnTo>
                  <a:pt x="162305" y="1928240"/>
                </a:lnTo>
                <a:lnTo>
                  <a:pt x="175057" y="1938789"/>
                </a:lnTo>
                <a:lnTo>
                  <a:pt x="209835" y="1947386"/>
                </a:lnTo>
                <a:lnTo>
                  <a:pt x="261425" y="1953172"/>
                </a:lnTo>
                <a:lnTo>
                  <a:pt x="324611" y="1955291"/>
                </a:lnTo>
                <a:lnTo>
                  <a:pt x="261425" y="1957411"/>
                </a:lnTo>
                <a:lnTo>
                  <a:pt x="209835" y="1963197"/>
                </a:lnTo>
                <a:lnTo>
                  <a:pt x="175057" y="1971794"/>
                </a:lnTo>
                <a:lnTo>
                  <a:pt x="162305" y="1982342"/>
                </a:lnTo>
                <a:lnTo>
                  <a:pt x="162305" y="2460116"/>
                </a:lnTo>
                <a:lnTo>
                  <a:pt x="149554" y="2470665"/>
                </a:lnTo>
                <a:lnTo>
                  <a:pt x="114776" y="2479262"/>
                </a:lnTo>
                <a:lnTo>
                  <a:pt x="63186" y="2485048"/>
                </a:lnTo>
                <a:lnTo>
                  <a:pt x="0" y="2487167"/>
                </a:lnTo>
              </a:path>
              <a:path extrusionOk="0" h="2487295" w="325120">
                <a:moveTo>
                  <a:pt x="0" y="592835"/>
                </a:moveTo>
                <a:lnTo>
                  <a:pt x="63186" y="594955"/>
                </a:lnTo>
                <a:lnTo>
                  <a:pt x="114776" y="600741"/>
                </a:lnTo>
                <a:lnTo>
                  <a:pt x="149554" y="609338"/>
                </a:lnTo>
                <a:lnTo>
                  <a:pt x="162305" y="619886"/>
                </a:lnTo>
                <a:lnTo>
                  <a:pt x="162305" y="945260"/>
                </a:lnTo>
                <a:lnTo>
                  <a:pt x="175057" y="955809"/>
                </a:lnTo>
                <a:lnTo>
                  <a:pt x="209835" y="964406"/>
                </a:lnTo>
                <a:lnTo>
                  <a:pt x="261425" y="970192"/>
                </a:lnTo>
                <a:lnTo>
                  <a:pt x="324611" y="972311"/>
                </a:lnTo>
                <a:lnTo>
                  <a:pt x="261425" y="974431"/>
                </a:lnTo>
                <a:lnTo>
                  <a:pt x="209835" y="980217"/>
                </a:lnTo>
                <a:lnTo>
                  <a:pt x="175057" y="988814"/>
                </a:lnTo>
                <a:lnTo>
                  <a:pt x="162305" y="999362"/>
                </a:lnTo>
                <a:lnTo>
                  <a:pt x="162305" y="1324736"/>
                </a:lnTo>
                <a:lnTo>
                  <a:pt x="149554" y="1335285"/>
                </a:lnTo>
                <a:lnTo>
                  <a:pt x="114776" y="1343882"/>
                </a:lnTo>
                <a:lnTo>
                  <a:pt x="63186" y="1349668"/>
                </a:lnTo>
                <a:lnTo>
                  <a:pt x="0" y="1351787"/>
                </a:lnTo>
              </a:path>
              <a:path extrusionOk="0" h="2487295" w="325120">
                <a:moveTo>
                  <a:pt x="0" y="0"/>
                </a:moveTo>
                <a:lnTo>
                  <a:pt x="61400" y="2071"/>
                </a:lnTo>
                <a:lnTo>
                  <a:pt x="111537" y="7715"/>
                </a:lnTo>
                <a:lnTo>
                  <a:pt x="145339" y="16073"/>
                </a:lnTo>
                <a:lnTo>
                  <a:pt x="157733" y="26288"/>
                </a:lnTo>
                <a:lnTo>
                  <a:pt x="157733" y="247268"/>
                </a:lnTo>
                <a:lnTo>
                  <a:pt x="170128" y="257484"/>
                </a:lnTo>
                <a:lnTo>
                  <a:pt x="203930" y="265842"/>
                </a:lnTo>
                <a:lnTo>
                  <a:pt x="254067" y="271486"/>
                </a:lnTo>
                <a:lnTo>
                  <a:pt x="315467" y="273557"/>
                </a:lnTo>
                <a:lnTo>
                  <a:pt x="254067" y="275629"/>
                </a:lnTo>
                <a:lnTo>
                  <a:pt x="203930" y="281273"/>
                </a:lnTo>
                <a:lnTo>
                  <a:pt x="170128" y="289631"/>
                </a:lnTo>
                <a:lnTo>
                  <a:pt x="157733" y="299846"/>
                </a:lnTo>
                <a:lnTo>
                  <a:pt x="157733" y="520826"/>
                </a:lnTo>
                <a:lnTo>
                  <a:pt x="145339" y="531042"/>
                </a:lnTo>
                <a:lnTo>
                  <a:pt x="111537" y="539400"/>
                </a:lnTo>
                <a:lnTo>
                  <a:pt x="61400" y="545044"/>
                </a:lnTo>
                <a:lnTo>
                  <a:pt x="0" y="547115"/>
                </a:lnTo>
              </a:path>
            </a:pathLst>
          </a:custGeom>
          <a:noFill/>
          <a:ln cap="flat" cmpd="sng" w="38100">
            <a:solidFill>
              <a:srgbClr val="5593C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6"/>
          <p:cNvSpPr txBox="1"/>
          <p:nvPr/>
        </p:nvSpPr>
        <p:spPr>
          <a:xfrm>
            <a:off x="8441817" y="4186968"/>
            <a:ext cx="899794" cy="240029"/>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Méthodes</a:t>
            </a:r>
            <a:endParaRPr sz="1400">
              <a:solidFill>
                <a:schemeClr val="dk1"/>
              </a:solidFill>
              <a:latin typeface="Verdana"/>
              <a:ea typeface="Verdana"/>
              <a:cs typeface="Verdana"/>
              <a:sym typeface="Verdana"/>
            </a:endParaRPr>
          </a:p>
        </p:txBody>
      </p:sp>
      <p:sp>
        <p:nvSpPr>
          <p:cNvPr id="161" name="Google Shape;161;p6"/>
          <p:cNvSpPr txBox="1"/>
          <p:nvPr/>
        </p:nvSpPr>
        <p:spPr>
          <a:xfrm>
            <a:off x="8441817" y="2578818"/>
            <a:ext cx="1510665" cy="906144"/>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Nom de la classe</a:t>
            </a:r>
            <a:endParaRPr sz="1400">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700">
              <a:solidFill>
                <a:schemeClr val="dk1"/>
              </a:solidFill>
              <a:latin typeface="Verdana"/>
              <a:ea typeface="Verdana"/>
              <a:cs typeface="Verdana"/>
              <a:sym typeface="Verdana"/>
            </a:endParaRPr>
          </a:p>
          <a:p>
            <a:pPr indent="0" lvl="0" marL="12700" marR="0" rtl="0" algn="l">
              <a:lnSpc>
                <a:spcPct val="100000"/>
              </a:lnSpc>
              <a:spcBef>
                <a:spcPts val="1495"/>
              </a:spcBef>
              <a:spcAft>
                <a:spcPts val="0"/>
              </a:spcAft>
              <a:buNone/>
            </a:pPr>
            <a:r>
              <a:rPr lang="en-US" sz="1400">
                <a:solidFill>
                  <a:schemeClr val="dk1"/>
                </a:solidFill>
                <a:latin typeface="Verdana"/>
                <a:ea typeface="Verdana"/>
                <a:cs typeface="Verdana"/>
                <a:sym typeface="Verdana"/>
              </a:rPr>
              <a:t>Attributs</a:t>
            </a:r>
            <a:endParaRPr sz="1400">
              <a:solidFill>
                <a:schemeClr val="dk1"/>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7"/>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167" name="Google Shape;167;p7"/>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12</a:t>
            </a:r>
            <a:endParaRPr sz="2000">
              <a:solidFill>
                <a:schemeClr val="dk1"/>
              </a:solidFill>
              <a:latin typeface="Verdana"/>
              <a:ea typeface="Verdana"/>
              <a:cs typeface="Verdana"/>
              <a:sym typeface="Verdana"/>
            </a:endParaRPr>
          </a:p>
        </p:txBody>
      </p:sp>
      <p:grpSp>
        <p:nvGrpSpPr>
          <p:cNvPr id="168" name="Google Shape;168;p7"/>
          <p:cNvGrpSpPr/>
          <p:nvPr/>
        </p:nvGrpSpPr>
        <p:grpSpPr>
          <a:xfrm>
            <a:off x="2668524" y="2983992"/>
            <a:ext cx="2643123" cy="2487294"/>
            <a:chOff x="2668524" y="2983992"/>
            <a:chExt cx="2643123" cy="2487294"/>
          </a:xfrm>
        </p:grpSpPr>
        <p:sp>
          <p:nvSpPr>
            <p:cNvPr id="169" name="Google Shape;169;p7"/>
            <p:cNvSpPr/>
            <p:nvPr/>
          </p:nvSpPr>
          <p:spPr>
            <a:xfrm>
              <a:off x="2670047" y="2983992"/>
              <a:ext cx="2641600" cy="579120"/>
            </a:xfrm>
            <a:custGeom>
              <a:rect b="b" l="l" r="r" t="t"/>
              <a:pathLst>
                <a:path extrusionOk="0" h="579120" w="2641600">
                  <a:moveTo>
                    <a:pt x="2641092" y="0"/>
                  </a:moveTo>
                  <a:lnTo>
                    <a:pt x="0" y="0"/>
                  </a:lnTo>
                  <a:lnTo>
                    <a:pt x="0" y="579120"/>
                  </a:lnTo>
                  <a:lnTo>
                    <a:pt x="2641092" y="579120"/>
                  </a:lnTo>
                  <a:lnTo>
                    <a:pt x="2641092"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7"/>
            <p:cNvSpPr/>
            <p:nvPr/>
          </p:nvSpPr>
          <p:spPr>
            <a:xfrm>
              <a:off x="2668524" y="3563111"/>
              <a:ext cx="2642870" cy="1908175"/>
            </a:xfrm>
            <a:custGeom>
              <a:rect b="b" l="l" r="r" t="t"/>
              <a:pathLst>
                <a:path extrusionOk="0" h="1908175" w="2642870">
                  <a:moveTo>
                    <a:pt x="2642616" y="0"/>
                  </a:moveTo>
                  <a:lnTo>
                    <a:pt x="1524" y="0"/>
                  </a:lnTo>
                  <a:lnTo>
                    <a:pt x="1524" y="911352"/>
                  </a:lnTo>
                  <a:lnTo>
                    <a:pt x="0" y="911352"/>
                  </a:lnTo>
                  <a:lnTo>
                    <a:pt x="0" y="1908048"/>
                  </a:lnTo>
                  <a:lnTo>
                    <a:pt x="2642616" y="1908048"/>
                  </a:lnTo>
                  <a:lnTo>
                    <a:pt x="2642616" y="911352"/>
                  </a:lnTo>
                  <a:lnTo>
                    <a:pt x="264261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aphicFrame>
        <p:nvGraphicFramePr>
          <p:cNvPr id="171" name="Google Shape;171;p7"/>
          <p:cNvGraphicFramePr/>
          <p:nvPr/>
        </p:nvGraphicFramePr>
        <p:xfrm>
          <a:off x="2661666" y="2976372"/>
          <a:ext cx="3000000" cy="3000000"/>
        </p:xfrm>
        <a:graphic>
          <a:graphicData uri="http://schemas.openxmlformats.org/drawingml/2006/table">
            <a:tbl>
              <a:tblPr bandRow="1" firstRow="1">
                <a:noFill/>
                <a:tableStyleId>{AADB4A2B-A616-4299-9F59-80E0FF929C61}</a:tableStyleId>
              </a:tblPr>
              <a:tblGrid>
                <a:gridCol w="2641600"/>
              </a:tblGrid>
              <a:tr h="579125">
                <a:tc>
                  <a:txBody>
                    <a:bodyPr/>
                    <a:lstStyle/>
                    <a:p>
                      <a:pPr indent="0" lvl="0" marL="635" marR="0" rtl="0" algn="ctr">
                        <a:lnSpc>
                          <a:spcPct val="100000"/>
                        </a:lnSpc>
                        <a:spcBef>
                          <a:spcPts val="0"/>
                        </a:spcBef>
                        <a:spcAft>
                          <a:spcPts val="0"/>
                        </a:spcAft>
                        <a:buNone/>
                      </a:pPr>
                      <a:r>
                        <a:rPr b="1" lang="en-US" sz="2000" u="none" cap="none" strike="noStrike">
                          <a:solidFill>
                            <a:srgbClr val="FFFFFF"/>
                          </a:solidFill>
                          <a:latin typeface="Tahoma"/>
                          <a:ea typeface="Tahoma"/>
                          <a:cs typeface="Tahoma"/>
                          <a:sym typeface="Tahoma"/>
                        </a:rPr>
                        <a:t>Point</a:t>
                      </a:r>
                      <a:endParaRPr sz="2000" u="none" cap="none" strike="noStrike">
                        <a:latin typeface="Tahoma"/>
                        <a:ea typeface="Tahoma"/>
                        <a:cs typeface="Tahoma"/>
                        <a:sym typeface="Tahoma"/>
                      </a:endParaRPr>
                    </a:p>
                  </a:txBody>
                  <a:tcPr marT="133975"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r h="911225">
                <a:tc>
                  <a:txBody>
                    <a:bodyPr/>
                    <a:lstStyle/>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x: Entier</a:t>
                      </a:r>
                      <a:endParaRPr sz="1600" u="none" cap="none" strike="noStrike">
                        <a:latin typeface="Verdana"/>
                        <a:ea typeface="Verdana"/>
                        <a:cs typeface="Verdana"/>
                        <a:sym typeface="Verdana"/>
                      </a:endParaRPr>
                    </a:p>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y: Entier</a:t>
                      </a:r>
                      <a:endParaRPr sz="1600" u="none" cap="none" strike="noStrike">
                        <a:latin typeface="Verdana"/>
                        <a:ea typeface="Verdana"/>
                        <a:cs typeface="Verdana"/>
                        <a:sym typeface="Verdana"/>
                      </a:endParaRPr>
                    </a:p>
                  </a:txBody>
                  <a:tcPr marT="41900"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r h="996325">
                <a:tc>
                  <a:txBody>
                    <a:bodyPr/>
                    <a:lstStyle/>
                    <a:p>
                      <a:pPr indent="0" lvl="0" marL="90805" marR="0" rtl="0" algn="l">
                        <a:lnSpc>
                          <a:spcPct val="100000"/>
                        </a:lnSpc>
                        <a:spcBef>
                          <a:spcPts val="0"/>
                        </a:spcBef>
                        <a:spcAft>
                          <a:spcPts val="0"/>
                        </a:spcAft>
                        <a:buNone/>
                      </a:pPr>
                      <a:r>
                        <a:rPr lang="en-US" sz="1600" u="none" cap="none" strike="noStrike">
                          <a:latin typeface="Verdana"/>
                          <a:ea typeface="Verdana"/>
                          <a:cs typeface="Verdana"/>
                          <a:sym typeface="Verdana"/>
                        </a:rPr>
                        <a:t>afficher()</a:t>
                      </a:r>
                      <a:endParaRPr sz="1600" u="none" cap="none" strike="noStrike">
                        <a:latin typeface="Verdana"/>
                        <a:ea typeface="Verdana"/>
                        <a:cs typeface="Verdana"/>
                        <a:sym typeface="Verdana"/>
                      </a:endParaRPr>
                    </a:p>
                    <a:p>
                      <a:pPr indent="0" lvl="0" marL="90805" marR="0" rtl="0" algn="l">
                        <a:lnSpc>
                          <a:spcPct val="100000"/>
                        </a:lnSpc>
                        <a:spcBef>
                          <a:spcPts val="0"/>
                        </a:spcBef>
                        <a:spcAft>
                          <a:spcPts val="0"/>
                        </a:spcAft>
                        <a:buNone/>
                      </a:pPr>
                      <a:r>
                        <a:rPr lang="en-US" sz="1600" u="none" cap="none" strike="noStrike">
                          <a:latin typeface="Verdana"/>
                          <a:ea typeface="Verdana"/>
                          <a:cs typeface="Verdana"/>
                          <a:sym typeface="Verdana"/>
                        </a:rPr>
                        <a:t>deplacer(int dx, int dy)</a:t>
                      </a:r>
                      <a:endParaRPr sz="1600" u="none" cap="none" strike="noStrike">
                        <a:latin typeface="Verdana"/>
                        <a:ea typeface="Verdana"/>
                        <a:cs typeface="Verdana"/>
                        <a:sym typeface="Verdana"/>
                      </a:endParaRPr>
                    </a:p>
                  </a:txBody>
                  <a:tcPr marT="41275"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bl>
          </a:graphicData>
        </a:graphic>
      </p:graphicFrame>
      <p:sp>
        <p:nvSpPr>
          <p:cNvPr id="172" name="Google Shape;172;p7"/>
          <p:cNvSpPr/>
          <p:nvPr/>
        </p:nvSpPr>
        <p:spPr>
          <a:xfrm>
            <a:off x="6031991" y="2738627"/>
            <a:ext cx="4800600" cy="2893060"/>
          </a:xfrm>
          <a:custGeom>
            <a:rect b="b" l="l" r="r" t="t"/>
            <a:pathLst>
              <a:path extrusionOk="0" h="2893060" w="4800600">
                <a:moveTo>
                  <a:pt x="0" y="2892552"/>
                </a:moveTo>
                <a:lnTo>
                  <a:pt x="4800600" y="2892552"/>
                </a:lnTo>
                <a:lnTo>
                  <a:pt x="4800600" y="0"/>
                </a:lnTo>
                <a:lnTo>
                  <a:pt x="0" y="0"/>
                </a:lnTo>
                <a:lnTo>
                  <a:pt x="0" y="2892552"/>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7"/>
          <p:cNvSpPr txBox="1"/>
          <p:nvPr/>
        </p:nvSpPr>
        <p:spPr>
          <a:xfrm>
            <a:off x="6112255" y="2750312"/>
            <a:ext cx="1656080" cy="8801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400">
                <a:solidFill>
                  <a:schemeClr val="dk1"/>
                </a:solidFill>
                <a:latin typeface="Courier New"/>
                <a:ea typeface="Courier New"/>
                <a:cs typeface="Courier New"/>
                <a:sym typeface="Courier New"/>
              </a:rPr>
              <a:t>class </a:t>
            </a:r>
            <a:r>
              <a:rPr lang="en-US" sz="1400">
                <a:solidFill>
                  <a:srgbClr val="003399"/>
                </a:solidFill>
                <a:latin typeface="Courier New"/>
                <a:ea typeface="Courier New"/>
                <a:cs typeface="Courier New"/>
                <a:sym typeface="Courier New"/>
              </a:rPr>
              <a:t>Point</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i="1" lang="en-US" sz="1400">
                <a:solidFill>
                  <a:srgbClr val="666666"/>
                </a:solidFill>
                <a:latin typeface="Courier New"/>
                <a:ea typeface="Courier New"/>
                <a:cs typeface="Courier New"/>
                <a:sym typeface="Courier New"/>
              </a:rPr>
              <a:t>//ATTRIBUTS</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x</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y</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174" name="Google Shape;174;p7"/>
          <p:cNvSpPr txBox="1"/>
          <p:nvPr/>
        </p:nvSpPr>
        <p:spPr>
          <a:xfrm>
            <a:off x="6569456" y="3817365"/>
            <a:ext cx="3216910" cy="109347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i="1" lang="en-US" sz="1400">
                <a:solidFill>
                  <a:srgbClr val="666666"/>
                </a:solidFill>
                <a:latin typeface="Courier New"/>
                <a:ea typeface="Courier New"/>
                <a:cs typeface="Courier New"/>
                <a:sym typeface="Courier New"/>
              </a:rPr>
              <a:t>//METHODES</a:t>
            </a:r>
            <a:endParaRPr sz="1400">
              <a:solidFill>
                <a:schemeClr val="dk1"/>
              </a:solidFill>
              <a:latin typeface="Courier New"/>
              <a:ea typeface="Courier New"/>
              <a:cs typeface="Courier New"/>
              <a:sym typeface="Courier New"/>
            </a:endParaRPr>
          </a:p>
          <a:p>
            <a:pPr indent="0" lvl="0" marL="12700" marR="0" rtl="0" algn="l">
              <a:lnSpc>
                <a:spcPct val="100000"/>
              </a:lnSpc>
              <a:spcBef>
                <a:spcPts val="5"/>
              </a:spcBef>
              <a:spcAft>
                <a:spcPts val="0"/>
              </a:spcAft>
              <a:buNone/>
            </a:pPr>
            <a:r>
              <a:rPr b="1" lang="en-US" sz="1400">
                <a:solidFill>
                  <a:srgbClr val="000066"/>
                </a:solidFill>
                <a:latin typeface="Courier New"/>
                <a:ea typeface="Courier New"/>
                <a:cs typeface="Courier New"/>
                <a:sym typeface="Courier New"/>
              </a:rPr>
              <a:t>void </a:t>
            </a:r>
            <a:r>
              <a:rPr lang="en-US" sz="1400">
                <a:solidFill>
                  <a:srgbClr val="000066"/>
                </a:solidFill>
                <a:latin typeface="Courier New"/>
                <a:ea typeface="Courier New"/>
                <a:cs typeface="Courier New"/>
                <a:sym typeface="Courier New"/>
              </a:rPr>
              <a:t>afficher</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75945" marR="0" rtl="0" algn="l">
              <a:lnSpc>
                <a:spcPct val="100000"/>
              </a:lnSpc>
              <a:spcBef>
                <a:spcPts val="0"/>
              </a:spcBef>
              <a:spcAft>
                <a:spcPts val="0"/>
              </a:spcAft>
              <a:buNone/>
            </a:pPr>
            <a:r>
              <a:rPr lang="en-US" sz="1400">
                <a:solidFill>
                  <a:srgbClr val="000066"/>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270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270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void </a:t>
            </a:r>
            <a:r>
              <a:rPr lang="en-US" sz="1400">
                <a:solidFill>
                  <a:srgbClr val="000066"/>
                </a:solidFill>
                <a:latin typeface="Courier New"/>
                <a:ea typeface="Courier New"/>
                <a:cs typeface="Courier New"/>
                <a:sym typeface="Courier New"/>
              </a:rPr>
              <a:t>deplacer</a:t>
            </a:r>
            <a:r>
              <a:rPr lang="en-US" sz="1400">
                <a:solidFill>
                  <a:srgbClr val="009900"/>
                </a:solidFill>
                <a:latin typeface="Courier New"/>
                <a:ea typeface="Courier New"/>
                <a:cs typeface="Courier New"/>
                <a:sym typeface="Courier New"/>
              </a:rPr>
              <a:t>(</a:t>
            </a: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dx, </a:t>
            </a: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dy</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175" name="Google Shape;175;p7"/>
          <p:cNvSpPr txBox="1"/>
          <p:nvPr/>
        </p:nvSpPr>
        <p:spPr>
          <a:xfrm>
            <a:off x="6569456" y="5097907"/>
            <a:ext cx="802640" cy="452755"/>
          </a:xfrm>
          <a:prstGeom prst="rect">
            <a:avLst/>
          </a:prstGeom>
          <a:noFill/>
          <a:ln>
            <a:noFill/>
          </a:ln>
        </p:spPr>
        <p:txBody>
          <a:bodyPr anchorCtr="0" anchor="t" bIns="0" lIns="0" spcFirstLastPara="1" rIns="0" wrap="square" tIns="12700">
            <a:spAutoFit/>
          </a:bodyPr>
          <a:lstStyle/>
          <a:p>
            <a:pPr indent="0" lvl="0" marL="469900" marR="0" rtl="0" algn="l">
              <a:lnSpc>
                <a:spcPct val="100000"/>
              </a:lnSpc>
              <a:spcBef>
                <a:spcPts val="0"/>
              </a:spcBef>
              <a:spcAft>
                <a:spcPts val="0"/>
              </a:spcAft>
              <a:buNone/>
            </a:pPr>
            <a:r>
              <a:rPr lang="en-US" sz="1400">
                <a:solidFill>
                  <a:srgbClr val="000066"/>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2700" marR="0" rtl="0" algn="l">
              <a:lnSpc>
                <a:spcPct val="100000"/>
              </a:lnSpc>
              <a:spcBef>
                <a:spcPts val="5"/>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grpSp>
        <p:nvGrpSpPr>
          <p:cNvPr id="176" name="Google Shape;176;p7"/>
          <p:cNvGrpSpPr/>
          <p:nvPr/>
        </p:nvGrpSpPr>
        <p:grpSpPr>
          <a:xfrm>
            <a:off x="7184136" y="2282951"/>
            <a:ext cx="3914394" cy="3349244"/>
            <a:chOff x="7184136" y="2282951"/>
            <a:chExt cx="3914394" cy="3349244"/>
          </a:xfrm>
        </p:grpSpPr>
        <p:sp>
          <p:nvSpPr>
            <p:cNvPr id="177" name="Google Shape;177;p7"/>
            <p:cNvSpPr/>
            <p:nvPr/>
          </p:nvSpPr>
          <p:spPr>
            <a:xfrm>
              <a:off x="8004810" y="2958845"/>
              <a:ext cx="3093720" cy="2673350"/>
            </a:xfrm>
            <a:custGeom>
              <a:rect b="b" l="l" r="r" t="t"/>
              <a:pathLst>
                <a:path extrusionOk="0" h="2673350" w="3093720">
                  <a:moveTo>
                    <a:pt x="0" y="0"/>
                  </a:moveTo>
                  <a:lnTo>
                    <a:pt x="49512" y="1670"/>
                  </a:lnTo>
                  <a:lnTo>
                    <a:pt x="89963" y="6222"/>
                  </a:lnTo>
                  <a:lnTo>
                    <a:pt x="117246" y="12965"/>
                  </a:lnTo>
                  <a:lnTo>
                    <a:pt x="127254" y="21208"/>
                  </a:lnTo>
                  <a:lnTo>
                    <a:pt x="127254" y="268350"/>
                  </a:lnTo>
                  <a:lnTo>
                    <a:pt x="137261" y="276594"/>
                  </a:lnTo>
                  <a:lnTo>
                    <a:pt x="164544" y="283336"/>
                  </a:lnTo>
                  <a:lnTo>
                    <a:pt x="204995" y="287889"/>
                  </a:lnTo>
                  <a:lnTo>
                    <a:pt x="254508" y="289559"/>
                  </a:lnTo>
                  <a:lnTo>
                    <a:pt x="204995" y="291230"/>
                  </a:lnTo>
                  <a:lnTo>
                    <a:pt x="164544" y="295782"/>
                  </a:lnTo>
                  <a:lnTo>
                    <a:pt x="137261" y="302525"/>
                  </a:lnTo>
                  <a:lnTo>
                    <a:pt x="127254" y="310768"/>
                  </a:lnTo>
                  <a:lnTo>
                    <a:pt x="127254" y="557911"/>
                  </a:lnTo>
                  <a:lnTo>
                    <a:pt x="117246" y="566154"/>
                  </a:lnTo>
                  <a:lnTo>
                    <a:pt x="89963" y="572896"/>
                  </a:lnTo>
                  <a:lnTo>
                    <a:pt x="49512" y="577449"/>
                  </a:lnTo>
                  <a:lnTo>
                    <a:pt x="0" y="579119"/>
                  </a:lnTo>
                </a:path>
                <a:path extrusionOk="0" h="2673350" w="3093720">
                  <a:moveTo>
                    <a:pt x="2409444" y="1059179"/>
                  </a:moveTo>
                  <a:lnTo>
                    <a:pt x="2487898" y="1060685"/>
                  </a:lnTo>
                  <a:lnTo>
                    <a:pt x="2559915" y="1064975"/>
                  </a:lnTo>
                  <a:lnTo>
                    <a:pt x="2623441" y="1071706"/>
                  </a:lnTo>
                  <a:lnTo>
                    <a:pt x="2676423" y="1080536"/>
                  </a:lnTo>
                  <a:lnTo>
                    <a:pt x="2716809" y="1091124"/>
                  </a:lnTo>
                  <a:lnTo>
                    <a:pt x="2751582" y="1116202"/>
                  </a:lnTo>
                  <a:lnTo>
                    <a:pt x="2751582" y="1809114"/>
                  </a:lnTo>
                  <a:lnTo>
                    <a:pt x="2760617" y="1822190"/>
                  </a:lnTo>
                  <a:lnTo>
                    <a:pt x="2826740" y="1844781"/>
                  </a:lnTo>
                  <a:lnTo>
                    <a:pt x="2879722" y="1853611"/>
                  </a:lnTo>
                  <a:lnTo>
                    <a:pt x="2943248" y="1860342"/>
                  </a:lnTo>
                  <a:lnTo>
                    <a:pt x="3015265" y="1864632"/>
                  </a:lnTo>
                  <a:lnTo>
                    <a:pt x="3093720" y="1866137"/>
                  </a:lnTo>
                  <a:lnTo>
                    <a:pt x="3015265" y="1867643"/>
                  </a:lnTo>
                  <a:lnTo>
                    <a:pt x="2943248" y="1871933"/>
                  </a:lnTo>
                  <a:lnTo>
                    <a:pt x="2879722" y="1878664"/>
                  </a:lnTo>
                  <a:lnTo>
                    <a:pt x="2826740" y="1887494"/>
                  </a:lnTo>
                  <a:lnTo>
                    <a:pt x="2786354" y="1898082"/>
                  </a:lnTo>
                  <a:lnTo>
                    <a:pt x="2751582" y="1923160"/>
                  </a:lnTo>
                  <a:lnTo>
                    <a:pt x="2751582" y="2616072"/>
                  </a:lnTo>
                  <a:lnTo>
                    <a:pt x="2742546" y="2629148"/>
                  </a:lnTo>
                  <a:lnTo>
                    <a:pt x="2676423" y="2651739"/>
                  </a:lnTo>
                  <a:lnTo>
                    <a:pt x="2623441" y="2660569"/>
                  </a:lnTo>
                  <a:lnTo>
                    <a:pt x="2559915" y="2667300"/>
                  </a:lnTo>
                  <a:lnTo>
                    <a:pt x="2487898" y="2671590"/>
                  </a:lnTo>
                  <a:lnTo>
                    <a:pt x="2409444" y="2673095"/>
                  </a:lnTo>
                </a:path>
              </a:pathLst>
            </a:custGeom>
            <a:noFill/>
            <a:ln cap="flat" cmpd="sng" w="38100">
              <a:solidFill>
                <a:srgbClr val="5593C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7"/>
            <p:cNvSpPr/>
            <p:nvPr/>
          </p:nvSpPr>
          <p:spPr>
            <a:xfrm>
              <a:off x="7184136" y="2282951"/>
              <a:ext cx="1755775" cy="475615"/>
            </a:xfrm>
            <a:custGeom>
              <a:rect b="b" l="l" r="r" t="t"/>
              <a:pathLst>
                <a:path extrusionOk="0" h="475614" w="1755775">
                  <a:moveTo>
                    <a:pt x="0" y="475234"/>
                  </a:moveTo>
                  <a:lnTo>
                    <a:pt x="1755267" y="0"/>
                  </a:lnTo>
                </a:path>
              </a:pathLst>
            </a:custGeom>
            <a:noFill/>
            <a:ln cap="flat" cmpd="sng" w="57900">
              <a:solidFill>
                <a:srgbClr val="5593C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9" name="Google Shape;179;p7"/>
          <p:cNvSpPr txBox="1"/>
          <p:nvPr/>
        </p:nvSpPr>
        <p:spPr>
          <a:xfrm>
            <a:off x="8446134" y="3068827"/>
            <a:ext cx="728345" cy="23939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Attributs</a:t>
            </a:r>
            <a:endParaRPr sz="1400">
              <a:solidFill>
                <a:schemeClr val="dk1"/>
              </a:solidFill>
              <a:latin typeface="Verdana"/>
              <a:ea typeface="Verdana"/>
              <a:cs typeface="Verdana"/>
              <a:sym typeface="Verdana"/>
            </a:endParaRPr>
          </a:p>
        </p:txBody>
      </p:sp>
      <p:sp>
        <p:nvSpPr>
          <p:cNvPr id="180" name="Google Shape;180;p7"/>
          <p:cNvSpPr txBox="1"/>
          <p:nvPr/>
        </p:nvSpPr>
        <p:spPr>
          <a:xfrm>
            <a:off x="11178667" y="4694935"/>
            <a:ext cx="899794"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Méthodes</a:t>
            </a:r>
            <a:endParaRPr sz="1400">
              <a:solidFill>
                <a:schemeClr val="dk1"/>
              </a:solidFill>
              <a:latin typeface="Verdana"/>
              <a:ea typeface="Verdana"/>
              <a:cs typeface="Verdana"/>
              <a:sym typeface="Verdana"/>
            </a:endParaRPr>
          </a:p>
        </p:txBody>
      </p:sp>
      <p:sp>
        <p:nvSpPr>
          <p:cNvPr id="181" name="Google Shape;181;p7"/>
          <p:cNvSpPr txBox="1"/>
          <p:nvPr/>
        </p:nvSpPr>
        <p:spPr>
          <a:xfrm>
            <a:off x="9019793" y="2158111"/>
            <a:ext cx="1510665" cy="23939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Nom de la classe</a:t>
            </a:r>
            <a:endParaRPr sz="1400">
              <a:solidFill>
                <a:schemeClr val="dk1"/>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187" name="Google Shape;187;p8"/>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13</a:t>
            </a:r>
            <a:endParaRPr sz="2000">
              <a:solidFill>
                <a:schemeClr val="dk1"/>
              </a:solidFill>
              <a:latin typeface="Verdana"/>
              <a:ea typeface="Verdana"/>
              <a:cs typeface="Verdana"/>
              <a:sym typeface="Verdana"/>
            </a:endParaRPr>
          </a:p>
        </p:txBody>
      </p:sp>
      <p:grpSp>
        <p:nvGrpSpPr>
          <p:cNvPr id="188" name="Google Shape;188;p8"/>
          <p:cNvGrpSpPr/>
          <p:nvPr/>
        </p:nvGrpSpPr>
        <p:grpSpPr>
          <a:xfrm>
            <a:off x="2668524" y="2983992"/>
            <a:ext cx="2643123" cy="2487294"/>
            <a:chOff x="2668524" y="2983992"/>
            <a:chExt cx="2643123" cy="2487294"/>
          </a:xfrm>
        </p:grpSpPr>
        <p:sp>
          <p:nvSpPr>
            <p:cNvPr id="189" name="Google Shape;189;p8"/>
            <p:cNvSpPr/>
            <p:nvPr/>
          </p:nvSpPr>
          <p:spPr>
            <a:xfrm>
              <a:off x="2670047" y="2983992"/>
              <a:ext cx="2641600" cy="579120"/>
            </a:xfrm>
            <a:custGeom>
              <a:rect b="b" l="l" r="r" t="t"/>
              <a:pathLst>
                <a:path extrusionOk="0" h="579120" w="2641600">
                  <a:moveTo>
                    <a:pt x="2641092" y="0"/>
                  </a:moveTo>
                  <a:lnTo>
                    <a:pt x="0" y="0"/>
                  </a:lnTo>
                  <a:lnTo>
                    <a:pt x="0" y="579120"/>
                  </a:lnTo>
                  <a:lnTo>
                    <a:pt x="2641092" y="579120"/>
                  </a:lnTo>
                  <a:lnTo>
                    <a:pt x="2641092"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8"/>
            <p:cNvSpPr/>
            <p:nvPr/>
          </p:nvSpPr>
          <p:spPr>
            <a:xfrm>
              <a:off x="2668524" y="3563111"/>
              <a:ext cx="2642870" cy="1908175"/>
            </a:xfrm>
            <a:custGeom>
              <a:rect b="b" l="l" r="r" t="t"/>
              <a:pathLst>
                <a:path extrusionOk="0" h="1908175" w="2642870">
                  <a:moveTo>
                    <a:pt x="2642616" y="0"/>
                  </a:moveTo>
                  <a:lnTo>
                    <a:pt x="1524" y="0"/>
                  </a:lnTo>
                  <a:lnTo>
                    <a:pt x="1524" y="911352"/>
                  </a:lnTo>
                  <a:lnTo>
                    <a:pt x="0" y="911352"/>
                  </a:lnTo>
                  <a:lnTo>
                    <a:pt x="0" y="1908048"/>
                  </a:lnTo>
                  <a:lnTo>
                    <a:pt x="2642616" y="1908048"/>
                  </a:lnTo>
                  <a:lnTo>
                    <a:pt x="2642616" y="911352"/>
                  </a:lnTo>
                  <a:lnTo>
                    <a:pt x="264261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aphicFrame>
        <p:nvGraphicFramePr>
          <p:cNvPr id="191" name="Google Shape;191;p8"/>
          <p:cNvGraphicFramePr/>
          <p:nvPr/>
        </p:nvGraphicFramePr>
        <p:xfrm>
          <a:off x="2661666" y="2976372"/>
          <a:ext cx="3000000" cy="3000000"/>
        </p:xfrm>
        <a:graphic>
          <a:graphicData uri="http://schemas.openxmlformats.org/drawingml/2006/table">
            <a:tbl>
              <a:tblPr bandRow="1" firstRow="1">
                <a:noFill/>
                <a:tableStyleId>{AADB4A2B-A616-4299-9F59-80E0FF929C61}</a:tableStyleId>
              </a:tblPr>
              <a:tblGrid>
                <a:gridCol w="2641600"/>
              </a:tblGrid>
              <a:tr h="579125">
                <a:tc>
                  <a:txBody>
                    <a:bodyPr/>
                    <a:lstStyle/>
                    <a:p>
                      <a:pPr indent="0" lvl="0" marL="635" marR="0" rtl="0" algn="ctr">
                        <a:lnSpc>
                          <a:spcPct val="100000"/>
                        </a:lnSpc>
                        <a:spcBef>
                          <a:spcPts val="0"/>
                        </a:spcBef>
                        <a:spcAft>
                          <a:spcPts val="0"/>
                        </a:spcAft>
                        <a:buNone/>
                      </a:pPr>
                      <a:r>
                        <a:rPr b="1" lang="en-US" sz="2000" u="none" cap="none" strike="noStrike">
                          <a:solidFill>
                            <a:srgbClr val="FFFFFF"/>
                          </a:solidFill>
                          <a:latin typeface="Tahoma"/>
                          <a:ea typeface="Tahoma"/>
                          <a:cs typeface="Tahoma"/>
                          <a:sym typeface="Tahoma"/>
                        </a:rPr>
                        <a:t>Point</a:t>
                      </a:r>
                      <a:endParaRPr sz="2000" u="none" cap="none" strike="noStrike">
                        <a:latin typeface="Tahoma"/>
                        <a:ea typeface="Tahoma"/>
                        <a:cs typeface="Tahoma"/>
                        <a:sym typeface="Tahoma"/>
                      </a:endParaRPr>
                    </a:p>
                  </a:txBody>
                  <a:tcPr marT="133975"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r h="911225">
                <a:tc>
                  <a:txBody>
                    <a:bodyPr/>
                    <a:lstStyle/>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x: Entier</a:t>
                      </a:r>
                      <a:endParaRPr sz="1600" u="none" cap="none" strike="noStrike">
                        <a:latin typeface="Verdana"/>
                        <a:ea typeface="Verdana"/>
                        <a:cs typeface="Verdana"/>
                        <a:sym typeface="Verdana"/>
                      </a:endParaRPr>
                    </a:p>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y: Entier</a:t>
                      </a:r>
                      <a:endParaRPr sz="1600" u="none" cap="none" strike="noStrike">
                        <a:latin typeface="Verdana"/>
                        <a:ea typeface="Verdana"/>
                        <a:cs typeface="Verdana"/>
                        <a:sym typeface="Verdana"/>
                      </a:endParaRPr>
                    </a:p>
                  </a:txBody>
                  <a:tcPr marT="41900"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r h="996325">
                <a:tc>
                  <a:txBody>
                    <a:bodyPr/>
                    <a:lstStyle/>
                    <a:p>
                      <a:pPr indent="0" lvl="0" marL="90805" marR="0" rtl="0" algn="l">
                        <a:lnSpc>
                          <a:spcPct val="100000"/>
                        </a:lnSpc>
                        <a:spcBef>
                          <a:spcPts val="0"/>
                        </a:spcBef>
                        <a:spcAft>
                          <a:spcPts val="0"/>
                        </a:spcAft>
                        <a:buNone/>
                      </a:pPr>
                      <a:r>
                        <a:rPr lang="en-US" sz="1600" u="none" cap="none" strike="noStrike">
                          <a:latin typeface="Verdana"/>
                          <a:ea typeface="Verdana"/>
                          <a:cs typeface="Verdana"/>
                          <a:sym typeface="Verdana"/>
                        </a:rPr>
                        <a:t>afficher()</a:t>
                      </a:r>
                      <a:endParaRPr sz="1600" u="none" cap="none" strike="noStrike">
                        <a:latin typeface="Verdana"/>
                        <a:ea typeface="Verdana"/>
                        <a:cs typeface="Verdana"/>
                        <a:sym typeface="Verdana"/>
                      </a:endParaRPr>
                    </a:p>
                    <a:p>
                      <a:pPr indent="0" lvl="0" marL="90805" marR="0" rtl="0" algn="l">
                        <a:lnSpc>
                          <a:spcPct val="100000"/>
                        </a:lnSpc>
                        <a:spcBef>
                          <a:spcPts val="0"/>
                        </a:spcBef>
                        <a:spcAft>
                          <a:spcPts val="0"/>
                        </a:spcAft>
                        <a:buNone/>
                      </a:pPr>
                      <a:r>
                        <a:rPr lang="en-US" sz="1600" u="none" cap="none" strike="noStrike">
                          <a:latin typeface="Verdana"/>
                          <a:ea typeface="Verdana"/>
                          <a:cs typeface="Verdana"/>
                          <a:sym typeface="Verdana"/>
                        </a:rPr>
                        <a:t>deplacer(int dx, int dy)</a:t>
                      </a:r>
                      <a:endParaRPr sz="1600" u="none" cap="none" strike="noStrike">
                        <a:latin typeface="Verdana"/>
                        <a:ea typeface="Verdana"/>
                        <a:cs typeface="Verdana"/>
                        <a:sym typeface="Verdana"/>
                      </a:endParaRPr>
                    </a:p>
                  </a:txBody>
                  <a:tcPr marT="41275"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bl>
          </a:graphicData>
        </a:graphic>
      </p:graphicFrame>
      <p:sp>
        <p:nvSpPr>
          <p:cNvPr id="192" name="Google Shape;192;p8"/>
          <p:cNvSpPr txBox="1"/>
          <p:nvPr/>
        </p:nvSpPr>
        <p:spPr>
          <a:xfrm>
            <a:off x="6031991" y="2738627"/>
            <a:ext cx="4800600" cy="310769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4750">
            <a:spAutoFit/>
          </a:bodyPr>
          <a:lstStyle/>
          <a:p>
            <a:pPr indent="0" lvl="0" marL="92710" marR="0" rtl="0" algn="l">
              <a:lnSpc>
                <a:spcPct val="100000"/>
              </a:lnSpc>
              <a:spcBef>
                <a:spcPts val="0"/>
              </a:spcBef>
              <a:spcAft>
                <a:spcPts val="0"/>
              </a:spcAft>
              <a:buNone/>
            </a:pPr>
            <a:r>
              <a:rPr b="1" lang="en-US" sz="1400">
                <a:solidFill>
                  <a:schemeClr val="dk1"/>
                </a:solidFill>
                <a:latin typeface="Courier New"/>
                <a:ea typeface="Courier New"/>
                <a:cs typeface="Courier New"/>
                <a:sym typeface="Courier New"/>
              </a:rPr>
              <a:t>class </a:t>
            </a:r>
            <a:r>
              <a:rPr lang="en-US" sz="1400">
                <a:solidFill>
                  <a:srgbClr val="003399"/>
                </a:solidFill>
                <a:latin typeface="Courier New"/>
                <a:ea typeface="Courier New"/>
                <a:cs typeface="Courier New"/>
                <a:sym typeface="Courier New"/>
              </a:rPr>
              <a:t>Point</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49910" marR="0" rtl="0" algn="l">
              <a:lnSpc>
                <a:spcPct val="100000"/>
              </a:lnSpc>
              <a:spcBef>
                <a:spcPts val="0"/>
              </a:spcBef>
              <a:spcAft>
                <a:spcPts val="0"/>
              </a:spcAft>
              <a:buNone/>
            </a:pPr>
            <a:r>
              <a:rPr i="1" lang="en-US" sz="1400">
                <a:solidFill>
                  <a:srgbClr val="666666"/>
                </a:solidFill>
                <a:latin typeface="Courier New"/>
                <a:ea typeface="Courier New"/>
                <a:cs typeface="Courier New"/>
                <a:sym typeface="Courier New"/>
              </a:rPr>
              <a:t>//ATTRIBUTS</a:t>
            </a:r>
            <a:endParaRPr sz="1400">
              <a:solidFill>
                <a:schemeClr val="dk1"/>
              </a:solidFill>
              <a:latin typeface="Courier New"/>
              <a:ea typeface="Courier New"/>
              <a:cs typeface="Courier New"/>
              <a:sym typeface="Courier New"/>
            </a:endParaRPr>
          </a:p>
          <a:p>
            <a:pPr indent="0" lvl="0" marL="54991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x</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4991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y</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0" marR="0" rtl="0" algn="l">
              <a:lnSpc>
                <a:spcPct val="100000"/>
              </a:lnSpc>
              <a:spcBef>
                <a:spcPts val="40"/>
              </a:spcBef>
              <a:spcAft>
                <a:spcPts val="0"/>
              </a:spcAft>
              <a:buNone/>
            </a:pPr>
            <a:r>
              <a:t/>
            </a:r>
            <a:endParaRPr sz="1450">
              <a:solidFill>
                <a:schemeClr val="dk1"/>
              </a:solidFill>
              <a:latin typeface="Courier New"/>
              <a:ea typeface="Courier New"/>
              <a:cs typeface="Courier New"/>
              <a:sym typeface="Courier New"/>
            </a:endParaRPr>
          </a:p>
          <a:p>
            <a:pPr indent="0" lvl="0" marL="549910" marR="0" rtl="0" algn="l">
              <a:lnSpc>
                <a:spcPct val="100000"/>
              </a:lnSpc>
              <a:spcBef>
                <a:spcPts val="0"/>
              </a:spcBef>
              <a:spcAft>
                <a:spcPts val="0"/>
              </a:spcAft>
              <a:buNone/>
            </a:pPr>
            <a:r>
              <a:rPr i="1" lang="en-US" sz="1400">
                <a:solidFill>
                  <a:srgbClr val="666666"/>
                </a:solidFill>
                <a:latin typeface="Courier New"/>
                <a:ea typeface="Courier New"/>
                <a:cs typeface="Courier New"/>
                <a:sym typeface="Courier New"/>
              </a:rPr>
              <a:t>//METHODES</a:t>
            </a:r>
            <a:endParaRPr sz="1400">
              <a:solidFill>
                <a:schemeClr val="dk1"/>
              </a:solidFill>
              <a:latin typeface="Courier New"/>
              <a:ea typeface="Courier New"/>
              <a:cs typeface="Courier New"/>
              <a:sym typeface="Courier New"/>
            </a:endParaRPr>
          </a:p>
          <a:p>
            <a:pPr indent="-457200" lvl="0" marL="1007110" marR="16637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void </a:t>
            </a:r>
            <a:r>
              <a:rPr lang="en-US" sz="1400">
                <a:solidFill>
                  <a:srgbClr val="000066"/>
                </a:solidFill>
                <a:latin typeface="Courier New"/>
                <a:ea typeface="Courier New"/>
                <a:cs typeface="Courier New"/>
                <a:sym typeface="Courier New"/>
              </a:rPr>
              <a:t>afficher</a:t>
            </a:r>
            <a:r>
              <a:rPr lang="en-US" sz="1400">
                <a:solidFill>
                  <a:srgbClr val="009900"/>
                </a:solidFill>
                <a:latin typeface="Courier New"/>
                <a:ea typeface="Courier New"/>
                <a:cs typeface="Courier New"/>
                <a:sym typeface="Courier New"/>
              </a:rPr>
              <a:t>(){ </a:t>
            </a:r>
            <a:r>
              <a:rPr lang="en-US" sz="1400">
                <a:solidFill>
                  <a:srgbClr val="003399"/>
                </a:solidFill>
                <a:latin typeface="Courier New"/>
                <a:ea typeface="Courier New"/>
                <a:cs typeface="Courier New"/>
                <a:sym typeface="Courier New"/>
              </a:rPr>
              <a:t>System</a:t>
            </a:r>
            <a:r>
              <a:rPr lang="en-US" sz="1400">
                <a:solidFill>
                  <a:srgbClr val="000066"/>
                </a:solidFill>
                <a:latin typeface="Courier New"/>
                <a:ea typeface="Courier New"/>
                <a:cs typeface="Courier New"/>
                <a:sym typeface="Courier New"/>
              </a:rPr>
              <a:t>.</a:t>
            </a:r>
            <a:r>
              <a:rPr lang="en-US" sz="1400">
                <a:solidFill>
                  <a:srgbClr val="006633"/>
                </a:solidFill>
                <a:latin typeface="Courier New"/>
                <a:ea typeface="Courier New"/>
                <a:cs typeface="Courier New"/>
                <a:sym typeface="Courier New"/>
              </a:rPr>
              <a:t>out</a:t>
            </a:r>
            <a:r>
              <a:rPr lang="en-US" sz="1400">
                <a:solidFill>
                  <a:srgbClr val="000066"/>
                </a:solidFill>
                <a:latin typeface="Courier New"/>
                <a:ea typeface="Courier New"/>
                <a:cs typeface="Courier New"/>
                <a:sym typeface="Courier New"/>
              </a:rPr>
              <a:t>.</a:t>
            </a:r>
            <a:r>
              <a:rPr lang="en-US" sz="1400">
                <a:solidFill>
                  <a:srgbClr val="006633"/>
                </a:solidFill>
                <a:latin typeface="Courier New"/>
                <a:ea typeface="Courier New"/>
                <a:cs typeface="Courier New"/>
                <a:sym typeface="Courier New"/>
              </a:rPr>
              <a:t>println</a:t>
            </a:r>
            <a:r>
              <a:rPr lang="en-US" sz="1400">
                <a:solidFill>
                  <a:srgbClr val="009900"/>
                </a:solidFill>
                <a:latin typeface="Courier New"/>
                <a:ea typeface="Courier New"/>
                <a:cs typeface="Courier New"/>
                <a:sym typeface="Courier New"/>
              </a:rPr>
              <a:t>(</a:t>
            </a:r>
            <a:r>
              <a:rPr lang="en-US" sz="1400">
                <a:solidFill>
                  <a:srgbClr val="0000FF"/>
                </a:solidFill>
                <a:latin typeface="Courier New"/>
                <a:ea typeface="Courier New"/>
                <a:cs typeface="Courier New"/>
                <a:sym typeface="Courier New"/>
              </a:rPr>
              <a:t>"x="</a:t>
            </a:r>
            <a:r>
              <a:rPr lang="en-US" sz="1400">
                <a:solidFill>
                  <a:srgbClr val="339933"/>
                </a:solidFill>
                <a:latin typeface="Courier New"/>
                <a:ea typeface="Courier New"/>
                <a:cs typeface="Courier New"/>
                <a:sym typeface="Courier New"/>
              </a:rPr>
              <a:t>+</a:t>
            </a:r>
            <a:r>
              <a:rPr lang="en-US" sz="1400">
                <a:solidFill>
                  <a:srgbClr val="000066"/>
                </a:solidFill>
                <a:latin typeface="Courier New"/>
                <a:ea typeface="Courier New"/>
                <a:cs typeface="Courier New"/>
                <a:sym typeface="Courier New"/>
              </a:rPr>
              <a:t>x</a:t>
            </a:r>
            <a:r>
              <a:rPr lang="en-US" sz="1400">
                <a:solidFill>
                  <a:srgbClr val="339933"/>
                </a:solidFill>
                <a:latin typeface="Courier New"/>
                <a:ea typeface="Courier New"/>
                <a:cs typeface="Courier New"/>
                <a:sym typeface="Courier New"/>
              </a:rPr>
              <a:t>+</a:t>
            </a:r>
            <a:r>
              <a:rPr lang="en-US" sz="1400">
                <a:solidFill>
                  <a:srgbClr val="0000FF"/>
                </a:solidFill>
                <a:latin typeface="Courier New"/>
                <a:ea typeface="Courier New"/>
                <a:cs typeface="Courier New"/>
                <a:sym typeface="Courier New"/>
              </a:rPr>
              <a:t>"y="</a:t>
            </a:r>
            <a:r>
              <a:rPr lang="en-US" sz="1400">
                <a:solidFill>
                  <a:srgbClr val="339933"/>
                </a:solidFill>
                <a:latin typeface="Courier New"/>
                <a:ea typeface="Courier New"/>
                <a:cs typeface="Courier New"/>
                <a:sym typeface="Courier New"/>
              </a:rPr>
              <a:t>+</a:t>
            </a:r>
            <a:r>
              <a:rPr lang="en-US" sz="1400">
                <a:solidFill>
                  <a:srgbClr val="000066"/>
                </a:solidFill>
                <a:latin typeface="Courier New"/>
                <a:ea typeface="Courier New"/>
                <a:cs typeface="Courier New"/>
                <a:sym typeface="Courier New"/>
              </a:rPr>
              <a:t>y</a:t>
            </a:r>
            <a:r>
              <a:rPr lang="en-US" sz="1400">
                <a:solidFill>
                  <a:srgbClr val="009900"/>
                </a:solidFill>
                <a:latin typeface="Courier New"/>
                <a:ea typeface="Courier New"/>
                <a:cs typeface="Courier New"/>
                <a:sym typeface="Courier New"/>
              </a:rPr>
              <a:t>)</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4991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4991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void </a:t>
            </a:r>
            <a:r>
              <a:rPr lang="en-US" sz="1400">
                <a:solidFill>
                  <a:srgbClr val="000066"/>
                </a:solidFill>
                <a:latin typeface="Courier New"/>
                <a:ea typeface="Courier New"/>
                <a:cs typeface="Courier New"/>
                <a:sym typeface="Courier New"/>
              </a:rPr>
              <a:t>deplacer</a:t>
            </a:r>
            <a:r>
              <a:rPr lang="en-US" sz="1400">
                <a:solidFill>
                  <a:srgbClr val="009900"/>
                </a:solidFill>
                <a:latin typeface="Courier New"/>
                <a:ea typeface="Courier New"/>
                <a:cs typeface="Courier New"/>
                <a:sym typeface="Courier New"/>
              </a:rPr>
              <a:t>(</a:t>
            </a: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dx, </a:t>
            </a: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dy</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007110" marR="2613025" rtl="0" algn="l">
              <a:lnSpc>
                <a:spcPct val="100000"/>
              </a:lnSpc>
              <a:spcBef>
                <a:spcPts val="0"/>
              </a:spcBef>
              <a:spcAft>
                <a:spcPts val="0"/>
              </a:spcAft>
              <a:buNone/>
            </a:pPr>
            <a:r>
              <a:rPr lang="en-US" sz="1400">
                <a:solidFill>
                  <a:srgbClr val="000066"/>
                </a:solidFill>
                <a:latin typeface="Courier New"/>
                <a:ea typeface="Courier New"/>
                <a:cs typeface="Courier New"/>
                <a:sym typeface="Courier New"/>
              </a:rPr>
              <a:t>x </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x + dx</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y </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y + dy</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4991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9271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9"/>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198" name="Google Shape;198;p9"/>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14</a:t>
            </a:r>
            <a:endParaRPr sz="2000">
              <a:solidFill>
                <a:schemeClr val="dk1"/>
              </a:solidFill>
              <a:latin typeface="Verdana"/>
              <a:ea typeface="Verdana"/>
              <a:cs typeface="Verdana"/>
              <a:sym typeface="Verdana"/>
            </a:endParaRPr>
          </a:p>
        </p:txBody>
      </p:sp>
      <p:grpSp>
        <p:nvGrpSpPr>
          <p:cNvPr id="199" name="Google Shape;199;p9"/>
          <p:cNvGrpSpPr/>
          <p:nvPr/>
        </p:nvGrpSpPr>
        <p:grpSpPr>
          <a:xfrm>
            <a:off x="2668524" y="2983992"/>
            <a:ext cx="2643123" cy="2487294"/>
            <a:chOff x="2668524" y="2983992"/>
            <a:chExt cx="2643123" cy="2487294"/>
          </a:xfrm>
        </p:grpSpPr>
        <p:sp>
          <p:nvSpPr>
            <p:cNvPr id="200" name="Google Shape;200;p9"/>
            <p:cNvSpPr/>
            <p:nvPr/>
          </p:nvSpPr>
          <p:spPr>
            <a:xfrm>
              <a:off x="2670047" y="2983992"/>
              <a:ext cx="2641600" cy="579120"/>
            </a:xfrm>
            <a:custGeom>
              <a:rect b="b" l="l" r="r" t="t"/>
              <a:pathLst>
                <a:path extrusionOk="0" h="579120" w="2641600">
                  <a:moveTo>
                    <a:pt x="2641092" y="0"/>
                  </a:moveTo>
                  <a:lnTo>
                    <a:pt x="0" y="0"/>
                  </a:lnTo>
                  <a:lnTo>
                    <a:pt x="0" y="579120"/>
                  </a:lnTo>
                  <a:lnTo>
                    <a:pt x="2641092" y="579120"/>
                  </a:lnTo>
                  <a:lnTo>
                    <a:pt x="2641092"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9"/>
            <p:cNvSpPr/>
            <p:nvPr/>
          </p:nvSpPr>
          <p:spPr>
            <a:xfrm>
              <a:off x="2668524" y="3563111"/>
              <a:ext cx="2642870" cy="1908175"/>
            </a:xfrm>
            <a:custGeom>
              <a:rect b="b" l="l" r="r" t="t"/>
              <a:pathLst>
                <a:path extrusionOk="0" h="1908175" w="2642870">
                  <a:moveTo>
                    <a:pt x="2642616" y="0"/>
                  </a:moveTo>
                  <a:lnTo>
                    <a:pt x="1524" y="0"/>
                  </a:lnTo>
                  <a:lnTo>
                    <a:pt x="1524" y="911352"/>
                  </a:lnTo>
                  <a:lnTo>
                    <a:pt x="0" y="911352"/>
                  </a:lnTo>
                  <a:lnTo>
                    <a:pt x="0" y="1908048"/>
                  </a:lnTo>
                  <a:lnTo>
                    <a:pt x="2642616" y="1908048"/>
                  </a:lnTo>
                  <a:lnTo>
                    <a:pt x="2642616" y="911352"/>
                  </a:lnTo>
                  <a:lnTo>
                    <a:pt x="264261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aphicFrame>
        <p:nvGraphicFramePr>
          <p:cNvPr id="202" name="Google Shape;202;p9"/>
          <p:cNvGraphicFramePr/>
          <p:nvPr/>
        </p:nvGraphicFramePr>
        <p:xfrm>
          <a:off x="2661666" y="2976372"/>
          <a:ext cx="3000000" cy="3000000"/>
        </p:xfrm>
        <a:graphic>
          <a:graphicData uri="http://schemas.openxmlformats.org/drawingml/2006/table">
            <a:tbl>
              <a:tblPr bandRow="1" firstRow="1">
                <a:noFill/>
                <a:tableStyleId>{AADB4A2B-A616-4299-9F59-80E0FF929C61}</a:tableStyleId>
              </a:tblPr>
              <a:tblGrid>
                <a:gridCol w="2641600"/>
              </a:tblGrid>
              <a:tr h="579125">
                <a:tc>
                  <a:txBody>
                    <a:bodyPr/>
                    <a:lstStyle/>
                    <a:p>
                      <a:pPr indent="0" lvl="0" marL="635" marR="0" rtl="0" algn="ctr">
                        <a:lnSpc>
                          <a:spcPct val="100000"/>
                        </a:lnSpc>
                        <a:spcBef>
                          <a:spcPts val="0"/>
                        </a:spcBef>
                        <a:spcAft>
                          <a:spcPts val="0"/>
                        </a:spcAft>
                        <a:buNone/>
                      </a:pPr>
                      <a:r>
                        <a:rPr b="1" lang="en-US" sz="2000" u="none" cap="none" strike="noStrike">
                          <a:solidFill>
                            <a:srgbClr val="FFFFFF"/>
                          </a:solidFill>
                          <a:latin typeface="Tahoma"/>
                          <a:ea typeface="Tahoma"/>
                          <a:cs typeface="Tahoma"/>
                          <a:sym typeface="Tahoma"/>
                        </a:rPr>
                        <a:t>Point</a:t>
                      </a:r>
                      <a:endParaRPr sz="2000" u="none" cap="none" strike="noStrike">
                        <a:latin typeface="Tahoma"/>
                        <a:ea typeface="Tahoma"/>
                        <a:cs typeface="Tahoma"/>
                        <a:sym typeface="Tahoma"/>
                      </a:endParaRPr>
                    </a:p>
                  </a:txBody>
                  <a:tcPr marT="133975"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r h="911225">
                <a:tc>
                  <a:txBody>
                    <a:bodyPr/>
                    <a:lstStyle/>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x: Entier</a:t>
                      </a:r>
                      <a:endParaRPr sz="1600" u="none" cap="none" strike="noStrike">
                        <a:latin typeface="Verdana"/>
                        <a:ea typeface="Verdana"/>
                        <a:cs typeface="Verdana"/>
                        <a:sym typeface="Verdana"/>
                      </a:endParaRPr>
                    </a:p>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y: Entier</a:t>
                      </a:r>
                      <a:endParaRPr sz="1600" u="none" cap="none" strike="noStrike">
                        <a:latin typeface="Verdana"/>
                        <a:ea typeface="Verdana"/>
                        <a:cs typeface="Verdana"/>
                        <a:sym typeface="Verdana"/>
                      </a:endParaRPr>
                    </a:p>
                  </a:txBody>
                  <a:tcPr marT="41900"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r h="996325">
                <a:tc>
                  <a:txBody>
                    <a:bodyPr/>
                    <a:lstStyle/>
                    <a:p>
                      <a:pPr indent="0" lvl="0" marL="90805" marR="0" rtl="0" algn="l">
                        <a:lnSpc>
                          <a:spcPct val="100000"/>
                        </a:lnSpc>
                        <a:spcBef>
                          <a:spcPts val="0"/>
                        </a:spcBef>
                        <a:spcAft>
                          <a:spcPts val="0"/>
                        </a:spcAft>
                        <a:buNone/>
                      </a:pPr>
                      <a:r>
                        <a:rPr lang="en-US" sz="1600" u="none" cap="none" strike="noStrike">
                          <a:latin typeface="Verdana"/>
                          <a:ea typeface="Verdana"/>
                          <a:cs typeface="Verdana"/>
                          <a:sym typeface="Verdana"/>
                        </a:rPr>
                        <a:t>afficher()</a:t>
                      </a:r>
                      <a:endParaRPr sz="1600" u="none" cap="none" strike="noStrike">
                        <a:latin typeface="Verdana"/>
                        <a:ea typeface="Verdana"/>
                        <a:cs typeface="Verdana"/>
                        <a:sym typeface="Verdana"/>
                      </a:endParaRPr>
                    </a:p>
                    <a:p>
                      <a:pPr indent="0" lvl="0" marL="90805" marR="0" rtl="0" algn="l">
                        <a:lnSpc>
                          <a:spcPct val="100000"/>
                        </a:lnSpc>
                        <a:spcBef>
                          <a:spcPts val="0"/>
                        </a:spcBef>
                        <a:spcAft>
                          <a:spcPts val="0"/>
                        </a:spcAft>
                        <a:buNone/>
                      </a:pPr>
                      <a:r>
                        <a:rPr lang="en-US" sz="1600" u="none" cap="none" strike="noStrike">
                          <a:latin typeface="Verdana"/>
                          <a:ea typeface="Verdana"/>
                          <a:cs typeface="Verdana"/>
                          <a:sym typeface="Verdana"/>
                        </a:rPr>
                        <a:t>deplacer(int dx, int dy)</a:t>
                      </a:r>
                      <a:endParaRPr sz="1600" u="none" cap="none" strike="noStrike">
                        <a:latin typeface="Verdana"/>
                        <a:ea typeface="Verdana"/>
                        <a:cs typeface="Verdana"/>
                        <a:sym typeface="Verdana"/>
                      </a:endParaRPr>
                    </a:p>
                  </a:txBody>
                  <a:tcPr marT="41275"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tcPr>
                </a:tc>
              </a:tr>
            </a:tbl>
          </a:graphicData>
        </a:graphic>
      </p:graphicFrame>
      <p:sp>
        <p:nvSpPr>
          <p:cNvPr id="203" name="Google Shape;203;p9"/>
          <p:cNvSpPr/>
          <p:nvPr/>
        </p:nvSpPr>
        <p:spPr>
          <a:xfrm>
            <a:off x="6031991" y="2738627"/>
            <a:ext cx="4800600" cy="3107690"/>
          </a:xfrm>
          <a:custGeom>
            <a:rect b="b" l="l" r="r" t="t"/>
            <a:pathLst>
              <a:path extrusionOk="0" h="3107690" w="4800600">
                <a:moveTo>
                  <a:pt x="0" y="3107436"/>
                </a:moveTo>
                <a:lnTo>
                  <a:pt x="4800600" y="3107436"/>
                </a:lnTo>
                <a:lnTo>
                  <a:pt x="4800600" y="0"/>
                </a:lnTo>
                <a:lnTo>
                  <a:pt x="0" y="0"/>
                </a:lnTo>
                <a:lnTo>
                  <a:pt x="0" y="3107436"/>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9"/>
          <p:cNvSpPr txBox="1"/>
          <p:nvPr/>
        </p:nvSpPr>
        <p:spPr>
          <a:xfrm>
            <a:off x="6112255" y="2750312"/>
            <a:ext cx="1656080" cy="8801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400">
                <a:solidFill>
                  <a:schemeClr val="dk1"/>
                </a:solidFill>
                <a:latin typeface="Courier New"/>
                <a:ea typeface="Courier New"/>
                <a:cs typeface="Courier New"/>
                <a:sym typeface="Courier New"/>
              </a:rPr>
              <a:t>class </a:t>
            </a:r>
            <a:r>
              <a:rPr lang="en-US" sz="1400">
                <a:solidFill>
                  <a:srgbClr val="003399"/>
                </a:solidFill>
                <a:latin typeface="Courier New"/>
                <a:ea typeface="Courier New"/>
                <a:cs typeface="Courier New"/>
                <a:sym typeface="Courier New"/>
              </a:rPr>
              <a:t>Point</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i="1" lang="en-US" sz="1400">
                <a:solidFill>
                  <a:srgbClr val="666666"/>
                </a:solidFill>
                <a:latin typeface="Courier New"/>
                <a:ea typeface="Courier New"/>
                <a:cs typeface="Courier New"/>
                <a:sym typeface="Courier New"/>
              </a:rPr>
              <a:t>//ATTRIBUTS</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x</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y</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205" name="Google Shape;205;p9"/>
          <p:cNvSpPr txBox="1"/>
          <p:nvPr/>
        </p:nvSpPr>
        <p:spPr>
          <a:xfrm>
            <a:off x="6112255" y="3817365"/>
            <a:ext cx="4559300" cy="1946910"/>
          </a:xfrm>
          <a:prstGeom prst="rect">
            <a:avLst/>
          </a:prstGeom>
          <a:noFill/>
          <a:ln>
            <a:noFill/>
          </a:ln>
        </p:spPr>
        <p:txBody>
          <a:bodyPr anchorCtr="0" anchor="t" bIns="0" lIns="0" spcFirstLastPara="1" rIns="0" wrap="square" tIns="12700">
            <a:spAutoFit/>
          </a:bodyPr>
          <a:lstStyle/>
          <a:p>
            <a:pPr indent="0" lvl="0" marL="469900" marR="0" rtl="0" algn="l">
              <a:lnSpc>
                <a:spcPct val="100000"/>
              </a:lnSpc>
              <a:spcBef>
                <a:spcPts val="0"/>
              </a:spcBef>
              <a:spcAft>
                <a:spcPts val="0"/>
              </a:spcAft>
              <a:buNone/>
            </a:pPr>
            <a:r>
              <a:rPr i="1" lang="en-US" sz="1400">
                <a:solidFill>
                  <a:srgbClr val="666666"/>
                </a:solidFill>
                <a:latin typeface="Courier New"/>
                <a:ea typeface="Courier New"/>
                <a:cs typeface="Courier New"/>
                <a:sym typeface="Courier New"/>
              </a:rPr>
              <a:t>//METHODES</a:t>
            </a:r>
            <a:endParaRPr sz="1400">
              <a:solidFill>
                <a:schemeClr val="dk1"/>
              </a:solidFill>
              <a:latin typeface="Courier New"/>
              <a:ea typeface="Courier New"/>
              <a:cs typeface="Courier New"/>
              <a:sym typeface="Courier New"/>
            </a:endParaRPr>
          </a:p>
          <a:p>
            <a:pPr indent="-457200" lvl="0" marL="927100" marR="5080" rtl="0" algn="l">
              <a:lnSpc>
                <a:spcPct val="100000"/>
              </a:lnSpc>
              <a:spcBef>
                <a:spcPts val="5"/>
              </a:spcBef>
              <a:spcAft>
                <a:spcPts val="0"/>
              </a:spcAft>
              <a:buNone/>
            </a:pPr>
            <a:r>
              <a:rPr b="1" lang="en-US" sz="1400">
                <a:solidFill>
                  <a:srgbClr val="000066"/>
                </a:solidFill>
                <a:latin typeface="Courier New"/>
                <a:ea typeface="Courier New"/>
                <a:cs typeface="Courier New"/>
                <a:sym typeface="Courier New"/>
              </a:rPr>
              <a:t>void </a:t>
            </a:r>
            <a:r>
              <a:rPr lang="en-US" sz="1400">
                <a:solidFill>
                  <a:srgbClr val="000066"/>
                </a:solidFill>
                <a:latin typeface="Courier New"/>
                <a:ea typeface="Courier New"/>
                <a:cs typeface="Courier New"/>
                <a:sym typeface="Courier New"/>
              </a:rPr>
              <a:t>afficher</a:t>
            </a:r>
            <a:r>
              <a:rPr lang="en-US" sz="1400">
                <a:solidFill>
                  <a:srgbClr val="009900"/>
                </a:solidFill>
                <a:latin typeface="Courier New"/>
                <a:ea typeface="Courier New"/>
                <a:cs typeface="Courier New"/>
                <a:sym typeface="Courier New"/>
              </a:rPr>
              <a:t>(){ </a:t>
            </a:r>
            <a:r>
              <a:rPr lang="en-US" sz="1400">
                <a:solidFill>
                  <a:srgbClr val="003399"/>
                </a:solidFill>
                <a:latin typeface="Courier New"/>
                <a:ea typeface="Courier New"/>
                <a:cs typeface="Courier New"/>
                <a:sym typeface="Courier New"/>
              </a:rPr>
              <a:t>System</a:t>
            </a:r>
            <a:r>
              <a:rPr lang="en-US" sz="1400">
                <a:solidFill>
                  <a:srgbClr val="000066"/>
                </a:solidFill>
                <a:latin typeface="Courier New"/>
                <a:ea typeface="Courier New"/>
                <a:cs typeface="Courier New"/>
                <a:sym typeface="Courier New"/>
              </a:rPr>
              <a:t>.</a:t>
            </a:r>
            <a:r>
              <a:rPr lang="en-US" sz="1400">
                <a:solidFill>
                  <a:srgbClr val="006633"/>
                </a:solidFill>
                <a:latin typeface="Courier New"/>
                <a:ea typeface="Courier New"/>
                <a:cs typeface="Courier New"/>
                <a:sym typeface="Courier New"/>
              </a:rPr>
              <a:t>out</a:t>
            </a:r>
            <a:r>
              <a:rPr lang="en-US" sz="1400">
                <a:solidFill>
                  <a:srgbClr val="000066"/>
                </a:solidFill>
                <a:latin typeface="Courier New"/>
                <a:ea typeface="Courier New"/>
                <a:cs typeface="Courier New"/>
                <a:sym typeface="Courier New"/>
              </a:rPr>
              <a:t>.</a:t>
            </a:r>
            <a:r>
              <a:rPr lang="en-US" sz="1400">
                <a:solidFill>
                  <a:srgbClr val="006633"/>
                </a:solidFill>
                <a:latin typeface="Courier New"/>
                <a:ea typeface="Courier New"/>
                <a:cs typeface="Courier New"/>
                <a:sym typeface="Courier New"/>
              </a:rPr>
              <a:t>println</a:t>
            </a:r>
            <a:r>
              <a:rPr lang="en-US" sz="1400">
                <a:solidFill>
                  <a:srgbClr val="009900"/>
                </a:solidFill>
                <a:latin typeface="Courier New"/>
                <a:ea typeface="Courier New"/>
                <a:cs typeface="Courier New"/>
                <a:sym typeface="Courier New"/>
              </a:rPr>
              <a:t>(</a:t>
            </a:r>
            <a:r>
              <a:rPr lang="en-US" sz="1400">
                <a:solidFill>
                  <a:srgbClr val="0000FF"/>
                </a:solidFill>
                <a:latin typeface="Courier New"/>
                <a:ea typeface="Courier New"/>
                <a:cs typeface="Courier New"/>
                <a:sym typeface="Courier New"/>
              </a:rPr>
              <a:t>"x="</a:t>
            </a:r>
            <a:r>
              <a:rPr lang="en-US" sz="1400">
                <a:solidFill>
                  <a:srgbClr val="339933"/>
                </a:solidFill>
                <a:latin typeface="Courier New"/>
                <a:ea typeface="Courier New"/>
                <a:cs typeface="Courier New"/>
                <a:sym typeface="Courier New"/>
              </a:rPr>
              <a:t>+</a:t>
            </a:r>
            <a:r>
              <a:rPr lang="en-US" sz="1400">
                <a:solidFill>
                  <a:srgbClr val="000066"/>
                </a:solidFill>
                <a:latin typeface="Courier New"/>
                <a:ea typeface="Courier New"/>
                <a:cs typeface="Courier New"/>
                <a:sym typeface="Courier New"/>
              </a:rPr>
              <a:t>x</a:t>
            </a:r>
            <a:r>
              <a:rPr lang="en-US" sz="1400">
                <a:solidFill>
                  <a:srgbClr val="339933"/>
                </a:solidFill>
                <a:latin typeface="Courier New"/>
                <a:ea typeface="Courier New"/>
                <a:cs typeface="Courier New"/>
                <a:sym typeface="Courier New"/>
              </a:rPr>
              <a:t>+</a:t>
            </a:r>
            <a:r>
              <a:rPr lang="en-US" sz="1400">
                <a:solidFill>
                  <a:srgbClr val="0000FF"/>
                </a:solidFill>
                <a:latin typeface="Courier New"/>
                <a:ea typeface="Courier New"/>
                <a:cs typeface="Courier New"/>
                <a:sym typeface="Courier New"/>
              </a:rPr>
              <a:t>"y="</a:t>
            </a:r>
            <a:r>
              <a:rPr lang="en-US" sz="1400">
                <a:solidFill>
                  <a:srgbClr val="339933"/>
                </a:solidFill>
                <a:latin typeface="Courier New"/>
                <a:ea typeface="Courier New"/>
                <a:cs typeface="Courier New"/>
                <a:sym typeface="Courier New"/>
              </a:rPr>
              <a:t>+</a:t>
            </a:r>
            <a:r>
              <a:rPr lang="en-US" sz="1400">
                <a:solidFill>
                  <a:srgbClr val="000066"/>
                </a:solidFill>
                <a:latin typeface="Courier New"/>
                <a:ea typeface="Courier New"/>
                <a:cs typeface="Courier New"/>
                <a:sym typeface="Courier New"/>
              </a:rPr>
              <a:t>y</a:t>
            </a:r>
            <a:r>
              <a:rPr lang="en-US" sz="1400">
                <a:solidFill>
                  <a:srgbClr val="009900"/>
                </a:solidFill>
                <a:latin typeface="Courier New"/>
                <a:ea typeface="Courier New"/>
                <a:cs typeface="Courier New"/>
                <a:sym typeface="Courier New"/>
              </a:rPr>
              <a:t>)</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void </a:t>
            </a:r>
            <a:r>
              <a:rPr lang="en-US" sz="1400">
                <a:solidFill>
                  <a:srgbClr val="000066"/>
                </a:solidFill>
                <a:latin typeface="Courier New"/>
                <a:ea typeface="Courier New"/>
                <a:cs typeface="Courier New"/>
                <a:sym typeface="Courier New"/>
              </a:rPr>
              <a:t>deplacer</a:t>
            </a:r>
            <a:r>
              <a:rPr lang="en-US" sz="1400">
                <a:solidFill>
                  <a:srgbClr val="009900"/>
                </a:solidFill>
                <a:latin typeface="Courier New"/>
                <a:ea typeface="Courier New"/>
                <a:cs typeface="Courier New"/>
                <a:sym typeface="Courier New"/>
              </a:rPr>
              <a:t>(</a:t>
            </a: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dx, </a:t>
            </a: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dy</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927100" marR="2451100" rtl="0" algn="l">
              <a:lnSpc>
                <a:spcPct val="100000"/>
              </a:lnSpc>
              <a:spcBef>
                <a:spcPts val="0"/>
              </a:spcBef>
              <a:spcAft>
                <a:spcPts val="0"/>
              </a:spcAft>
              <a:buNone/>
            </a:pPr>
            <a:r>
              <a:rPr lang="en-US" sz="1400">
                <a:solidFill>
                  <a:srgbClr val="000066"/>
                </a:solidFill>
                <a:latin typeface="Courier New"/>
                <a:ea typeface="Courier New"/>
                <a:cs typeface="Courier New"/>
                <a:sym typeface="Courier New"/>
              </a:rPr>
              <a:t>x </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x + dx</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y </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y + dy</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46990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270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206" name="Google Shape;206;p9"/>
          <p:cNvSpPr/>
          <p:nvPr/>
        </p:nvSpPr>
        <p:spPr>
          <a:xfrm>
            <a:off x="7362443" y="2481072"/>
            <a:ext cx="3917315" cy="2282190"/>
          </a:xfrm>
          <a:custGeom>
            <a:rect b="b" l="l" r="r" t="t"/>
            <a:pathLst>
              <a:path extrusionOk="0" h="2282190" w="3917315">
                <a:moveTo>
                  <a:pt x="1970531" y="2282063"/>
                </a:moveTo>
                <a:lnTo>
                  <a:pt x="3916933" y="1066800"/>
                </a:lnTo>
              </a:path>
              <a:path extrusionOk="0" h="2282190" w="3917315">
                <a:moveTo>
                  <a:pt x="1216152" y="2282063"/>
                </a:moveTo>
                <a:lnTo>
                  <a:pt x="3917314" y="1066800"/>
                </a:lnTo>
              </a:path>
              <a:path extrusionOk="0" h="2282190" w="3917315">
                <a:moveTo>
                  <a:pt x="0" y="753872"/>
                </a:moveTo>
                <a:lnTo>
                  <a:pt x="1441957" y="0"/>
                </a:lnTo>
              </a:path>
              <a:path extrusionOk="0" h="2282190" w="3917315">
                <a:moveTo>
                  <a:pt x="0" y="1081913"/>
                </a:moveTo>
                <a:lnTo>
                  <a:pt x="1412112" y="18287"/>
                </a:lnTo>
              </a:path>
            </a:pathLst>
          </a:custGeom>
          <a:noFill/>
          <a:ln cap="flat" cmpd="sng" w="9525">
            <a:solidFill>
              <a:srgbClr val="5593C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9"/>
          <p:cNvSpPr txBox="1"/>
          <p:nvPr/>
        </p:nvSpPr>
        <p:spPr>
          <a:xfrm>
            <a:off x="10330053" y="2838704"/>
            <a:ext cx="1765935" cy="66675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Paramètres</a:t>
            </a:r>
            <a:endParaRPr sz="1400">
              <a:solidFill>
                <a:schemeClr val="dk1"/>
              </a:solidFill>
              <a:latin typeface="Verdana"/>
              <a:ea typeface="Verdana"/>
              <a:cs typeface="Verdana"/>
              <a:sym typeface="Verdana"/>
            </a:endParaRPr>
          </a:p>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(visibles uniquement</a:t>
            </a:r>
            <a:endParaRPr sz="1400">
              <a:solidFill>
                <a:schemeClr val="dk1"/>
              </a:solidFill>
              <a:latin typeface="Verdana"/>
              <a:ea typeface="Verdana"/>
              <a:cs typeface="Verdana"/>
              <a:sym typeface="Verdana"/>
            </a:endParaRPr>
          </a:p>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dans la méthode)</a:t>
            </a:r>
            <a:endParaRPr sz="1400">
              <a:solidFill>
                <a:schemeClr val="dk1"/>
              </a:solidFill>
              <a:latin typeface="Verdana"/>
              <a:ea typeface="Verdana"/>
              <a:cs typeface="Verdana"/>
              <a:sym typeface="Verdana"/>
            </a:endParaRPr>
          </a:p>
        </p:txBody>
      </p:sp>
      <p:sp>
        <p:nvSpPr>
          <p:cNvPr id="208" name="Google Shape;208;p9"/>
          <p:cNvSpPr txBox="1"/>
          <p:nvPr/>
        </p:nvSpPr>
        <p:spPr>
          <a:xfrm>
            <a:off x="7756906" y="1956003"/>
            <a:ext cx="2397125" cy="4533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Attributs visibles dans toutes</a:t>
            </a:r>
            <a:endParaRPr sz="1400">
              <a:solidFill>
                <a:schemeClr val="dk1"/>
              </a:solidFill>
              <a:latin typeface="Verdana"/>
              <a:ea typeface="Verdana"/>
              <a:cs typeface="Verdana"/>
              <a:sym typeface="Verdana"/>
            </a:endParaRPr>
          </a:p>
          <a:p>
            <a:pPr indent="0" lvl="0" marL="12700" marR="0" rtl="0" algn="l">
              <a:lnSpc>
                <a:spcPct val="100000"/>
              </a:lnSpc>
              <a:spcBef>
                <a:spcPts val="0"/>
              </a:spcBef>
              <a:spcAft>
                <a:spcPts val="0"/>
              </a:spcAft>
              <a:buNone/>
            </a:pPr>
            <a:r>
              <a:rPr lang="en-US" sz="1400">
                <a:solidFill>
                  <a:schemeClr val="dk1"/>
                </a:solidFill>
                <a:latin typeface="Verdana"/>
                <a:ea typeface="Verdana"/>
                <a:cs typeface="Verdana"/>
                <a:sym typeface="Verdana"/>
              </a:rPr>
              <a:t>les méthodes</a:t>
            </a:r>
            <a:endParaRPr sz="1400">
              <a:solidFill>
                <a:schemeClr val="dk1"/>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214" name="Google Shape;214;p10"/>
          <p:cNvSpPr txBox="1"/>
          <p:nvPr/>
        </p:nvSpPr>
        <p:spPr>
          <a:xfrm>
            <a:off x="1232280" y="1711837"/>
            <a:ext cx="7082400" cy="3906300"/>
          </a:xfrm>
          <a:prstGeom prst="rect">
            <a:avLst/>
          </a:prstGeom>
          <a:noFill/>
          <a:ln>
            <a:noFill/>
          </a:ln>
        </p:spPr>
        <p:txBody>
          <a:bodyPr anchorCtr="0" anchor="t" bIns="0" lIns="0" spcFirstLastPara="1" rIns="0" wrap="square" tIns="111750">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Package</a:t>
            </a:r>
            <a:endParaRPr sz="2400">
              <a:solidFill>
                <a:schemeClr val="dk1"/>
              </a:solidFill>
              <a:latin typeface="Calibri"/>
              <a:ea typeface="Calibri"/>
              <a:cs typeface="Calibri"/>
              <a:sym typeface="Calibri"/>
            </a:endParaRPr>
          </a:p>
          <a:p>
            <a:pPr indent="-342900" lvl="0" marL="355600" marR="0" rtl="0" algn="just">
              <a:lnSpc>
                <a:spcPct val="100000"/>
              </a:lnSpc>
              <a:spcBef>
                <a:spcPts val="780"/>
              </a:spcBef>
              <a:spcAft>
                <a:spcPts val="0"/>
              </a:spcAft>
              <a:buClr>
                <a:srgbClr val="3F3F3F"/>
              </a:buClr>
              <a:buSzPts val="2000"/>
              <a:buFont typeface="Noto Sans Symbols"/>
              <a:buChar char="▪"/>
            </a:pPr>
            <a:r>
              <a:rPr lang="en-US" sz="2000">
                <a:solidFill>
                  <a:schemeClr val="dk1"/>
                </a:solidFill>
                <a:latin typeface="Calibri"/>
                <a:ea typeface="Calibri"/>
                <a:cs typeface="Calibri"/>
                <a:sym typeface="Calibri"/>
              </a:rPr>
              <a:t>Une classe est écrite dans un fichier .java</a:t>
            </a:r>
            <a:endParaRPr sz="2000">
              <a:solidFill>
                <a:schemeClr val="dk1"/>
              </a:solidFill>
              <a:latin typeface="Calibri"/>
              <a:ea typeface="Calibri"/>
              <a:cs typeface="Calibri"/>
              <a:sym typeface="Calibri"/>
            </a:endParaRPr>
          </a:p>
          <a:p>
            <a:pPr indent="-342900" lvl="0" marL="363538" marR="0" rtl="0" algn="just">
              <a:lnSpc>
                <a:spcPct val="100000"/>
              </a:lnSpc>
              <a:spcBef>
                <a:spcPts val="790"/>
              </a:spcBef>
              <a:spcAft>
                <a:spcPts val="0"/>
              </a:spcAft>
              <a:buClr>
                <a:srgbClr val="3F3F3F"/>
              </a:buClr>
              <a:buSzPts val="2000"/>
              <a:buFont typeface="Noto Sans Symbols"/>
              <a:buChar char="▪"/>
            </a:pPr>
            <a:r>
              <a:rPr b="1" lang="en-US" sz="2000">
                <a:solidFill>
                  <a:srgbClr val="FF0000"/>
                </a:solidFill>
                <a:latin typeface="Calibri"/>
                <a:ea typeface="Calibri"/>
                <a:cs typeface="Calibri"/>
                <a:sym typeface="Calibri"/>
              </a:rPr>
              <a:t>1 classe = 1 fichier</a:t>
            </a:r>
            <a:endParaRPr sz="2000">
              <a:solidFill>
                <a:srgbClr val="FF0000"/>
              </a:solidFill>
              <a:latin typeface="Calibri"/>
              <a:ea typeface="Calibri"/>
              <a:cs typeface="Calibri"/>
              <a:sym typeface="Calibri"/>
            </a:endParaRPr>
          </a:p>
          <a:p>
            <a:pPr indent="-342900" lvl="0" marL="363538" marR="0" rtl="0" algn="just">
              <a:lnSpc>
                <a:spcPct val="100000"/>
              </a:lnSpc>
              <a:spcBef>
                <a:spcPts val="780"/>
              </a:spcBef>
              <a:spcAft>
                <a:spcPts val="0"/>
              </a:spcAft>
              <a:buClr>
                <a:srgbClr val="3F3F3F"/>
              </a:buClr>
              <a:buSzPts val="2000"/>
              <a:buFont typeface="Noto Sans Symbols"/>
              <a:buChar char="▪"/>
            </a:pPr>
            <a:r>
              <a:rPr b="1" lang="en-US" sz="2000">
                <a:solidFill>
                  <a:srgbClr val="FF0000"/>
                </a:solidFill>
                <a:latin typeface="Calibri"/>
                <a:ea typeface="Calibri"/>
                <a:cs typeface="Calibri"/>
                <a:sym typeface="Calibri"/>
              </a:rPr>
              <a:t>Le fichier doit avoir le même nom que la classe !</a:t>
            </a:r>
            <a:endParaRPr sz="2000">
              <a:solidFill>
                <a:srgbClr val="FF0000"/>
              </a:solidFill>
              <a:latin typeface="Calibri"/>
              <a:ea typeface="Calibri"/>
              <a:cs typeface="Calibri"/>
              <a:sym typeface="Calibri"/>
            </a:endParaRPr>
          </a:p>
          <a:p>
            <a:pPr indent="-342900" lvl="0" marL="363538" marR="0" rtl="0" algn="just">
              <a:lnSpc>
                <a:spcPct val="100000"/>
              </a:lnSpc>
              <a:spcBef>
                <a:spcPts val="780"/>
              </a:spcBef>
              <a:spcAft>
                <a:spcPts val="0"/>
              </a:spcAft>
              <a:buClr>
                <a:srgbClr val="3F3F3F"/>
              </a:buClr>
              <a:buSzPts val="2000"/>
              <a:buFont typeface="Noto Sans Symbols"/>
              <a:buChar char="▪"/>
            </a:pPr>
            <a:r>
              <a:rPr lang="en-US" sz="2000">
                <a:solidFill>
                  <a:schemeClr val="dk1"/>
                </a:solidFill>
                <a:latin typeface="Calibri"/>
                <a:ea typeface="Calibri"/>
                <a:cs typeface="Calibri"/>
                <a:sym typeface="Calibri"/>
              </a:rPr>
              <a:t>Les classes sont organisées dans des </a:t>
            </a:r>
            <a:r>
              <a:rPr b="1" i="1" lang="en-US" sz="2000">
                <a:solidFill>
                  <a:srgbClr val="5B9BD4"/>
                </a:solidFill>
                <a:latin typeface="Calibri"/>
                <a:ea typeface="Calibri"/>
                <a:cs typeface="Calibri"/>
                <a:sym typeface="Calibri"/>
              </a:rPr>
              <a:t>packages</a:t>
            </a:r>
            <a:endParaRPr sz="2000">
              <a:solidFill>
                <a:schemeClr val="dk1"/>
              </a:solidFill>
              <a:latin typeface="Calibri"/>
              <a:ea typeface="Calibri"/>
              <a:cs typeface="Calibri"/>
              <a:sym typeface="Calibri"/>
            </a:endParaRPr>
          </a:p>
          <a:p>
            <a:pPr indent="-342900" lvl="0" marL="812165" marR="1102995" rtl="0" algn="just">
              <a:lnSpc>
                <a:spcPct val="86500"/>
              </a:lnSpc>
              <a:spcBef>
                <a:spcPts val="103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Pour utiliser une classe d’un autre package utiliser </a:t>
            </a:r>
            <a:r>
              <a:rPr b="1" lang="en-US" sz="2000">
                <a:solidFill>
                  <a:srgbClr val="5B9BD4"/>
                </a:solidFill>
                <a:latin typeface="Calibri"/>
                <a:ea typeface="Calibri"/>
                <a:cs typeface="Calibri"/>
                <a:sym typeface="Calibri"/>
              </a:rPr>
              <a:t>import</a:t>
            </a:r>
            <a:endParaRPr sz="2000">
              <a:solidFill>
                <a:schemeClr val="dk1"/>
              </a:solidFill>
              <a:latin typeface="Calibri"/>
              <a:ea typeface="Calibri"/>
              <a:cs typeface="Calibri"/>
              <a:sym typeface="Calibri"/>
            </a:endParaRPr>
          </a:p>
          <a:p>
            <a:pPr indent="0" lvl="0" marL="756285" marR="2597150" rtl="0" algn="just">
              <a:lnSpc>
                <a:spcPct val="86500"/>
              </a:lnSpc>
              <a:spcBef>
                <a:spcPts val="10"/>
              </a:spcBef>
              <a:spcAft>
                <a:spcPts val="0"/>
              </a:spcAft>
              <a:buNone/>
            </a:pPr>
            <a:r>
              <a:rPr b="1" lang="en-US" sz="2000">
                <a:solidFill>
                  <a:srgbClr val="5B9BD4"/>
                </a:solidFill>
                <a:latin typeface="Calibri"/>
                <a:ea typeface="Calibri"/>
                <a:cs typeface="Calibri"/>
                <a:sym typeface="Calibri"/>
              </a:rPr>
              <a:t> import package1.maClasse </a:t>
            </a:r>
            <a:endParaRPr b="1" sz="2000">
              <a:solidFill>
                <a:srgbClr val="5B9BD4"/>
              </a:solidFill>
              <a:latin typeface="Calibri"/>
              <a:ea typeface="Calibri"/>
              <a:cs typeface="Calibri"/>
              <a:sym typeface="Calibri"/>
            </a:endParaRPr>
          </a:p>
          <a:p>
            <a:pPr indent="0" lvl="0" marL="756285" marR="2597150" rtl="0" algn="just">
              <a:lnSpc>
                <a:spcPct val="86500"/>
              </a:lnSpc>
              <a:spcBef>
                <a:spcPts val="10"/>
              </a:spcBef>
              <a:spcAft>
                <a:spcPts val="0"/>
              </a:spcAft>
              <a:buNone/>
            </a:pPr>
            <a:r>
              <a:rPr b="1" lang="en-US" sz="2000">
                <a:solidFill>
                  <a:srgbClr val="5B9BD4"/>
                </a:solidFill>
                <a:latin typeface="Calibri"/>
                <a:ea typeface="Calibri"/>
                <a:cs typeface="Calibri"/>
                <a:sym typeface="Calibri"/>
              </a:rPr>
              <a:t> import  package1.*;</a:t>
            </a:r>
            <a:endParaRPr sz="2000">
              <a:solidFill>
                <a:schemeClr val="dk1"/>
              </a:solidFill>
              <a:latin typeface="Calibri"/>
              <a:ea typeface="Calibri"/>
              <a:cs typeface="Calibri"/>
              <a:sym typeface="Calibri"/>
            </a:endParaRPr>
          </a:p>
          <a:p>
            <a:pPr indent="-342900" lvl="0" marL="812165" marR="5080" rtl="0" algn="just">
              <a:lnSpc>
                <a:spcPct val="86500"/>
              </a:lnSpc>
              <a:spcBef>
                <a:spcPts val="98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Les classes de JAVA sont aussi organisées en package ex. pour utiliser l’instruction de lecture</a:t>
            </a:r>
            <a:endParaRPr sz="2000">
              <a:solidFill>
                <a:schemeClr val="dk1"/>
              </a:solidFill>
              <a:latin typeface="Calibri"/>
              <a:ea typeface="Calibri"/>
              <a:cs typeface="Calibri"/>
              <a:sym typeface="Calibri"/>
            </a:endParaRPr>
          </a:p>
          <a:p>
            <a:pPr indent="0" lvl="0" marL="756285" marR="0" rtl="0" algn="just">
              <a:lnSpc>
                <a:spcPct val="85500"/>
              </a:lnSpc>
              <a:spcBef>
                <a:spcPts val="0"/>
              </a:spcBef>
              <a:spcAft>
                <a:spcPts val="0"/>
              </a:spcAft>
              <a:buNone/>
            </a:pPr>
            <a:r>
              <a:rPr b="1" lang="en-US" sz="2000">
                <a:solidFill>
                  <a:srgbClr val="5B9BD4"/>
                </a:solidFill>
                <a:latin typeface="Calibri"/>
                <a:ea typeface="Calibri"/>
                <a:cs typeface="Calibri"/>
                <a:sym typeface="Calibri"/>
              </a:rPr>
              <a:t>import java.util.Scanner;</a:t>
            </a:r>
            <a:endParaRPr sz="2000">
              <a:solidFill>
                <a:schemeClr val="dk1"/>
              </a:solidFill>
              <a:latin typeface="Calibri"/>
              <a:ea typeface="Calibri"/>
              <a:cs typeface="Calibri"/>
              <a:sym typeface="Calibri"/>
            </a:endParaRPr>
          </a:p>
        </p:txBody>
      </p:sp>
      <p:sp>
        <p:nvSpPr>
          <p:cNvPr id="215" name="Google Shape;215;p10"/>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15</a:t>
            </a:r>
            <a:endParaRPr sz="2000">
              <a:solidFill>
                <a:schemeClr val="dk1"/>
              </a:solidFill>
              <a:latin typeface="Verdana"/>
              <a:ea typeface="Verdana"/>
              <a:cs typeface="Verdana"/>
              <a:sym typeface="Verdana"/>
            </a:endParaRPr>
          </a:p>
        </p:txBody>
      </p:sp>
      <p:sp>
        <p:nvSpPr>
          <p:cNvPr id="216" name="Google Shape;216;p10"/>
          <p:cNvSpPr/>
          <p:nvPr/>
        </p:nvSpPr>
        <p:spPr>
          <a:xfrm>
            <a:off x="9893300" y="2212881"/>
            <a:ext cx="504190" cy="117475"/>
          </a:xfrm>
          <a:custGeom>
            <a:rect b="b" l="l" r="r" t="t"/>
            <a:pathLst>
              <a:path extrusionOk="0" h="117475" w="504190">
                <a:moveTo>
                  <a:pt x="0" y="116932"/>
                </a:moveTo>
                <a:lnTo>
                  <a:pt x="34060" y="82086"/>
                </a:lnTo>
                <a:lnTo>
                  <a:pt x="71893" y="53301"/>
                </a:lnTo>
                <a:lnTo>
                  <a:pt x="112781" y="30640"/>
                </a:lnTo>
                <a:lnTo>
                  <a:pt x="156008" y="14162"/>
                </a:lnTo>
                <a:lnTo>
                  <a:pt x="200855" y="3928"/>
                </a:lnTo>
                <a:lnTo>
                  <a:pt x="246606" y="0"/>
                </a:lnTo>
                <a:lnTo>
                  <a:pt x="292543" y="2436"/>
                </a:lnTo>
                <a:lnTo>
                  <a:pt x="337948" y="11300"/>
                </a:lnTo>
                <a:lnTo>
                  <a:pt x="382105" y="26650"/>
                </a:lnTo>
                <a:lnTo>
                  <a:pt x="424296" y="48548"/>
                </a:lnTo>
                <a:lnTo>
                  <a:pt x="463803" y="77054"/>
                </a:lnTo>
                <a:lnTo>
                  <a:pt x="494557" y="106362"/>
                </a:lnTo>
                <a:lnTo>
                  <a:pt x="503935" y="116932"/>
                </a:lnTo>
              </a:path>
            </a:pathLst>
          </a:custGeom>
          <a:noFill/>
          <a:ln cap="flat" cmpd="sng" w="15225">
            <a:solidFill>
              <a:srgbClr val="467AA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0"/>
          <p:cNvSpPr/>
          <p:nvPr/>
        </p:nvSpPr>
        <p:spPr>
          <a:xfrm>
            <a:off x="9097771" y="2752725"/>
            <a:ext cx="2095500" cy="511809"/>
          </a:xfrm>
          <a:custGeom>
            <a:rect b="b" l="l" r="r" t="t"/>
            <a:pathLst>
              <a:path extrusionOk="0" h="511810" w="2095500">
                <a:moveTo>
                  <a:pt x="1047496" y="116966"/>
                </a:moveTo>
                <a:lnTo>
                  <a:pt x="1047496" y="255142"/>
                </a:lnTo>
                <a:lnTo>
                  <a:pt x="1843404" y="255142"/>
                </a:lnTo>
                <a:lnTo>
                  <a:pt x="1843404" y="393191"/>
                </a:lnTo>
              </a:path>
              <a:path extrusionOk="0" h="511810" w="2095500">
                <a:moveTo>
                  <a:pt x="1047876" y="116966"/>
                </a:moveTo>
                <a:lnTo>
                  <a:pt x="1047876" y="255142"/>
                </a:lnTo>
                <a:lnTo>
                  <a:pt x="251968" y="255142"/>
                </a:lnTo>
                <a:lnTo>
                  <a:pt x="251968" y="393191"/>
                </a:lnTo>
              </a:path>
              <a:path extrusionOk="0" h="511810" w="2095500">
                <a:moveTo>
                  <a:pt x="1299463" y="0"/>
                </a:moveTo>
                <a:lnTo>
                  <a:pt x="1265403" y="34846"/>
                </a:lnTo>
                <a:lnTo>
                  <a:pt x="1227570" y="63631"/>
                </a:lnTo>
                <a:lnTo>
                  <a:pt x="1186682" y="86292"/>
                </a:lnTo>
                <a:lnTo>
                  <a:pt x="1143455" y="102770"/>
                </a:lnTo>
                <a:lnTo>
                  <a:pt x="1098608" y="113004"/>
                </a:lnTo>
                <a:lnTo>
                  <a:pt x="1052857" y="116932"/>
                </a:lnTo>
                <a:lnTo>
                  <a:pt x="1006920" y="114495"/>
                </a:lnTo>
                <a:lnTo>
                  <a:pt x="961515" y="105632"/>
                </a:lnTo>
                <a:lnTo>
                  <a:pt x="917358" y="90282"/>
                </a:lnTo>
                <a:lnTo>
                  <a:pt x="875167" y="68384"/>
                </a:lnTo>
                <a:lnTo>
                  <a:pt x="835659" y="39877"/>
                </a:lnTo>
                <a:lnTo>
                  <a:pt x="804906" y="10570"/>
                </a:lnTo>
                <a:lnTo>
                  <a:pt x="795527" y="0"/>
                </a:lnTo>
              </a:path>
              <a:path extrusionOk="0" h="511810" w="2095500">
                <a:moveTo>
                  <a:pt x="0" y="511301"/>
                </a:moveTo>
                <a:lnTo>
                  <a:pt x="34060" y="476455"/>
                </a:lnTo>
                <a:lnTo>
                  <a:pt x="71893" y="447670"/>
                </a:lnTo>
                <a:lnTo>
                  <a:pt x="112781" y="425009"/>
                </a:lnTo>
                <a:lnTo>
                  <a:pt x="156008" y="408531"/>
                </a:lnTo>
                <a:lnTo>
                  <a:pt x="200855" y="398297"/>
                </a:lnTo>
                <a:lnTo>
                  <a:pt x="246606" y="394369"/>
                </a:lnTo>
                <a:lnTo>
                  <a:pt x="292543" y="396806"/>
                </a:lnTo>
                <a:lnTo>
                  <a:pt x="337948" y="405669"/>
                </a:lnTo>
                <a:lnTo>
                  <a:pt x="382105" y="421019"/>
                </a:lnTo>
                <a:lnTo>
                  <a:pt x="424296" y="442917"/>
                </a:lnTo>
                <a:lnTo>
                  <a:pt x="463803" y="471424"/>
                </a:lnTo>
                <a:lnTo>
                  <a:pt x="494557" y="500731"/>
                </a:lnTo>
                <a:lnTo>
                  <a:pt x="503935" y="511301"/>
                </a:lnTo>
              </a:path>
              <a:path extrusionOk="0" h="511810" w="2095500">
                <a:moveTo>
                  <a:pt x="1592199" y="511683"/>
                </a:moveTo>
                <a:lnTo>
                  <a:pt x="1626120" y="476795"/>
                </a:lnTo>
                <a:lnTo>
                  <a:pt x="1663817" y="447960"/>
                </a:lnTo>
                <a:lnTo>
                  <a:pt x="1704572" y="425240"/>
                </a:lnTo>
                <a:lnTo>
                  <a:pt x="1747671" y="408697"/>
                </a:lnTo>
                <a:lnTo>
                  <a:pt x="1792397" y="398395"/>
                </a:lnTo>
                <a:lnTo>
                  <a:pt x="1838035" y="394397"/>
                </a:lnTo>
                <a:lnTo>
                  <a:pt x="1883870" y="396766"/>
                </a:lnTo>
                <a:lnTo>
                  <a:pt x="1929185" y="405565"/>
                </a:lnTo>
                <a:lnTo>
                  <a:pt x="1973266" y="420857"/>
                </a:lnTo>
                <a:lnTo>
                  <a:pt x="2015396" y="442704"/>
                </a:lnTo>
                <a:lnTo>
                  <a:pt x="2054859" y="471170"/>
                </a:lnTo>
                <a:lnTo>
                  <a:pt x="2085917" y="500870"/>
                </a:lnTo>
                <a:lnTo>
                  <a:pt x="2095373" y="511683"/>
                </a:lnTo>
              </a:path>
            </a:pathLst>
          </a:custGeom>
          <a:noFill/>
          <a:ln cap="flat" cmpd="sng" w="15225">
            <a:solidFill>
              <a:srgbClr val="467AA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0"/>
          <p:cNvSpPr txBox="1"/>
          <p:nvPr/>
        </p:nvSpPr>
        <p:spPr>
          <a:xfrm>
            <a:off x="9625330" y="2426284"/>
            <a:ext cx="1042669"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Sources JAVA</a:t>
            </a:r>
            <a:endParaRPr sz="1200">
              <a:solidFill>
                <a:schemeClr val="dk1"/>
              </a:solidFill>
              <a:latin typeface="Verdana"/>
              <a:ea typeface="Verdana"/>
              <a:cs typeface="Verdana"/>
              <a:sym typeface="Verdana"/>
            </a:endParaRPr>
          </a:p>
        </p:txBody>
      </p:sp>
      <p:grpSp>
        <p:nvGrpSpPr>
          <p:cNvPr id="219" name="Google Shape;219;p10"/>
          <p:cNvGrpSpPr/>
          <p:nvPr/>
        </p:nvGrpSpPr>
        <p:grpSpPr>
          <a:xfrm>
            <a:off x="9097772" y="3686936"/>
            <a:ext cx="504190" cy="580136"/>
            <a:chOff x="9097772" y="3686936"/>
            <a:chExt cx="504190" cy="580136"/>
          </a:xfrm>
        </p:grpSpPr>
        <p:sp>
          <p:nvSpPr>
            <p:cNvPr id="220" name="Google Shape;220;p10"/>
            <p:cNvSpPr/>
            <p:nvPr/>
          </p:nvSpPr>
          <p:spPr>
            <a:xfrm>
              <a:off x="9097772" y="3686936"/>
              <a:ext cx="504190" cy="117475"/>
            </a:xfrm>
            <a:custGeom>
              <a:rect b="b" l="l" r="r" t="t"/>
              <a:pathLst>
                <a:path extrusionOk="0" h="117475" w="504190">
                  <a:moveTo>
                    <a:pt x="503935" y="0"/>
                  </a:moveTo>
                  <a:lnTo>
                    <a:pt x="469875" y="34846"/>
                  </a:lnTo>
                  <a:lnTo>
                    <a:pt x="432042" y="63631"/>
                  </a:lnTo>
                  <a:lnTo>
                    <a:pt x="391154" y="86292"/>
                  </a:lnTo>
                  <a:lnTo>
                    <a:pt x="347927" y="102770"/>
                  </a:lnTo>
                  <a:lnTo>
                    <a:pt x="303080" y="113004"/>
                  </a:lnTo>
                  <a:lnTo>
                    <a:pt x="257329" y="116932"/>
                  </a:lnTo>
                  <a:lnTo>
                    <a:pt x="211392" y="114495"/>
                  </a:lnTo>
                  <a:lnTo>
                    <a:pt x="165987" y="105632"/>
                  </a:lnTo>
                  <a:lnTo>
                    <a:pt x="121830" y="90282"/>
                  </a:lnTo>
                  <a:lnTo>
                    <a:pt x="79639" y="68384"/>
                  </a:lnTo>
                  <a:lnTo>
                    <a:pt x="40131" y="39877"/>
                  </a:lnTo>
                  <a:lnTo>
                    <a:pt x="9378" y="10570"/>
                  </a:lnTo>
                  <a:lnTo>
                    <a:pt x="0" y="0"/>
                  </a:lnTo>
                </a:path>
              </a:pathLst>
            </a:custGeom>
            <a:noFill/>
            <a:ln cap="flat" cmpd="sng" w="15225">
              <a:solidFill>
                <a:srgbClr val="467AA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0"/>
            <p:cNvSpPr/>
            <p:nvPr/>
          </p:nvSpPr>
          <p:spPr>
            <a:xfrm>
              <a:off x="9264396" y="3805427"/>
              <a:ext cx="53975" cy="461645"/>
            </a:xfrm>
            <a:custGeom>
              <a:rect b="b" l="l" r="r" t="t"/>
              <a:pathLst>
                <a:path extrusionOk="0" h="461645" w="53975">
                  <a:moveTo>
                    <a:pt x="53467" y="0"/>
                  </a:moveTo>
                  <a:lnTo>
                    <a:pt x="0" y="461645"/>
                  </a:lnTo>
                </a:path>
              </a:pathLst>
            </a:custGeom>
            <a:noFill/>
            <a:ln cap="flat" cmpd="sng" w="9525">
              <a:solidFill>
                <a:srgbClr val="5593C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2" name="Google Shape;222;p10"/>
          <p:cNvSpPr txBox="1"/>
          <p:nvPr/>
        </p:nvSpPr>
        <p:spPr>
          <a:xfrm>
            <a:off x="8959088" y="3361182"/>
            <a:ext cx="78422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Package1</a:t>
            </a:r>
            <a:endParaRPr sz="1200">
              <a:solidFill>
                <a:schemeClr val="dk1"/>
              </a:solidFill>
              <a:latin typeface="Verdana"/>
              <a:ea typeface="Verdana"/>
              <a:cs typeface="Verdana"/>
              <a:sym typeface="Verdana"/>
            </a:endParaRPr>
          </a:p>
        </p:txBody>
      </p:sp>
      <p:grpSp>
        <p:nvGrpSpPr>
          <p:cNvPr id="223" name="Google Shape;223;p10"/>
          <p:cNvGrpSpPr/>
          <p:nvPr/>
        </p:nvGrpSpPr>
        <p:grpSpPr>
          <a:xfrm>
            <a:off x="10443972" y="3686555"/>
            <a:ext cx="975994" cy="983107"/>
            <a:chOff x="10443972" y="3686555"/>
            <a:chExt cx="975994" cy="983107"/>
          </a:xfrm>
        </p:grpSpPr>
        <p:sp>
          <p:nvSpPr>
            <p:cNvPr id="224" name="Google Shape;224;p10"/>
            <p:cNvSpPr/>
            <p:nvPr/>
          </p:nvSpPr>
          <p:spPr>
            <a:xfrm>
              <a:off x="10689970" y="3686555"/>
              <a:ext cx="503555" cy="117475"/>
            </a:xfrm>
            <a:custGeom>
              <a:rect b="b" l="l" r="r" t="t"/>
              <a:pathLst>
                <a:path extrusionOk="0" h="117475" w="503554">
                  <a:moveTo>
                    <a:pt x="503174" y="0"/>
                  </a:moveTo>
                  <a:lnTo>
                    <a:pt x="469252" y="34887"/>
                  </a:lnTo>
                  <a:lnTo>
                    <a:pt x="431555" y="63722"/>
                  </a:lnTo>
                  <a:lnTo>
                    <a:pt x="390800" y="86442"/>
                  </a:lnTo>
                  <a:lnTo>
                    <a:pt x="347701" y="102985"/>
                  </a:lnTo>
                  <a:lnTo>
                    <a:pt x="302975" y="113287"/>
                  </a:lnTo>
                  <a:lnTo>
                    <a:pt x="257337" y="117285"/>
                  </a:lnTo>
                  <a:lnTo>
                    <a:pt x="211502" y="114916"/>
                  </a:lnTo>
                  <a:lnTo>
                    <a:pt x="166187" y="106117"/>
                  </a:lnTo>
                  <a:lnTo>
                    <a:pt x="122106" y="90825"/>
                  </a:lnTo>
                  <a:lnTo>
                    <a:pt x="79976" y="68978"/>
                  </a:lnTo>
                  <a:lnTo>
                    <a:pt x="40512" y="40513"/>
                  </a:lnTo>
                  <a:lnTo>
                    <a:pt x="9455" y="10812"/>
                  </a:lnTo>
                  <a:lnTo>
                    <a:pt x="0" y="0"/>
                  </a:lnTo>
                </a:path>
              </a:pathLst>
            </a:custGeom>
            <a:noFill/>
            <a:ln cap="flat" cmpd="sng" w="15225">
              <a:solidFill>
                <a:srgbClr val="467AA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0"/>
            <p:cNvSpPr/>
            <p:nvPr/>
          </p:nvSpPr>
          <p:spPr>
            <a:xfrm>
              <a:off x="10443972" y="3805427"/>
              <a:ext cx="975994" cy="864235"/>
            </a:xfrm>
            <a:custGeom>
              <a:rect b="b" l="l" r="r" t="t"/>
              <a:pathLst>
                <a:path extrusionOk="0" h="864235" w="975995">
                  <a:moveTo>
                    <a:pt x="358012" y="33528"/>
                  </a:moveTo>
                  <a:lnTo>
                    <a:pt x="0" y="463296"/>
                  </a:lnTo>
                </a:path>
                <a:path extrusionOk="0" h="864235" w="975995">
                  <a:moveTo>
                    <a:pt x="503808" y="59436"/>
                  </a:moveTo>
                  <a:lnTo>
                    <a:pt x="396239" y="863981"/>
                  </a:lnTo>
                </a:path>
                <a:path extrusionOk="0" h="864235" w="975995">
                  <a:moveTo>
                    <a:pt x="717803" y="0"/>
                  </a:moveTo>
                  <a:lnTo>
                    <a:pt x="975486" y="581787"/>
                  </a:lnTo>
                </a:path>
              </a:pathLst>
            </a:custGeom>
            <a:noFill/>
            <a:ln cap="flat" cmpd="sng" w="9525">
              <a:solidFill>
                <a:srgbClr val="5593C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6" name="Google Shape;226;p10"/>
          <p:cNvSpPr txBox="1"/>
          <p:nvPr/>
        </p:nvSpPr>
        <p:spPr>
          <a:xfrm>
            <a:off x="10543413" y="3361182"/>
            <a:ext cx="79756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package2</a:t>
            </a:r>
            <a:endParaRPr sz="1200">
              <a:solidFill>
                <a:schemeClr val="dk1"/>
              </a:solidFill>
              <a:latin typeface="Verdana"/>
              <a:ea typeface="Verdana"/>
              <a:cs typeface="Verdana"/>
              <a:sym typeface="Verdana"/>
            </a:endParaRPr>
          </a:p>
        </p:txBody>
      </p:sp>
      <p:sp>
        <p:nvSpPr>
          <p:cNvPr id="227" name="Google Shape;227;p10"/>
          <p:cNvSpPr txBox="1"/>
          <p:nvPr/>
        </p:nvSpPr>
        <p:spPr>
          <a:xfrm>
            <a:off x="9981692" y="4299330"/>
            <a:ext cx="79375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Verdana"/>
                <a:ea typeface="Verdana"/>
                <a:cs typeface="Verdana"/>
                <a:sym typeface="Verdana"/>
              </a:rPr>
              <a:t>Classe1.java</a:t>
            </a:r>
            <a:endParaRPr sz="1000">
              <a:solidFill>
                <a:schemeClr val="dk1"/>
              </a:solidFill>
              <a:latin typeface="Verdana"/>
              <a:ea typeface="Verdana"/>
              <a:cs typeface="Verdana"/>
              <a:sym typeface="Verdana"/>
            </a:endParaRPr>
          </a:p>
        </p:txBody>
      </p:sp>
      <p:sp>
        <p:nvSpPr>
          <p:cNvPr id="228" name="Google Shape;228;p10"/>
          <p:cNvSpPr txBox="1"/>
          <p:nvPr/>
        </p:nvSpPr>
        <p:spPr>
          <a:xfrm>
            <a:off x="10383393" y="4702555"/>
            <a:ext cx="79311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Verdana"/>
                <a:ea typeface="Verdana"/>
                <a:cs typeface="Verdana"/>
                <a:sym typeface="Verdana"/>
              </a:rPr>
              <a:t>Classe2.java</a:t>
            </a:r>
            <a:endParaRPr sz="1000">
              <a:solidFill>
                <a:schemeClr val="dk1"/>
              </a:solidFill>
              <a:latin typeface="Verdana"/>
              <a:ea typeface="Verdana"/>
              <a:cs typeface="Verdana"/>
              <a:sym typeface="Verdana"/>
            </a:endParaRPr>
          </a:p>
        </p:txBody>
      </p:sp>
      <p:sp>
        <p:nvSpPr>
          <p:cNvPr id="229" name="Google Shape;229;p10"/>
          <p:cNvSpPr txBox="1"/>
          <p:nvPr/>
        </p:nvSpPr>
        <p:spPr>
          <a:xfrm>
            <a:off x="11078336" y="4462983"/>
            <a:ext cx="79311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Verdana"/>
                <a:ea typeface="Verdana"/>
                <a:cs typeface="Verdana"/>
                <a:sym typeface="Verdana"/>
              </a:rPr>
              <a:t>Classe3.java</a:t>
            </a:r>
            <a:endParaRPr sz="1000">
              <a:solidFill>
                <a:schemeClr val="dk1"/>
              </a:solidFill>
              <a:latin typeface="Verdana"/>
              <a:ea typeface="Verdana"/>
              <a:cs typeface="Verdana"/>
              <a:sym typeface="Verdana"/>
            </a:endParaRPr>
          </a:p>
        </p:txBody>
      </p:sp>
      <p:sp>
        <p:nvSpPr>
          <p:cNvPr id="230" name="Google Shape;230;p10"/>
          <p:cNvSpPr txBox="1"/>
          <p:nvPr/>
        </p:nvSpPr>
        <p:spPr>
          <a:xfrm>
            <a:off x="8801861" y="4299330"/>
            <a:ext cx="79311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Verdana"/>
                <a:ea typeface="Verdana"/>
                <a:cs typeface="Verdana"/>
                <a:sym typeface="Verdana"/>
              </a:rPr>
              <a:t>Classe4.java</a:t>
            </a:r>
            <a:endParaRPr sz="1000">
              <a:solidFill>
                <a:schemeClr val="dk1"/>
              </a:solidFill>
              <a:latin typeface="Verdana"/>
              <a:ea typeface="Verdana"/>
              <a:cs typeface="Verdana"/>
              <a:sym typeface="Verdana"/>
            </a:endParaRPr>
          </a:p>
        </p:txBody>
      </p:sp>
      <p:grpSp>
        <p:nvGrpSpPr>
          <p:cNvPr id="231" name="Google Shape;231;p10"/>
          <p:cNvGrpSpPr/>
          <p:nvPr/>
        </p:nvGrpSpPr>
        <p:grpSpPr>
          <a:xfrm>
            <a:off x="2466466" y="5719798"/>
            <a:ext cx="8953499" cy="681228"/>
            <a:chOff x="2490216" y="6124954"/>
            <a:chExt cx="8953499" cy="681228"/>
          </a:xfrm>
        </p:grpSpPr>
        <p:pic>
          <p:nvPicPr>
            <p:cNvPr id="232" name="Google Shape;232;p10"/>
            <p:cNvPicPr preferRelativeResize="0"/>
            <p:nvPr/>
          </p:nvPicPr>
          <p:blipFill rotWithShape="1">
            <a:blip r:embed="rId3">
              <a:alphaModFix/>
            </a:blip>
            <a:srcRect b="0" l="0" r="0" t="0"/>
            <a:stretch/>
          </p:blipFill>
          <p:spPr>
            <a:xfrm>
              <a:off x="2535936" y="6124954"/>
              <a:ext cx="8907779" cy="681228"/>
            </a:xfrm>
            <a:prstGeom prst="rect">
              <a:avLst/>
            </a:prstGeom>
            <a:noFill/>
            <a:ln>
              <a:noFill/>
            </a:ln>
          </p:spPr>
        </p:pic>
        <p:pic>
          <p:nvPicPr>
            <p:cNvPr id="233" name="Google Shape;233;p10"/>
            <p:cNvPicPr preferRelativeResize="0"/>
            <p:nvPr/>
          </p:nvPicPr>
          <p:blipFill rotWithShape="1">
            <a:blip r:embed="rId4">
              <a:alphaModFix/>
            </a:blip>
            <a:srcRect b="0" l="0" r="0" t="0"/>
            <a:stretch/>
          </p:blipFill>
          <p:spPr>
            <a:xfrm>
              <a:off x="2490216" y="6207252"/>
              <a:ext cx="7964424" cy="586740"/>
            </a:xfrm>
            <a:prstGeom prst="rect">
              <a:avLst/>
            </a:prstGeom>
            <a:noFill/>
            <a:ln>
              <a:noFill/>
            </a:ln>
          </p:spPr>
        </p:pic>
      </p:grpSp>
      <p:sp>
        <p:nvSpPr>
          <p:cNvPr id="234" name="Google Shape;234;p10"/>
          <p:cNvSpPr txBox="1"/>
          <p:nvPr/>
        </p:nvSpPr>
        <p:spPr>
          <a:xfrm>
            <a:off x="2565525" y="5750954"/>
            <a:ext cx="8801100" cy="574800"/>
          </a:xfrm>
          <a:prstGeom prst="rect">
            <a:avLst/>
          </a:prstGeom>
          <a:solidFill>
            <a:srgbClr val="222A35"/>
          </a:solidFill>
          <a:ln>
            <a:noFill/>
          </a:ln>
        </p:spPr>
        <p:txBody>
          <a:bodyPr anchorCtr="0" anchor="t" bIns="0" lIns="0" spcFirstLastPara="1" rIns="0" wrap="square" tIns="146675">
            <a:spAutoFit/>
          </a:bodyPr>
          <a:lstStyle/>
          <a:p>
            <a:pPr indent="0" lvl="0" marL="91440" marR="0" rtl="0" algn="l">
              <a:lnSpc>
                <a:spcPct val="100000"/>
              </a:lnSpc>
              <a:spcBef>
                <a:spcPts val="0"/>
              </a:spcBef>
              <a:spcAft>
                <a:spcPts val="0"/>
              </a:spcAft>
              <a:buNone/>
            </a:pPr>
            <a:r>
              <a:rPr lang="en-US" sz="1800">
                <a:solidFill>
                  <a:srgbClr val="FFFFFF"/>
                </a:solidFill>
                <a:latin typeface="Verdana"/>
                <a:ea typeface="Verdana"/>
                <a:cs typeface="Verdana"/>
                <a:sym typeface="Verdana"/>
              </a:rPr>
              <a:t>Par convention, le nom d’un package est entièrement en minuscule</a:t>
            </a:r>
            <a:endParaRPr sz="1800">
              <a:solidFill>
                <a:schemeClr val="dk1"/>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1"/>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240" name="Google Shape;240;p11"/>
          <p:cNvSpPr txBox="1"/>
          <p:nvPr/>
        </p:nvSpPr>
        <p:spPr>
          <a:xfrm>
            <a:off x="1232281" y="1975244"/>
            <a:ext cx="10843178" cy="2500043"/>
          </a:xfrm>
          <a:prstGeom prst="rect">
            <a:avLst/>
          </a:prstGeom>
          <a:noFill/>
          <a:ln>
            <a:noFill/>
          </a:ln>
        </p:spPr>
        <p:txBody>
          <a:bodyPr anchorCtr="0" anchor="t" bIns="0" lIns="0" spcFirstLastPara="1" rIns="0" wrap="square" tIns="139050">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Un objet</a:t>
            </a:r>
            <a:endParaRPr sz="2400">
              <a:solidFill>
                <a:schemeClr val="dk1"/>
              </a:solidFill>
              <a:latin typeface="Calibri"/>
              <a:ea typeface="Calibri"/>
              <a:cs typeface="Calibri"/>
              <a:sym typeface="Calibri"/>
            </a:endParaRPr>
          </a:p>
          <a:p>
            <a:pPr indent="-342900" lvl="0" marL="355600" marR="0" rtl="0" algn="just">
              <a:lnSpc>
                <a:spcPct val="100000"/>
              </a:lnSpc>
              <a:spcBef>
                <a:spcPts val="994"/>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Un objet est une instance (occurrence) d’une classe</a:t>
            </a:r>
            <a:endParaRPr sz="2400">
              <a:solidFill>
                <a:schemeClr val="dk1"/>
              </a:solidFill>
              <a:latin typeface="Calibri"/>
              <a:ea typeface="Calibri"/>
              <a:cs typeface="Calibri"/>
              <a:sym typeface="Calibri"/>
            </a:endParaRPr>
          </a:p>
          <a:p>
            <a:pPr indent="-342900" lvl="0" marL="812800" marR="0" rtl="0" algn="just">
              <a:lnSpc>
                <a:spcPct val="100000"/>
              </a:lnSpc>
              <a:spcBef>
                <a:spcPts val="1005"/>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Nécessairement conforme au cadre défini dans la classe</a:t>
            </a:r>
            <a:endParaRPr sz="2400">
              <a:solidFill>
                <a:schemeClr val="dk1"/>
              </a:solidFill>
              <a:latin typeface="Calibri"/>
              <a:ea typeface="Calibri"/>
              <a:cs typeface="Calibri"/>
              <a:sym typeface="Calibri"/>
            </a:endParaRPr>
          </a:p>
          <a:p>
            <a:pPr indent="-342900" lvl="0" marL="812800" marR="0" rtl="0" algn="just">
              <a:lnSpc>
                <a:spcPct val="100000"/>
              </a:lnSpc>
              <a:spcBef>
                <a:spcPts val="1005"/>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Chaque attribut a une valeur</a:t>
            </a:r>
            <a:endParaRPr sz="2400">
              <a:solidFill>
                <a:schemeClr val="dk1"/>
              </a:solidFill>
              <a:latin typeface="Calibri"/>
              <a:ea typeface="Calibri"/>
              <a:cs typeface="Calibri"/>
              <a:sym typeface="Calibri"/>
            </a:endParaRPr>
          </a:p>
          <a:p>
            <a:pPr indent="-342900" lvl="0" marL="342900" marR="0" rtl="0" algn="just">
              <a:lnSpc>
                <a:spcPct val="100000"/>
              </a:lnSpc>
              <a:spcBef>
                <a:spcPts val="1005"/>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Chaque objet est stocké dans un emplacement mémoire dédié</a:t>
            </a:r>
            <a:endParaRPr sz="2400">
              <a:solidFill>
                <a:schemeClr val="dk1"/>
              </a:solidFill>
              <a:latin typeface="Calibri"/>
              <a:ea typeface="Calibri"/>
              <a:cs typeface="Calibri"/>
              <a:sym typeface="Calibri"/>
            </a:endParaRPr>
          </a:p>
        </p:txBody>
      </p:sp>
      <p:sp>
        <p:nvSpPr>
          <p:cNvPr id="241" name="Google Shape;241;p11"/>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18</a:t>
            </a:r>
            <a:endParaRPr sz="2000">
              <a:solidFill>
                <a:schemeClr val="dk1"/>
              </a:solidFill>
              <a:latin typeface="Verdana"/>
              <a:ea typeface="Verdana"/>
              <a:cs typeface="Verdana"/>
              <a:sym typeface="Verdana"/>
            </a:endParaRPr>
          </a:p>
        </p:txBody>
      </p:sp>
      <p:graphicFrame>
        <p:nvGraphicFramePr>
          <p:cNvPr id="242" name="Google Shape;242;p11"/>
          <p:cNvGraphicFramePr/>
          <p:nvPr/>
        </p:nvGraphicFramePr>
        <p:xfrm>
          <a:off x="9449703" y="2717202"/>
          <a:ext cx="3000000" cy="3000000"/>
        </p:xfrm>
        <a:graphic>
          <a:graphicData uri="http://schemas.openxmlformats.org/drawingml/2006/table">
            <a:tbl>
              <a:tblPr bandRow="1" firstRow="1">
                <a:noFill/>
                <a:tableStyleId>{AADB4A2B-A616-4299-9F59-80E0FF929C61}</a:tableStyleId>
              </a:tblPr>
              <a:tblGrid>
                <a:gridCol w="2517775"/>
              </a:tblGrid>
              <a:tr h="344175">
                <a:tc>
                  <a:txBody>
                    <a:bodyPr/>
                    <a:lstStyle/>
                    <a:p>
                      <a:pPr indent="0" lvl="0" marL="635" marR="0" rtl="0" algn="ctr">
                        <a:lnSpc>
                          <a:spcPct val="100000"/>
                        </a:lnSpc>
                        <a:spcBef>
                          <a:spcPts val="0"/>
                        </a:spcBef>
                        <a:spcAft>
                          <a:spcPts val="0"/>
                        </a:spcAft>
                        <a:buNone/>
                      </a:pPr>
                      <a:r>
                        <a:rPr b="1" lang="en-US" sz="1400" u="none" cap="none" strike="noStrike">
                          <a:solidFill>
                            <a:srgbClr val="FFFFFF"/>
                          </a:solidFill>
                          <a:latin typeface="Tahoma"/>
                          <a:ea typeface="Tahoma"/>
                          <a:cs typeface="Tahoma"/>
                          <a:sym typeface="Tahoma"/>
                        </a:rPr>
                        <a:t>Point</a:t>
                      </a:r>
                      <a:endParaRPr sz="1400" u="none" cap="none" strike="noStrike">
                        <a:latin typeface="Tahoma"/>
                        <a:ea typeface="Tahoma"/>
                        <a:cs typeface="Tahoma"/>
                        <a:sym typeface="Tahoma"/>
                      </a:endParaRPr>
                    </a:p>
                  </a:txBody>
                  <a:tcPr marT="64125"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solidFill>
                      <a:srgbClr val="5B9BD4"/>
                    </a:solidFill>
                  </a:tcPr>
                </a:tc>
              </a:tr>
              <a:tr h="542300">
                <a:tc>
                  <a:txBody>
                    <a:bodyPr/>
                    <a:lstStyle/>
                    <a:p>
                      <a:pPr indent="0" lvl="0" marL="92075" marR="1896745" rtl="0" algn="l">
                        <a:lnSpc>
                          <a:spcPct val="100000"/>
                        </a:lnSpc>
                        <a:spcBef>
                          <a:spcPts val="0"/>
                        </a:spcBef>
                        <a:spcAft>
                          <a:spcPts val="0"/>
                        </a:spcAft>
                        <a:buNone/>
                      </a:pPr>
                      <a:r>
                        <a:rPr lang="en-US" sz="1100" u="none" cap="none" strike="noStrike">
                          <a:latin typeface="Verdana"/>
                          <a:ea typeface="Verdana"/>
                          <a:cs typeface="Verdana"/>
                          <a:sym typeface="Verdana"/>
                        </a:rPr>
                        <a:t>x: Entier y: Entier</a:t>
                      </a:r>
                      <a:endParaRPr sz="1100" u="none" cap="none" strike="noStrike">
                        <a:latin typeface="Verdana"/>
                        <a:ea typeface="Verdana"/>
                        <a:cs typeface="Verdana"/>
                        <a:sym typeface="Verdana"/>
                      </a:endParaRPr>
                    </a:p>
                  </a:txBody>
                  <a:tcPr marT="44450"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solidFill>
                      <a:srgbClr val="FFFFFF"/>
                    </a:solidFill>
                  </a:tcPr>
                </a:tc>
              </a:tr>
              <a:tr h="593725">
                <a:tc>
                  <a:txBody>
                    <a:bodyPr/>
                    <a:lstStyle/>
                    <a:p>
                      <a:pPr indent="0" lvl="0" marL="91440" marR="0" rtl="0" algn="l">
                        <a:lnSpc>
                          <a:spcPct val="100000"/>
                        </a:lnSpc>
                        <a:spcBef>
                          <a:spcPts val="0"/>
                        </a:spcBef>
                        <a:spcAft>
                          <a:spcPts val="0"/>
                        </a:spcAft>
                        <a:buNone/>
                      </a:pPr>
                      <a:r>
                        <a:rPr lang="en-US" sz="1100" u="none" cap="none" strike="noStrike">
                          <a:latin typeface="Verdana"/>
                          <a:ea typeface="Verdana"/>
                          <a:cs typeface="Verdana"/>
                          <a:sym typeface="Verdana"/>
                        </a:rPr>
                        <a:t>afficher()</a:t>
                      </a:r>
                      <a:endParaRPr sz="1100" u="none" cap="none" strike="noStrike">
                        <a:latin typeface="Verdana"/>
                        <a:ea typeface="Verdana"/>
                        <a:cs typeface="Verdana"/>
                        <a:sym typeface="Verdana"/>
                      </a:endParaRPr>
                    </a:p>
                    <a:p>
                      <a:pPr indent="0" lvl="0" marL="91440" marR="0" rtl="0" algn="l">
                        <a:lnSpc>
                          <a:spcPct val="100000"/>
                        </a:lnSpc>
                        <a:spcBef>
                          <a:spcPts val="0"/>
                        </a:spcBef>
                        <a:spcAft>
                          <a:spcPts val="0"/>
                        </a:spcAft>
                        <a:buNone/>
                      </a:pPr>
                      <a:r>
                        <a:rPr lang="en-US" sz="1100" u="none" cap="none" strike="noStrike">
                          <a:latin typeface="Verdana"/>
                          <a:ea typeface="Verdana"/>
                          <a:cs typeface="Verdana"/>
                          <a:sym typeface="Verdana"/>
                        </a:rPr>
                        <a:t>deplacer(int dx, int dy)</a:t>
                      </a:r>
                      <a:endParaRPr sz="1100" u="none" cap="none" strike="noStrike">
                        <a:latin typeface="Verdana"/>
                        <a:ea typeface="Verdana"/>
                        <a:cs typeface="Verdana"/>
                        <a:sym typeface="Verdana"/>
                      </a:endParaRPr>
                    </a:p>
                  </a:txBody>
                  <a:tcPr marT="44450" marB="0" marR="0" marL="0">
                    <a:lnL cap="flat" cmpd="sng" w="19050">
                      <a:solidFill>
                        <a:srgbClr val="41709C"/>
                      </a:solidFill>
                      <a:prstDash val="solid"/>
                      <a:round/>
                      <a:headEnd len="sm" w="sm" type="none"/>
                      <a:tailEnd len="sm" w="sm" type="none"/>
                    </a:lnL>
                    <a:lnR cap="flat" cmpd="sng" w="19050">
                      <a:solidFill>
                        <a:srgbClr val="41709C"/>
                      </a:solidFill>
                      <a:prstDash val="solid"/>
                      <a:round/>
                      <a:headEnd len="sm" w="sm" type="none"/>
                      <a:tailEnd len="sm" w="sm" type="none"/>
                    </a:lnR>
                    <a:lnT cap="flat" cmpd="sng" w="19050">
                      <a:solidFill>
                        <a:srgbClr val="41709C"/>
                      </a:solidFill>
                      <a:prstDash val="solid"/>
                      <a:round/>
                      <a:headEnd len="sm" w="sm" type="none"/>
                      <a:tailEnd len="sm" w="sm" type="none"/>
                    </a:lnT>
                    <a:lnB cap="flat" cmpd="sng" w="19050">
                      <a:solidFill>
                        <a:srgbClr val="41709C"/>
                      </a:solidFill>
                      <a:prstDash val="solid"/>
                      <a:round/>
                      <a:headEnd len="sm" w="sm" type="none"/>
                      <a:tailEnd len="sm" w="sm" type="none"/>
                    </a:lnB>
                    <a:solidFill>
                      <a:srgbClr val="FFFFFF"/>
                    </a:solidFill>
                  </a:tcPr>
                </a:tc>
              </a:tr>
            </a:tbl>
          </a:graphicData>
        </a:graphic>
      </p:graphicFrame>
      <p:sp>
        <p:nvSpPr>
          <p:cNvPr id="243" name="Google Shape;243;p11"/>
          <p:cNvSpPr txBox="1"/>
          <p:nvPr/>
        </p:nvSpPr>
        <p:spPr>
          <a:xfrm>
            <a:off x="9890430" y="5346577"/>
            <a:ext cx="62357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Point p2</a:t>
            </a:r>
            <a:endParaRPr sz="1200">
              <a:solidFill>
                <a:schemeClr val="dk1"/>
              </a:solidFill>
              <a:latin typeface="Verdana"/>
              <a:ea typeface="Verdana"/>
              <a:cs typeface="Verdana"/>
              <a:sym typeface="Verdana"/>
            </a:endParaRPr>
          </a:p>
        </p:txBody>
      </p:sp>
      <p:sp>
        <p:nvSpPr>
          <p:cNvPr id="244" name="Google Shape;244;p11"/>
          <p:cNvSpPr txBox="1"/>
          <p:nvPr/>
        </p:nvSpPr>
        <p:spPr>
          <a:xfrm>
            <a:off x="6562030" y="5351797"/>
            <a:ext cx="62357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Point p1</a:t>
            </a:r>
            <a:endParaRPr sz="1200">
              <a:solidFill>
                <a:schemeClr val="dk1"/>
              </a:solidFill>
              <a:latin typeface="Verdana"/>
              <a:ea typeface="Verdana"/>
              <a:cs typeface="Verdana"/>
              <a:sym typeface="Verdana"/>
            </a:endParaRPr>
          </a:p>
        </p:txBody>
      </p:sp>
      <p:grpSp>
        <p:nvGrpSpPr>
          <p:cNvPr id="245" name="Google Shape;245;p11"/>
          <p:cNvGrpSpPr/>
          <p:nvPr/>
        </p:nvGrpSpPr>
        <p:grpSpPr>
          <a:xfrm>
            <a:off x="11033939" y="5320872"/>
            <a:ext cx="619125" cy="494030"/>
            <a:chOff x="11195304" y="6059423"/>
            <a:chExt cx="619125" cy="494030"/>
          </a:xfrm>
        </p:grpSpPr>
        <p:sp>
          <p:nvSpPr>
            <p:cNvPr id="246" name="Google Shape;246;p11"/>
            <p:cNvSpPr/>
            <p:nvPr/>
          </p:nvSpPr>
          <p:spPr>
            <a:xfrm>
              <a:off x="11195304" y="6059423"/>
              <a:ext cx="619125" cy="494030"/>
            </a:xfrm>
            <a:custGeom>
              <a:rect b="b" l="l" r="r" t="t"/>
              <a:pathLst>
                <a:path extrusionOk="0" h="494029" w="619125">
                  <a:moveTo>
                    <a:pt x="618744" y="0"/>
                  </a:moveTo>
                  <a:lnTo>
                    <a:pt x="82296" y="0"/>
                  </a:lnTo>
                  <a:lnTo>
                    <a:pt x="50256" y="6466"/>
                  </a:lnTo>
                  <a:lnTo>
                    <a:pt x="24098" y="24103"/>
                  </a:lnTo>
                  <a:lnTo>
                    <a:pt x="6465" y="50261"/>
                  </a:lnTo>
                  <a:lnTo>
                    <a:pt x="0" y="82295"/>
                  </a:lnTo>
                  <a:lnTo>
                    <a:pt x="0" y="493775"/>
                  </a:lnTo>
                  <a:lnTo>
                    <a:pt x="536448" y="493775"/>
                  </a:lnTo>
                  <a:lnTo>
                    <a:pt x="568487" y="487309"/>
                  </a:lnTo>
                  <a:lnTo>
                    <a:pt x="594645" y="469672"/>
                  </a:lnTo>
                  <a:lnTo>
                    <a:pt x="612278" y="443514"/>
                  </a:lnTo>
                  <a:lnTo>
                    <a:pt x="618744" y="411479"/>
                  </a:lnTo>
                  <a:lnTo>
                    <a:pt x="618744" y="0"/>
                  </a:lnTo>
                  <a:close/>
                </a:path>
              </a:pathLst>
            </a:custGeom>
            <a:solidFill>
              <a:srgbClr val="B4CF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1"/>
            <p:cNvSpPr/>
            <p:nvPr/>
          </p:nvSpPr>
          <p:spPr>
            <a:xfrm>
              <a:off x="11195304" y="6059423"/>
              <a:ext cx="619125" cy="494030"/>
            </a:xfrm>
            <a:custGeom>
              <a:rect b="b" l="l" r="r" t="t"/>
              <a:pathLst>
                <a:path extrusionOk="0" h="494029" w="619125">
                  <a:moveTo>
                    <a:pt x="82296" y="0"/>
                  </a:moveTo>
                  <a:lnTo>
                    <a:pt x="618744" y="0"/>
                  </a:lnTo>
                  <a:lnTo>
                    <a:pt x="618744" y="411479"/>
                  </a:lnTo>
                  <a:lnTo>
                    <a:pt x="612278" y="443514"/>
                  </a:lnTo>
                  <a:lnTo>
                    <a:pt x="594645" y="469672"/>
                  </a:lnTo>
                  <a:lnTo>
                    <a:pt x="568487" y="487309"/>
                  </a:lnTo>
                  <a:lnTo>
                    <a:pt x="536448" y="493775"/>
                  </a:lnTo>
                  <a:lnTo>
                    <a:pt x="0" y="493775"/>
                  </a:lnTo>
                  <a:lnTo>
                    <a:pt x="0" y="82295"/>
                  </a:lnTo>
                  <a:lnTo>
                    <a:pt x="6465" y="50261"/>
                  </a:lnTo>
                  <a:lnTo>
                    <a:pt x="24098" y="24103"/>
                  </a:lnTo>
                  <a:lnTo>
                    <a:pt x="50256" y="6466"/>
                  </a:lnTo>
                  <a:lnTo>
                    <a:pt x="82296" y="0"/>
                  </a:lnTo>
                  <a:close/>
                </a:path>
              </a:pathLst>
            </a:custGeom>
            <a:noFill/>
            <a:ln cap="flat" cmpd="sng" w="9525">
              <a:solidFill>
                <a:srgbClr val="6BA44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8" name="Google Shape;248;p11"/>
          <p:cNvSpPr txBox="1"/>
          <p:nvPr/>
        </p:nvSpPr>
        <p:spPr>
          <a:xfrm>
            <a:off x="11160557" y="5370657"/>
            <a:ext cx="368935" cy="391160"/>
          </a:xfrm>
          <a:prstGeom prst="rect">
            <a:avLst/>
          </a:prstGeom>
          <a:noFill/>
          <a:ln>
            <a:noFill/>
          </a:ln>
        </p:spPr>
        <p:txBody>
          <a:bodyPr anchorCtr="0" anchor="t" bIns="0" lIns="0" spcFirstLastPara="1" rIns="0" wrap="square" tIns="12700">
            <a:spAutoFit/>
          </a:bodyPr>
          <a:lstStyle/>
          <a:p>
            <a:pPr indent="0" lvl="0" marL="15240" marR="0" rtl="0" algn="l">
              <a:lnSpc>
                <a:spcPct val="100000"/>
              </a:lnSpc>
              <a:spcBef>
                <a:spcPts val="0"/>
              </a:spcBef>
              <a:spcAft>
                <a:spcPts val="0"/>
              </a:spcAft>
              <a:buNone/>
            </a:pPr>
            <a:r>
              <a:rPr lang="en-US" sz="1200">
                <a:solidFill>
                  <a:schemeClr val="dk1"/>
                </a:solidFill>
                <a:latin typeface="Verdana"/>
                <a:ea typeface="Verdana"/>
                <a:cs typeface="Verdana"/>
                <a:sym typeface="Verdana"/>
              </a:rPr>
              <a:t>x = 3</a:t>
            </a:r>
            <a:endParaRPr sz="1200">
              <a:solidFill>
                <a:schemeClr val="dk1"/>
              </a:solidFill>
              <a:latin typeface="Verdana"/>
              <a:ea typeface="Verdana"/>
              <a:cs typeface="Verdana"/>
              <a:sym typeface="Verdana"/>
            </a:endParaRPr>
          </a:p>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y = 4</a:t>
            </a:r>
            <a:endParaRPr sz="1200">
              <a:solidFill>
                <a:schemeClr val="dk1"/>
              </a:solidFill>
              <a:latin typeface="Verdana"/>
              <a:ea typeface="Verdana"/>
              <a:cs typeface="Verdana"/>
              <a:sym typeface="Verdana"/>
            </a:endParaRPr>
          </a:p>
        </p:txBody>
      </p:sp>
      <p:grpSp>
        <p:nvGrpSpPr>
          <p:cNvPr id="249" name="Google Shape;249;p11"/>
          <p:cNvGrpSpPr/>
          <p:nvPr/>
        </p:nvGrpSpPr>
        <p:grpSpPr>
          <a:xfrm>
            <a:off x="7977064" y="5266046"/>
            <a:ext cx="641985" cy="521334"/>
            <a:chOff x="8837676" y="6059423"/>
            <a:chExt cx="641985" cy="521334"/>
          </a:xfrm>
        </p:grpSpPr>
        <p:sp>
          <p:nvSpPr>
            <p:cNvPr id="250" name="Google Shape;250;p11"/>
            <p:cNvSpPr/>
            <p:nvPr/>
          </p:nvSpPr>
          <p:spPr>
            <a:xfrm>
              <a:off x="8837676" y="6059423"/>
              <a:ext cx="641985" cy="521334"/>
            </a:xfrm>
            <a:custGeom>
              <a:rect b="b" l="l" r="r" t="t"/>
              <a:pathLst>
                <a:path extrusionOk="0" h="521334" w="641984">
                  <a:moveTo>
                    <a:pt x="641603" y="0"/>
                  </a:moveTo>
                  <a:lnTo>
                    <a:pt x="86868" y="0"/>
                  </a:lnTo>
                  <a:lnTo>
                    <a:pt x="53042" y="6825"/>
                  </a:lnTo>
                  <a:lnTo>
                    <a:pt x="25431" y="25441"/>
                  </a:lnTo>
                  <a:lnTo>
                    <a:pt x="6822" y="53053"/>
                  </a:lnTo>
                  <a:lnTo>
                    <a:pt x="0" y="86867"/>
                  </a:lnTo>
                  <a:lnTo>
                    <a:pt x="0" y="521207"/>
                  </a:lnTo>
                  <a:lnTo>
                    <a:pt x="554735" y="521207"/>
                  </a:lnTo>
                  <a:lnTo>
                    <a:pt x="588561" y="514382"/>
                  </a:lnTo>
                  <a:lnTo>
                    <a:pt x="616172" y="495766"/>
                  </a:lnTo>
                  <a:lnTo>
                    <a:pt x="634781" y="468154"/>
                  </a:lnTo>
                  <a:lnTo>
                    <a:pt x="641603" y="434339"/>
                  </a:lnTo>
                  <a:lnTo>
                    <a:pt x="641603" y="0"/>
                  </a:lnTo>
                  <a:close/>
                </a:path>
              </a:pathLst>
            </a:custGeom>
            <a:solidFill>
              <a:srgbClr val="B4CF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1"/>
            <p:cNvSpPr/>
            <p:nvPr/>
          </p:nvSpPr>
          <p:spPr>
            <a:xfrm>
              <a:off x="8837676" y="6059423"/>
              <a:ext cx="641985" cy="521334"/>
            </a:xfrm>
            <a:custGeom>
              <a:rect b="b" l="l" r="r" t="t"/>
              <a:pathLst>
                <a:path extrusionOk="0" h="521334" w="641984">
                  <a:moveTo>
                    <a:pt x="86868" y="0"/>
                  </a:moveTo>
                  <a:lnTo>
                    <a:pt x="641603" y="0"/>
                  </a:lnTo>
                  <a:lnTo>
                    <a:pt x="641603" y="434339"/>
                  </a:lnTo>
                  <a:lnTo>
                    <a:pt x="634781" y="468154"/>
                  </a:lnTo>
                  <a:lnTo>
                    <a:pt x="616172" y="495766"/>
                  </a:lnTo>
                  <a:lnTo>
                    <a:pt x="588561" y="514382"/>
                  </a:lnTo>
                  <a:lnTo>
                    <a:pt x="554735" y="521207"/>
                  </a:lnTo>
                  <a:lnTo>
                    <a:pt x="0" y="521207"/>
                  </a:lnTo>
                  <a:lnTo>
                    <a:pt x="0" y="86867"/>
                  </a:lnTo>
                  <a:lnTo>
                    <a:pt x="6822" y="53053"/>
                  </a:lnTo>
                  <a:lnTo>
                    <a:pt x="25431" y="25441"/>
                  </a:lnTo>
                  <a:lnTo>
                    <a:pt x="53042" y="6825"/>
                  </a:lnTo>
                  <a:lnTo>
                    <a:pt x="86868" y="0"/>
                  </a:lnTo>
                  <a:close/>
                </a:path>
              </a:pathLst>
            </a:custGeom>
            <a:noFill/>
            <a:ln cap="flat" cmpd="sng" w="9525">
              <a:solidFill>
                <a:srgbClr val="6BA44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1"/>
          <p:cNvSpPr txBox="1"/>
          <p:nvPr/>
        </p:nvSpPr>
        <p:spPr>
          <a:xfrm>
            <a:off x="8090602" y="5329851"/>
            <a:ext cx="419734" cy="391160"/>
          </a:xfrm>
          <a:prstGeom prst="rect">
            <a:avLst/>
          </a:prstGeom>
          <a:noFill/>
          <a:ln>
            <a:noFill/>
          </a:ln>
        </p:spPr>
        <p:txBody>
          <a:bodyPr anchorCtr="0" anchor="t" bIns="0" lIns="0" spcFirstLastPara="1" rIns="0" wrap="square" tIns="12700">
            <a:spAutoFit/>
          </a:bodyPr>
          <a:lstStyle/>
          <a:p>
            <a:pPr indent="0" lvl="0" marL="41275" marR="0" rtl="0" algn="l">
              <a:lnSpc>
                <a:spcPct val="100000"/>
              </a:lnSpc>
              <a:spcBef>
                <a:spcPts val="0"/>
              </a:spcBef>
              <a:spcAft>
                <a:spcPts val="0"/>
              </a:spcAft>
              <a:buNone/>
            </a:pPr>
            <a:r>
              <a:rPr lang="en-US" sz="1200">
                <a:solidFill>
                  <a:schemeClr val="dk1"/>
                </a:solidFill>
                <a:latin typeface="Verdana"/>
                <a:ea typeface="Verdana"/>
                <a:cs typeface="Verdana"/>
                <a:sym typeface="Verdana"/>
              </a:rPr>
              <a:t>x = 9</a:t>
            </a:r>
            <a:endParaRPr sz="1200">
              <a:solidFill>
                <a:schemeClr val="dk1"/>
              </a:solidFill>
              <a:latin typeface="Verdana"/>
              <a:ea typeface="Verdana"/>
              <a:cs typeface="Verdana"/>
              <a:sym typeface="Verdana"/>
            </a:endParaRPr>
          </a:p>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y = -5</a:t>
            </a:r>
            <a:endParaRPr sz="1200">
              <a:solidFill>
                <a:schemeClr val="dk1"/>
              </a:solidFill>
              <a:latin typeface="Verdana"/>
              <a:ea typeface="Verdana"/>
              <a:cs typeface="Verdana"/>
              <a:sym typeface="Verdana"/>
            </a:endParaRPr>
          </a:p>
        </p:txBody>
      </p:sp>
      <p:grpSp>
        <p:nvGrpSpPr>
          <p:cNvPr id="253" name="Google Shape;253;p11"/>
          <p:cNvGrpSpPr/>
          <p:nvPr/>
        </p:nvGrpSpPr>
        <p:grpSpPr>
          <a:xfrm>
            <a:off x="6565840" y="5503930"/>
            <a:ext cx="1412494" cy="338570"/>
            <a:chOff x="7426452" y="6297307"/>
            <a:chExt cx="1412494" cy="338570"/>
          </a:xfrm>
        </p:grpSpPr>
        <p:sp>
          <p:nvSpPr>
            <p:cNvPr id="254" name="Google Shape;254;p11"/>
            <p:cNvSpPr/>
            <p:nvPr/>
          </p:nvSpPr>
          <p:spPr>
            <a:xfrm>
              <a:off x="7426452" y="6390132"/>
              <a:ext cx="589915" cy="245745"/>
            </a:xfrm>
            <a:custGeom>
              <a:rect b="b" l="l" r="r" t="t"/>
              <a:pathLst>
                <a:path extrusionOk="0" h="245745" w="589915">
                  <a:moveTo>
                    <a:pt x="589788" y="0"/>
                  </a:moveTo>
                  <a:lnTo>
                    <a:pt x="0" y="0"/>
                  </a:lnTo>
                  <a:lnTo>
                    <a:pt x="0" y="245364"/>
                  </a:lnTo>
                  <a:lnTo>
                    <a:pt x="589788" y="245364"/>
                  </a:lnTo>
                  <a:lnTo>
                    <a:pt x="58978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1"/>
            <p:cNvSpPr/>
            <p:nvPr/>
          </p:nvSpPr>
          <p:spPr>
            <a:xfrm>
              <a:off x="7426452" y="6390132"/>
              <a:ext cx="589915" cy="245745"/>
            </a:xfrm>
            <a:custGeom>
              <a:rect b="b" l="l" r="r" t="t"/>
              <a:pathLst>
                <a:path extrusionOk="0" h="245745" w="589915">
                  <a:moveTo>
                    <a:pt x="0" y="245364"/>
                  </a:moveTo>
                  <a:lnTo>
                    <a:pt x="589788" y="245364"/>
                  </a:lnTo>
                  <a:lnTo>
                    <a:pt x="589788" y="0"/>
                  </a:lnTo>
                  <a:lnTo>
                    <a:pt x="0" y="0"/>
                  </a:lnTo>
                  <a:lnTo>
                    <a:pt x="0" y="24536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1"/>
            <p:cNvSpPr/>
            <p:nvPr/>
          </p:nvSpPr>
          <p:spPr>
            <a:xfrm>
              <a:off x="7794371" y="6297307"/>
              <a:ext cx="1044575" cy="227329"/>
            </a:xfrm>
            <a:custGeom>
              <a:rect b="b" l="l" r="r" t="t"/>
              <a:pathLst>
                <a:path extrusionOk="0" h="227329" w="1044575">
                  <a:moveTo>
                    <a:pt x="967702" y="27716"/>
                  </a:moveTo>
                  <a:lnTo>
                    <a:pt x="3555" y="207568"/>
                  </a:lnTo>
                  <a:lnTo>
                    <a:pt x="0" y="212737"/>
                  </a:lnTo>
                  <a:lnTo>
                    <a:pt x="2031" y="223494"/>
                  </a:lnTo>
                  <a:lnTo>
                    <a:pt x="7238" y="227037"/>
                  </a:lnTo>
                  <a:lnTo>
                    <a:pt x="971335" y="47198"/>
                  </a:lnTo>
                  <a:lnTo>
                    <a:pt x="967702" y="27716"/>
                  </a:lnTo>
                  <a:close/>
                </a:path>
                <a:path extrusionOk="0" h="227329" w="1044575">
                  <a:moveTo>
                    <a:pt x="1043256" y="24384"/>
                  </a:moveTo>
                  <a:lnTo>
                    <a:pt x="985647" y="24384"/>
                  </a:lnTo>
                  <a:lnTo>
                    <a:pt x="990726" y="27927"/>
                  </a:lnTo>
                  <a:lnTo>
                    <a:pt x="992758" y="38684"/>
                  </a:lnTo>
                  <a:lnTo>
                    <a:pt x="989202" y="43865"/>
                  </a:lnTo>
                  <a:lnTo>
                    <a:pt x="971335" y="47198"/>
                  </a:lnTo>
                  <a:lnTo>
                    <a:pt x="976502" y="74904"/>
                  </a:lnTo>
                  <a:lnTo>
                    <a:pt x="1043256" y="24384"/>
                  </a:lnTo>
                  <a:close/>
                </a:path>
                <a:path extrusionOk="0" h="227329" w="1044575">
                  <a:moveTo>
                    <a:pt x="985647" y="24384"/>
                  </a:moveTo>
                  <a:lnTo>
                    <a:pt x="967702" y="27716"/>
                  </a:lnTo>
                  <a:lnTo>
                    <a:pt x="971335" y="47198"/>
                  </a:lnTo>
                  <a:lnTo>
                    <a:pt x="989202" y="43865"/>
                  </a:lnTo>
                  <a:lnTo>
                    <a:pt x="992758" y="38684"/>
                  </a:lnTo>
                  <a:lnTo>
                    <a:pt x="990726" y="27927"/>
                  </a:lnTo>
                  <a:lnTo>
                    <a:pt x="985647" y="24384"/>
                  </a:lnTo>
                  <a:close/>
                </a:path>
                <a:path extrusionOk="0" h="227329" w="1044575">
                  <a:moveTo>
                    <a:pt x="962532" y="0"/>
                  </a:moveTo>
                  <a:lnTo>
                    <a:pt x="967702" y="27716"/>
                  </a:lnTo>
                  <a:lnTo>
                    <a:pt x="985647" y="24384"/>
                  </a:lnTo>
                  <a:lnTo>
                    <a:pt x="1043256" y="24384"/>
                  </a:lnTo>
                  <a:lnTo>
                    <a:pt x="1044448" y="23482"/>
                  </a:lnTo>
                  <a:lnTo>
                    <a:pt x="962532" y="0"/>
                  </a:lnTo>
                  <a:close/>
                </a:path>
              </a:pathLst>
            </a:custGeom>
            <a:solidFill>
              <a:srgbClr val="5593C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7" name="Google Shape;257;p11"/>
          <p:cNvGrpSpPr/>
          <p:nvPr/>
        </p:nvGrpSpPr>
        <p:grpSpPr>
          <a:xfrm>
            <a:off x="9900083" y="5544685"/>
            <a:ext cx="1134364" cy="293205"/>
            <a:chOff x="10061448" y="6283236"/>
            <a:chExt cx="1134364" cy="293205"/>
          </a:xfrm>
        </p:grpSpPr>
        <p:sp>
          <p:nvSpPr>
            <p:cNvPr id="258" name="Google Shape;258;p11"/>
            <p:cNvSpPr/>
            <p:nvPr/>
          </p:nvSpPr>
          <p:spPr>
            <a:xfrm>
              <a:off x="10061448" y="6330696"/>
              <a:ext cx="589915" cy="245745"/>
            </a:xfrm>
            <a:custGeom>
              <a:rect b="b" l="l" r="r" t="t"/>
              <a:pathLst>
                <a:path extrusionOk="0" h="245745" w="589915">
                  <a:moveTo>
                    <a:pt x="589788" y="0"/>
                  </a:moveTo>
                  <a:lnTo>
                    <a:pt x="0" y="0"/>
                  </a:lnTo>
                  <a:lnTo>
                    <a:pt x="0" y="245363"/>
                  </a:lnTo>
                  <a:lnTo>
                    <a:pt x="589788" y="245363"/>
                  </a:lnTo>
                  <a:lnTo>
                    <a:pt x="58978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1"/>
            <p:cNvSpPr/>
            <p:nvPr/>
          </p:nvSpPr>
          <p:spPr>
            <a:xfrm>
              <a:off x="10061448" y="6330696"/>
              <a:ext cx="589915" cy="245745"/>
            </a:xfrm>
            <a:custGeom>
              <a:rect b="b" l="l" r="r" t="t"/>
              <a:pathLst>
                <a:path extrusionOk="0" h="245745" w="589915">
                  <a:moveTo>
                    <a:pt x="0" y="245363"/>
                  </a:moveTo>
                  <a:lnTo>
                    <a:pt x="589788" y="245363"/>
                  </a:lnTo>
                  <a:lnTo>
                    <a:pt x="589788" y="0"/>
                  </a:lnTo>
                  <a:lnTo>
                    <a:pt x="0" y="0"/>
                  </a:lnTo>
                  <a:lnTo>
                    <a:pt x="0" y="24536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1"/>
            <p:cNvSpPr/>
            <p:nvPr/>
          </p:nvSpPr>
          <p:spPr>
            <a:xfrm>
              <a:off x="10379202" y="6283236"/>
              <a:ext cx="816610" cy="167640"/>
            </a:xfrm>
            <a:custGeom>
              <a:rect b="b" l="l" r="r" t="t"/>
              <a:pathLst>
                <a:path extrusionOk="0" h="167639" w="816609">
                  <a:moveTo>
                    <a:pt x="739460" y="27827"/>
                  </a:moveTo>
                  <a:lnTo>
                    <a:pt x="3682" y="147535"/>
                  </a:lnTo>
                  <a:lnTo>
                    <a:pt x="0" y="152628"/>
                  </a:lnTo>
                  <a:lnTo>
                    <a:pt x="1777" y="163436"/>
                  </a:lnTo>
                  <a:lnTo>
                    <a:pt x="6857" y="167093"/>
                  </a:lnTo>
                  <a:lnTo>
                    <a:pt x="742630" y="47386"/>
                  </a:lnTo>
                  <a:lnTo>
                    <a:pt x="739460" y="27827"/>
                  </a:lnTo>
                  <a:close/>
                </a:path>
                <a:path extrusionOk="0" h="167639" w="816609">
                  <a:moveTo>
                    <a:pt x="814763" y="24904"/>
                  </a:moveTo>
                  <a:lnTo>
                    <a:pt x="757427" y="24904"/>
                  </a:lnTo>
                  <a:lnTo>
                    <a:pt x="762507" y="28575"/>
                  </a:lnTo>
                  <a:lnTo>
                    <a:pt x="764286" y="39370"/>
                  </a:lnTo>
                  <a:lnTo>
                    <a:pt x="760602" y="44462"/>
                  </a:lnTo>
                  <a:lnTo>
                    <a:pt x="742630" y="47386"/>
                  </a:lnTo>
                  <a:lnTo>
                    <a:pt x="747141" y="75209"/>
                  </a:lnTo>
                  <a:lnTo>
                    <a:pt x="816228" y="25361"/>
                  </a:lnTo>
                  <a:lnTo>
                    <a:pt x="814763" y="24904"/>
                  </a:lnTo>
                  <a:close/>
                </a:path>
                <a:path extrusionOk="0" h="167639" w="816609">
                  <a:moveTo>
                    <a:pt x="757427" y="24904"/>
                  </a:moveTo>
                  <a:lnTo>
                    <a:pt x="739460" y="27827"/>
                  </a:lnTo>
                  <a:lnTo>
                    <a:pt x="742630" y="47386"/>
                  </a:lnTo>
                  <a:lnTo>
                    <a:pt x="760602" y="44462"/>
                  </a:lnTo>
                  <a:lnTo>
                    <a:pt x="764286" y="39370"/>
                  </a:lnTo>
                  <a:lnTo>
                    <a:pt x="762507" y="28575"/>
                  </a:lnTo>
                  <a:lnTo>
                    <a:pt x="757427" y="24904"/>
                  </a:lnTo>
                  <a:close/>
                </a:path>
                <a:path extrusionOk="0" h="167639" w="816609">
                  <a:moveTo>
                    <a:pt x="734949" y="0"/>
                  </a:moveTo>
                  <a:lnTo>
                    <a:pt x="739460" y="27827"/>
                  </a:lnTo>
                  <a:lnTo>
                    <a:pt x="757427" y="24904"/>
                  </a:lnTo>
                  <a:lnTo>
                    <a:pt x="814763" y="24904"/>
                  </a:lnTo>
                  <a:lnTo>
                    <a:pt x="734949" y="0"/>
                  </a:lnTo>
                  <a:close/>
                </a:path>
              </a:pathLst>
            </a:custGeom>
            <a:solidFill>
              <a:srgbClr val="5593C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2"/>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266" name="Google Shape;266;p12"/>
          <p:cNvSpPr txBox="1"/>
          <p:nvPr/>
        </p:nvSpPr>
        <p:spPr>
          <a:xfrm>
            <a:off x="1232281" y="1735564"/>
            <a:ext cx="8557178" cy="1635704"/>
          </a:xfrm>
          <a:prstGeom prst="rect">
            <a:avLst/>
          </a:prstGeom>
          <a:noFill/>
          <a:ln>
            <a:noFill/>
          </a:ln>
        </p:spPr>
        <p:txBody>
          <a:bodyPr anchorCtr="0" anchor="t" bIns="0" lIns="0" spcFirstLastPara="1" rIns="0" wrap="square" tIns="156825">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Création d’un objet</a:t>
            </a:r>
            <a:endParaRPr sz="2400">
              <a:solidFill>
                <a:schemeClr val="dk1"/>
              </a:solidFill>
              <a:latin typeface="Calibri"/>
              <a:ea typeface="Calibri"/>
              <a:cs typeface="Calibri"/>
              <a:sym typeface="Calibri"/>
            </a:endParaRPr>
          </a:p>
          <a:p>
            <a:pPr indent="-342900" lvl="0" marL="812800" marR="0" rtl="0" algn="just">
              <a:lnSpc>
                <a:spcPct val="100000"/>
              </a:lnSpc>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La création d’un objet est appelée l</a:t>
            </a:r>
            <a:r>
              <a:rPr lang="en-US" sz="2400">
                <a:solidFill>
                  <a:srgbClr val="404040"/>
                </a:solidFill>
                <a:latin typeface="Calibri"/>
                <a:ea typeface="Calibri"/>
                <a:cs typeface="Calibri"/>
                <a:sym typeface="Calibri"/>
              </a:rPr>
              <a:t>’</a:t>
            </a:r>
            <a:r>
              <a:rPr b="1" i="1" lang="en-US" sz="2400">
                <a:solidFill>
                  <a:srgbClr val="5B9BD4"/>
                </a:solidFill>
                <a:latin typeface="Calibri"/>
                <a:ea typeface="Calibri"/>
                <a:cs typeface="Calibri"/>
                <a:sym typeface="Calibri"/>
              </a:rPr>
              <a:t>instanciation</a:t>
            </a:r>
            <a:endParaRPr sz="2400">
              <a:solidFill>
                <a:schemeClr val="dk1"/>
              </a:solidFill>
              <a:latin typeface="Calibri"/>
              <a:ea typeface="Calibri"/>
              <a:cs typeface="Calibri"/>
              <a:sym typeface="Calibri"/>
            </a:endParaRPr>
          </a:p>
          <a:p>
            <a:pPr indent="-342900" lvl="0" marL="812800" marR="0" rtl="0" algn="just">
              <a:lnSpc>
                <a:spcPct val="100000"/>
              </a:lnSpc>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Pour cela on utilise  le </a:t>
            </a:r>
            <a:r>
              <a:rPr lang="en-US" sz="2400">
                <a:solidFill>
                  <a:srgbClr val="5B9BD4"/>
                </a:solidFill>
                <a:latin typeface="Calibri"/>
                <a:ea typeface="Calibri"/>
                <a:cs typeface="Calibri"/>
                <a:sym typeface="Calibri"/>
              </a:rPr>
              <a:t>"</a:t>
            </a:r>
            <a:r>
              <a:rPr b="1" i="1" lang="en-US" sz="2400">
                <a:solidFill>
                  <a:srgbClr val="5B9BD4"/>
                </a:solidFill>
                <a:latin typeface="Calibri"/>
                <a:ea typeface="Calibri"/>
                <a:cs typeface="Calibri"/>
                <a:sym typeface="Calibri"/>
              </a:rPr>
              <a:t>constructeur" </a:t>
            </a:r>
            <a:r>
              <a:rPr lang="en-US" sz="2400">
                <a:solidFill>
                  <a:schemeClr val="dk1"/>
                </a:solidFill>
                <a:latin typeface="Calibri"/>
                <a:ea typeface="Calibri"/>
                <a:cs typeface="Calibri"/>
                <a:sym typeface="Calibri"/>
              </a:rPr>
              <a:t>avec le mot clé </a:t>
            </a:r>
            <a:r>
              <a:rPr b="1" i="1" lang="en-US" sz="2400">
                <a:solidFill>
                  <a:srgbClr val="5B9BD4"/>
                </a:solidFill>
                <a:latin typeface="Calibri"/>
                <a:ea typeface="Calibri"/>
                <a:cs typeface="Calibri"/>
                <a:sym typeface="Calibri"/>
              </a:rPr>
              <a:t>new</a:t>
            </a:r>
            <a:endParaRPr sz="2400">
              <a:solidFill>
                <a:schemeClr val="dk1"/>
              </a:solidFill>
              <a:latin typeface="Calibri"/>
              <a:ea typeface="Calibri"/>
              <a:cs typeface="Calibri"/>
              <a:sym typeface="Calibri"/>
            </a:endParaRPr>
          </a:p>
          <a:p>
            <a:pPr indent="-342900" lvl="0" marL="812800" marR="0" rtl="0" algn="just">
              <a:lnSpc>
                <a:spcPct val="100000"/>
              </a:lnSpc>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Deux étapes</a:t>
            </a:r>
            <a:endParaRPr sz="2400">
              <a:solidFill>
                <a:schemeClr val="dk1"/>
              </a:solidFill>
              <a:latin typeface="Calibri"/>
              <a:ea typeface="Calibri"/>
              <a:cs typeface="Calibri"/>
              <a:sym typeface="Calibri"/>
            </a:endParaRPr>
          </a:p>
        </p:txBody>
      </p:sp>
      <p:sp>
        <p:nvSpPr>
          <p:cNvPr id="267" name="Google Shape;267;p12"/>
          <p:cNvSpPr txBox="1"/>
          <p:nvPr/>
        </p:nvSpPr>
        <p:spPr>
          <a:xfrm>
            <a:off x="2291753" y="3551687"/>
            <a:ext cx="6551765" cy="1962076"/>
          </a:xfrm>
          <a:prstGeom prst="rect">
            <a:avLst/>
          </a:prstGeom>
          <a:noFill/>
          <a:ln>
            <a:noFill/>
          </a:ln>
        </p:spPr>
        <p:txBody>
          <a:bodyPr anchorCtr="0" anchor="t" bIns="0" lIns="0" spcFirstLastPara="1" rIns="0" wrap="square" tIns="12700">
            <a:spAutoFit/>
          </a:bodyPr>
          <a:lstStyle/>
          <a:p>
            <a:pPr indent="0" lvl="0" marL="12700" marR="0" rtl="0" algn="just">
              <a:lnSpc>
                <a:spcPct val="93055"/>
              </a:lnSpc>
              <a:spcBef>
                <a:spcPts val="0"/>
              </a:spcBef>
              <a:spcAft>
                <a:spcPts val="0"/>
              </a:spcAft>
              <a:buNone/>
            </a:pPr>
            <a:r>
              <a:rPr b="1" lang="en-US" sz="1400">
                <a:solidFill>
                  <a:srgbClr val="5B9BD4"/>
                </a:solidFill>
                <a:latin typeface="Tahoma"/>
                <a:ea typeface="Tahoma"/>
                <a:cs typeface="Tahoma"/>
                <a:sym typeface="Tahoma"/>
              </a:rPr>
              <a:t>1.	</a:t>
            </a:r>
            <a:r>
              <a:rPr b="1" lang="en-US" sz="1800">
                <a:solidFill>
                  <a:schemeClr val="dk1"/>
                </a:solidFill>
                <a:latin typeface="Calibri"/>
                <a:ea typeface="Calibri"/>
                <a:cs typeface="Calibri"/>
                <a:sym typeface="Calibri"/>
              </a:rPr>
              <a:t>Déclaration</a:t>
            </a:r>
            <a:endParaRPr sz="1800">
              <a:solidFill>
                <a:schemeClr val="dk1"/>
              </a:solidFill>
              <a:latin typeface="Calibri"/>
              <a:ea typeface="Calibri"/>
              <a:cs typeface="Calibri"/>
              <a:sym typeface="Calibri"/>
            </a:endParaRPr>
          </a:p>
          <a:p>
            <a:pPr indent="0" lvl="0" marL="355600" marR="0" rtl="0" algn="just">
              <a:lnSpc>
                <a:spcPct val="93055"/>
              </a:lnSpc>
              <a:spcBef>
                <a:spcPts val="0"/>
              </a:spcBef>
              <a:spcAft>
                <a:spcPts val="0"/>
              </a:spcAft>
              <a:buNone/>
            </a:pPr>
            <a:r>
              <a:rPr lang="en-US" sz="1800">
                <a:solidFill>
                  <a:schemeClr val="dk1"/>
                </a:solidFill>
                <a:latin typeface="Calibri"/>
                <a:ea typeface="Calibri"/>
                <a:cs typeface="Calibri"/>
                <a:sym typeface="Calibri"/>
              </a:rPr>
              <a:t>Définit le nom et le type de l’objet</a:t>
            </a:r>
            <a:endParaRPr sz="1800">
              <a:solidFill>
                <a:schemeClr val="dk1"/>
              </a:solidFill>
              <a:latin typeface="Calibri"/>
              <a:ea typeface="Calibri"/>
              <a:cs typeface="Calibri"/>
              <a:sym typeface="Calibri"/>
            </a:endParaRPr>
          </a:p>
          <a:p>
            <a:pPr indent="0" lvl="0" marL="355600" marR="0" rtl="0" algn="just">
              <a:lnSpc>
                <a:spcPct val="100000"/>
              </a:lnSpc>
              <a:spcBef>
                <a:spcPts val="15"/>
              </a:spcBef>
              <a:spcAft>
                <a:spcPts val="0"/>
              </a:spcAft>
              <a:buNone/>
            </a:pPr>
            <a:r>
              <a:rPr lang="en-US" sz="1800">
                <a:solidFill>
                  <a:schemeClr val="dk1"/>
                </a:solidFill>
                <a:latin typeface="Calibri"/>
                <a:ea typeface="Calibri"/>
                <a:cs typeface="Calibri"/>
                <a:sym typeface="Calibri"/>
              </a:rPr>
              <a:t>A cette étape la référence pointe vers </a:t>
            </a:r>
            <a:r>
              <a:rPr b="1" i="1" lang="en-US" sz="1800">
                <a:solidFill>
                  <a:srgbClr val="5B9BD4"/>
                </a:solidFill>
                <a:latin typeface="Calibri"/>
                <a:ea typeface="Calibri"/>
                <a:cs typeface="Calibri"/>
                <a:sym typeface="Calibri"/>
              </a:rPr>
              <a:t>null</a:t>
            </a:r>
            <a:endParaRPr sz="1800">
              <a:solidFill>
                <a:schemeClr val="dk1"/>
              </a:solidFill>
              <a:latin typeface="Calibri"/>
              <a:ea typeface="Calibri"/>
              <a:cs typeface="Calibri"/>
              <a:sym typeface="Calibri"/>
            </a:endParaRPr>
          </a:p>
          <a:p>
            <a:pPr indent="0" lvl="0" marL="355600" marR="0" rtl="0" algn="just">
              <a:lnSpc>
                <a:spcPct val="100000"/>
              </a:lnSpc>
              <a:spcBef>
                <a:spcPts val="0"/>
              </a:spcBef>
              <a:spcAft>
                <a:spcPts val="0"/>
              </a:spcAft>
              <a:buNone/>
            </a:pPr>
            <a:r>
              <a:rPr b="1" i="1" lang="en-US" sz="1800">
                <a:solidFill>
                  <a:schemeClr val="accent5"/>
                </a:solidFill>
                <a:latin typeface="Calibri"/>
                <a:ea typeface="Calibri"/>
                <a:cs typeface="Calibri"/>
                <a:sym typeface="Calibri"/>
              </a:rPr>
              <a:t>Point p1;</a:t>
            </a:r>
            <a:endParaRPr sz="1800">
              <a:solidFill>
                <a:schemeClr val="accent5"/>
              </a:solidFill>
              <a:latin typeface="Calibri"/>
              <a:ea typeface="Calibri"/>
              <a:cs typeface="Calibri"/>
              <a:sym typeface="Calibri"/>
            </a:endParaRPr>
          </a:p>
          <a:p>
            <a:pPr indent="0" lvl="0" marL="12700" marR="0" rtl="0" algn="just">
              <a:lnSpc>
                <a:spcPct val="100000"/>
              </a:lnSpc>
              <a:spcBef>
                <a:spcPts val="1000"/>
              </a:spcBef>
              <a:spcAft>
                <a:spcPts val="0"/>
              </a:spcAft>
              <a:buNone/>
            </a:pPr>
            <a:r>
              <a:rPr b="1" lang="en-US" sz="1800">
                <a:solidFill>
                  <a:srgbClr val="5B9BD4"/>
                </a:solidFill>
                <a:latin typeface="Calibri"/>
                <a:ea typeface="Calibri"/>
                <a:cs typeface="Calibri"/>
                <a:sym typeface="Calibri"/>
              </a:rPr>
              <a:t>2.	</a:t>
            </a:r>
            <a:r>
              <a:rPr b="1" lang="en-US" sz="1800">
                <a:solidFill>
                  <a:schemeClr val="dk1"/>
                </a:solidFill>
                <a:latin typeface="Calibri"/>
                <a:ea typeface="Calibri"/>
                <a:cs typeface="Calibri"/>
                <a:sym typeface="Calibri"/>
              </a:rPr>
              <a:t>Instanciation</a:t>
            </a:r>
            <a:endParaRPr sz="1800">
              <a:solidFill>
                <a:schemeClr val="dk1"/>
              </a:solidFill>
              <a:latin typeface="Calibri"/>
              <a:ea typeface="Calibri"/>
              <a:cs typeface="Calibri"/>
              <a:sym typeface="Calibri"/>
            </a:endParaRPr>
          </a:p>
          <a:p>
            <a:pPr indent="0" lvl="0" marL="355600" marR="766445" rtl="0" algn="just">
              <a:lnSpc>
                <a:spcPct val="100000"/>
              </a:lnSpc>
              <a:spcBef>
                <a:spcPts val="0"/>
              </a:spcBef>
              <a:spcAft>
                <a:spcPts val="0"/>
              </a:spcAft>
              <a:buNone/>
            </a:pPr>
            <a:r>
              <a:rPr lang="en-US" sz="1800">
                <a:solidFill>
                  <a:schemeClr val="dk1"/>
                </a:solidFill>
                <a:latin typeface="Calibri"/>
                <a:ea typeface="Calibri"/>
                <a:cs typeface="Calibri"/>
                <a:sym typeface="Calibri"/>
              </a:rPr>
              <a:t>Appel au constructeur et réservation de l’espace mémoire</a:t>
            </a:r>
            <a:endParaRPr sz="1800">
              <a:solidFill>
                <a:schemeClr val="dk1"/>
              </a:solidFill>
              <a:latin typeface="Calibri"/>
              <a:ea typeface="Calibri"/>
              <a:cs typeface="Calibri"/>
              <a:sym typeface="Calibri"/>
            </a:endParaRPr>
          </a:p>
          <a:p>
            <a:pPr indent="0" lvl="0" marL="355600" marR="0" rtl="0" algn="just">
              <a:lnSpc>
                <a:spcPct val="100000"/>
              </a:lnSpc>
              <a:spcBef>
                <a:spcPts val="10"/>
              </a:spcBef>
              <a:spcAft>
                <a:spcPts val="0"/>
              </a:spcAft>
              <a:buNone/>
            </a:pPr>
            <a:r>
              <a:rPr b="1" i="1" lang="en-US" sz="1800">
                <a:solidFill>
                  <a:schemeClr val="accent5"/>
                </a:solidFill>
                <a:latin typeface="Calibri"/>
                <a:ea typeface="Calibri"/>
                <a:cs typeface="Calibri"/>
                <a:sym typeface="Calibri"/>
              </a:rPr>
              <a:t>p1 =  new Point ( );</a:t>
            </a:r>
            <a:endParaRPr sz="1400">
              <a:solidFill>
                <a:schemeClr val="accent5"/>
              </a:solidFill>
              <a:latin typeface="Calibri"/>
              <a:ea typeface="Calibri"/>
              <a:cs typeface="Calibri"/>
              <a:sym typeface="Calibri"/>
            </a:endParaRPr>
          </a:p>
        </p:txBody>
      </p:sp>
      <p:sp>
        <p:nvSpPr>
          <p:cNvPr id="268" name="Google Shape;268;p12"/>
          <p:cNvSpPr txBox="1"/>
          <p:nvPr/>
        </p:nvSpPr>
        <p:spPr>
          <a:xfrm>
            <a:off x="2593094" y="5573858"/>
            <a:ext cx="3308947" cy="290464"/>
          </a:xfrm>
          <a:prstGeom prst="rect">
            <a:avLst/>
          </a:prstGeom>
          <a:noFill/>
          <a:ln>
            <a:noFill/>
          </a:ln>
        </p:spPr>
        <p:txBody>
          <a:bodyPr anchorCtr="0" anchor="t" bIns="0" lIns="0" spcFirstLastPara="1" rIns="0" wrap="square" tIns="13325">
            <a:spAutoFit/>
          </a:bodyPr>
          <a:lstStyle/>
          <a:p>
            <a:pPr indent="0" lvl="0" marL="12700" marR="0" rtl="0" algn="just">
              <a:lnSpc>
                <a:spcPct val="100000"/>
              </a:lnSpc>
              <a:spcBef>
                <a:spcPts val="0"/>
              </a:spcBef>
              <a:spcAft>
                <a:spcPts val="0"/>
              </a:spcAft>
              <a:buNone/>
            </a:pPr>
            <a:r>
              <a:rPr b="1" i="1" lang="en-US" sz="1800">
                <a:solidFill>
                  <a:schemeClr val="accent5"/>
                </a:solidFill>
                <a:latin typeface="Calibri"/>
                <a:ea typeface="Calibri"/>
                <a:cs typeface="Calibri"/>
                <a:sym typeface="Calibri"/>
              </a:rPr>
              <a:t>ou</a:t>
            </a:r>
            <a:r>
              <a:rPr lang="en-US" sz="1800">
                <a:solidFill>
                  <a:schemeClr val="accent5"/>
                </a:solidFill>
                <a:latin typeface="Calibri"/>
                <a:ea typeface="Calibri"/>
                <a:cs typeface="Calibri"/>
                <a:sym typeface="Calibri"/>
              </a:rPr>
              <a:t>    </a:t>
            </a:r>
            <a:r>
              <a:rPr b="1" i="1" lang="en-US" sz="1800">
                <a:solidFill>
                  <a:schemeClr val="accent5"/>
                </a:solidFill>
                <a:latin typeface="Calibri"/>
                <a:ea typeface="Calibri"/>
                <a:cs typeface="Calibri"/>
                <a:sym typeface="Calibri"/>
              </a:rPr>
              <a:t>Point p1 =    new Point ( );</a:t>
            </a:r>
            <a:endParaRPr sz="1800">
              <a:solidFill>
                <a:schemeClr val="accent5"/>
              </a:solidFill>
              <a:latin typeface="Calibri"/>
              <a:ea typeface="Calibri"/>
              <a:cs typeface="Calibri"/>
              <a:sym typeface="Calibri"/>
            </a:endParaRPr>
          </a:p>
        </p:txBody>
      </p:sp>
      <p:sp>
        <p:nvSpPr>
          <p:cNvPr id="269" name="Google Shape;269;p12"/>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19</a:t>
            </a:r>
            <a:endParaRPr sz="2000">
              <a:solidFill>
                <a:schemeClr val="dk1"/>
              </a:solidFill>
              <a:latin typeface="Verdana"/>
              <a:ea typeface="Verdana"/>
              <a:cs typeface="Verdana"/>
              <a:sym typeface="Verdana"/>
            </a:endParaRPr>
          </a:p>
        </p:txBody>
      </p:sp>
      <p:sp>
        <p:nvSpPr>
          <p:cNvPr id="270" name="Google Shape;270;p12"/>
          <p:cNvSpPr txBox="1"/>
          <p:nvPr/>
        </p:nvSpPr>
        <p:spPr>
          <a:xfrm>
            <a:off x="9036177" y="3973195"/>
            <a:ext cx="62357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Point p1</a:t>
            </a:r>
            <a:endParaRPr sz="1200">
              <a:solidFill>
                <a:schemeClr val="dk1"/>
              </a:solidFill>
              <a:latin typeface="Verdana"/>
              <a:ea typeface="Verdana"/>
              <a:cs typeface="Verdana"/>
              <a:sym typeface="Verdana"/>
            </a:endParaRPr>
          </a:p>
        </p:txBody>
      </p:sp>
      <p:sp>
        <p:nvSpPr>
          <p:cNvPr id="271" name="Google Shape;271;p12"/>
          <p:cNvSpPr txBox="1"/>
          <p:nvPr/>
        </p:nvSpPr>
        <p:spPr>
          <a:xfrm>
            <a:off x="9040368" y="4219955"/>
            <a:ext cx="588645" cy="24384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0" lIns="0" spcFirstLastPara="1" rIns="0" wrap="square" tIns="27925">
            <a:spAutoFit/>
          </a:bodyPr>
          <a:lstStyle/>
          <a:p>
            <a:pPr indent="0" lvl="0" marL="170180" marR="0" rtl="0" algn="l">
              <a:lnSpc>
                <a:spcPct val="100000"/>
              </a:lnSpc>
              <a:spcBef>
                <a:spcPts val="0"/>
              </a:spcBef>
              <a:spcAft>
                <a:spcPts val="0"/>
              </a:spcAft>
              <a:buNone/>
            </a:pPr>
            <a:r>
              <a:rPr lang="en-US" sz="1200">
                <a:solidFill>
                  <a:schemeClr val="dk1"/>
                </a:solidFill>
                <a:latin typeface="Verdana"/>
                <a:ea typeface="Verdana"/>
                <a:cs typeface="Verdana"/>
                <a:sym typeface="Verdana"/>
              </a:rPr>
              <a:t>null</a:t>
            </a:r>
            <a:endParaRPr sz="1200">
              <a:solidFill>
                <a:schemeClr val="dk1"/>
              </a:solidFill>
              <a:latin typeface="Verdana"/>
              <a:ea typeface="Verdana"/>
              <a:cs typeface="Verdana"/>
              <a:sym typeface="Verdana"/>
            </a:endParaRPr>
          </a:p>
        </p:txBody>
      </p:sp>
      <p:sp>
        <p:nvSpPr>
          <p:cNvPr id="272" name="Google Shape;272;p12"/>
          <p:cNvSpPr txBox="1"/>
          <p:nvPr/>
        </p:nvSpPr>
        <p:spPr>
          <a:xfrm>
            <a:off x="9036177" y="5431332"/>
            <a:ext cx="62357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Point p1</a:t>
            </a:r>
            <a:endParaRPr sz="1200">
              <a:solidFill>
                <a:schemeClr val="dk1"/>
              </a:solidFill>
              <a:latin typeface="Verdana"/>
              <a:ea typeface="Verdana"/>
              <a:cs typeface="Verdana"/>
              <a:sym typeface="Verdana"/>
            </a:endParaRPr>
          </a:p>
        </p:txBody>
      </p:sp>
      <p:grpSp>
        <p:nvGrpSpPr>
          <p:cNvPr id="273" name="Google Shape;273;p12"/>
          <p:cNvGrpSpPr/>
          <p:nvPr/>
        </p:nvGrpSpPr>
        <p:grpSpPr>
          <a:xfrm>
            <a:off x="10451592" y="5346191"/>
            <a:ext cx="759460" cy="521334"/>
            <a:chOff x="10451592" y="5346191"/>
            <a:chExt cx="759460" cy="521334"/>
          </a:xfrm>
        </p:grpSpPr>
        <p:sp>
          <p:nvSpPr>
            <p:cNvPr id="274" name="Google Shape;274;p12"/>
            <p:cNvSpPr/>
            <p:nvPr/>
          </p:nvSpPr>
          <p:spPr>
            <a:xfrm>
              <a:off x="10451592" y="5346191"/>
              <a:ext cx="759460" cy="521334"/>
            </a:xfrm>
            <a:custGeom>
              <a:rect b="b" l="l" r="r" t="t"/>
              <a:pathLst>
                <a:path extrusionOk="0" h="521335" w="759459">
                  <a:moveTo>
                    <a:pt x="758951" y="0"/>
                  </a:moveTo>
                  <a:lnTo>
                    <a:pt x="86867" y="0"/>
                  </a:lnTo>
                  <a:lnTo>
                    <a:pt x="53042" y="6822"/>
                  </a:lnTo>
                  <a:lnTo>
                    <a:pt x="25431" y="25431"/>
                  </a:lnTo>
                  <a:lnTo>
                    <a:pt x="6822" y="53042"/>
                  </a:lnTo>
                  <a:lnTo>
                    <a:pt x="0" y="86868"/>
                  </a:lnTo>
                  <a:lnTo>
                    <a:pt x="0" y="521208"/>
                  </a:lnTo>
                  <a:lnTo>
                    <a:pt x="672083" y="521208"/>
                  </a:lnTo>
                  <a:lnTo>
                    <a:pt x="705909" y="514382"/>
                  </a:lnTo>
                  <a:lnTo>
                    <a:pt x="733520" y="495766"/>
                  </a:lnTo>
                  <a:lnTo>
                    <a:pt x="752129" y="468154"/>
                  </a:lnTo>
                  <a:lnTo>
                    <a:pt x="758951" y="434340"/>
                  </a:lnTo>
                  <a:lnTo>
                    <a:pt x="758951" y="0"/>
                  </a:lnTo>
                  <a:close/>
                </a:path>
              </a:pathLst>
            </a:custGeom>
            <a:solidFill>
              <a:srgbClr val="B4CF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2"/>
            <p:cNvSpPr/>
            <p:nvPr/>
          </p:nvSpPr>
          <p:spPr>
            <a:xfrm>
              <a:off x="10451592" y="5346191"/>
              <a:ext cx="759460" cy="521334"/>
            </a:xfrm>
            <a:custGeom>
              <a:rect b="b" l="l" r="r" t="t"/>
              <a:pathLst>
                <a:path extrusionOk="0" h="521335" w="759459">
                  <a:moveTo>
                    <a:pt x="86867" y="0"/>
                  </a:moveTo>
                  <a:lnTo>
                    <a:pt x="758951" y="0"/>
                  </a:lnTo>
                  <a:lnTo>
                    <a:pt x="758951" y="434340"/>
                  </a:lnTo>
                  <a:lnTo>
                    <a:pt x="752129" y="468154"/>
                  </a:lnTo>
                  <a:lnTo>
                    <a:pt x="733520" y="495766"/>
                  </a:lnTo>
                  <a:lnTo>
                    <a:pt x="705909" y="514382"/>
                  </a:lnTo>
                  <a:lnTo>
                    <a:pt x="672083" y="521208"/>
                  </a:lnTo>
                  <a:lnTo>
                    <a:pt x="0" y="521208"/>
                  </a:lnTo>
                  <a:lnTo>
                    <a:pt x="0" y="86868"/>
                  </a:lnTo>
                  <a:lnTo>
                    <a:pt x="6822" y="53042"/>
                  </a:lnTo>
                  <a:lnTo>
                    <a:pt x="25431" y="25431"/>
                  </a:lnTo>
                  <a:lnTo>
                    <a:pt x="53042" y="6822"/>
                  </a:lnTo>
                  <a:lnTo>
                    <a:pt x="86867" y="0"/>
                  </a:lnTo>
                  <a:close/>
                </a:path>
              </a:pathLst>
            </a:custGeom>
            <a:noFill/>
            <a:ln cap="flat" cmpd="sng" w="9525">
              <a:solidFill>
                <a:srgbClr val="6BA44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6" name="Google Shape;276;p12"/>
          <p:cNvSpPr txBox="1"/>
          <p:nvPr/>
        </p:nvSpPr>
        <p:spPr>
          <a:xfrm>
            <a:off x="10644378" y="5409438"/>
            <a:ext cx="374015" cy="391160"/>
          </a:xfrm>
          <a:prstGeom prst="rect">
            <a:avLst/>
          </a:prstGeom>
          <a:noFill/>
          <a:ln>
            <a:noFill/>
          </a:ln>
        </p:spPr>
        <p:txBody>
          <a:bodyPr anchorCtr="0" anchor="t" bIns="0" lIns="0" spcFirstLastPara="1" rIns="0" wrap="square" tIns="12700">
            <a:spAutoFit/>
          </a:bodyPr>
          <a:lstStyle/>
          <a:p>
            <a:pPr indent="0" lvl="0" marL="17145" marR="0" rtl="0" algn="l">
              <a:lnSpc>
                <a:spcPct val="100000"/>
              </a:lnSpc>
              <a:spcBef>
                <a:spcPts val="0"/>
              </a:spcBef>
              <a:spcAft>
                <a:spcPts val="0"/>
              </a:spcAft>
              <a:buNone/>
            </a:pPr>
            <a:r>
              <a:rPr lang="en-US" sz="1200">
                <a:solidFill>
                  <a:schemeClr val="dk1"/>
                </a:solidFill>
                <a:latin typeface="Verdana"/>
                <a:ea typeface="Verdana"/>
                <a:cs typeface="Verdana"/>
                <a:sym typeface="Verdana"/>
              </a:rPr>
              <a:t>x = ?</a:t>
            </a:r>
            <a:endParaRPr sz="1200">
              <a:solidFill>
                <a:schemeClr val="dk1"/>
              </a:solidFill>
              <a:latin typeface="Verdana"/>
              <a:ea typeface="Verdana"/>
              <a:cs typeface="Verdana"/>
              <a:sym typeface="Verdana"/>
            </a:endParaRPr>
          </a:p>
          <a:p>
            <a:pPr indent="0" lvl="0" marL="12700" marR="0" rtl="0" algn="l">
              <a:lnSpc>
                <a:spcPct val="100000"/>
              </a:lnSpc>
              <a:spcBef>
                <a:spcPts val="0"/>
              </a:spcBef>
              <a:spcAft>
                <a:spcPts val="0"/>
              </a:spcAft>
              <a:buNone/>
            </a:pPr>
            <a:r>
              <a:rPr lang="en-US" sz="1200">
                <a:solidFill>
                  <a:schemeClr val="dk1"/>
                </a:solidFill>
                <a:latin typeface="Verdana"/>
                <a:ea typeface="Verdana"/>
                <a:cs typeface="Verdana"/>
                <a:sym typeface="Verdana"/>
              </a:rPr>
              <a:t>y = ?</a:t>
            </a:r>
            <a:endParaRPr sz="1200">
              <a:solidFill>
                <a:schemeClr val="dk1"/>
              </a:solidFill>
              <a:latin typeface="Verdana"/>
              <a:ea typeface="Verdana"/>
              <a:cs typeface="Verdana"/>
              <a:sym typeface="Verdana"/>
            </a:endParaRPr>
          </a:p>
        </p:txBody>
      </p:sp>
      <p:grpSp>
        <p:nvGrpSpPr>
          <p:cNvPr id="277" name="Google Shape;277;p12"/>
          <p:cNvGrpSpPr/>
          <p:nvPr/>
        </p:nvGrpSpPr>
        <p:grpSpPr>
          <a:xfrm>
            <a:off x="9040367" y="5584063"/>
            <a:ext cx="1412494" cy="338582"/>
            <a:chOff x="9040367" y="5584063"/>
            <a:chExt cx="1412494" cy="338582"/>
          </a:xfrm>
        </p:grpSpPr>
        <p:sp>
          <p:nvSpPr>
            <p:cNvPr id="278" name="Google Shape;278;p12"/>
            <p:cNvSpPr/>
            <p:nvPr/>
          </p:nvSpPr>
          <p:spPr>
            <a:xfrm>
              <a:off x="9040367" y="5676900"/>
              <a:ext cx="588645" cy="245745"/>
            </a:xfrm>
            <a:custGeom>
              <a:rect b="b" l="l" r="r" t="t"/>
              <a:pathLst>
                <a:path extrusionOk="0" h="245745" w="588645">
                  <a:moveTo>
                    <a:pt x="588264" y="0"/>
                  </a:moveTo>
                  <a:lnTo>
                    <a:pt x="0" y="0"/>
                  </a:lnTo>
                  <a:lnTo>
                    <a:pt x="0" y="245363"/>
                  </a:lnTo>
                  <a:lnTo>
                    <a:pt x="588264" y="245363"/>
                  </a:lnTo>
                  <a:lnTo>
                    <a:pt x="588264"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2"/>
            <p:cNvSpPr/>
            <p:nvPr/>
          </p:nvSpPr>
          <p:spPr>
            <a:xfrm>
              <a:off x="9040367" y="5676900"/>
              <a:ext cx="588645" cy="245745"/>
            </a:xfrm>
            <a:custGeom>
              <a:rect b="b" l="l" r="r" t="t"/>
              <a:pathLst>
                <a:path extrusionOk="0" h="245745" w="588645">
                  <a:moveTo>
                    <a:pt x="0" y="245363"/>
                  </a:moveTo>
                  <a:lnTo>
                    <a:pt x="588264" y="245363"/>
                  </a:lnTo>
                  <a:lnTo>
                    <a:pt x="588264" y="0"/>
                  </a:lnTo>
                  <a:lnTo>
                    <a:pt x="0" y="0"/>
                  </a:lnTo>
                  <a:lnTo>
                    <a:pt x="0" y="24536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2"/>
            <p:cNvSpPr/>
            <p:nvPr/>
          </p:nvSpPr>
          <p:spPr>
            <a:xfrm>
              <a:off x="9408286" y="5584063"/>
              <a:ext cx="1044575" cy="227329"/>
            </a:xfrm>
            <a:custGeom>
              <a:rect b="b" l="l" r="r" t="t"/>
              <a:pathLst>
                <a:path extrusionOk="0" h="227329" w="1044575">
                  <a:moveTo>
                    <a:pt x="967703" y="27728"/>
                  </a:moveTo>
                  <a:lnTo>
                    <a:pt x="3556" y="207581"/>
                  </a:lnTo>
                  <a:lnTo>
                    <a:pt x="0" y="212750"/>
                  </a:lnTo>
                  <a:lnTo>
                    <a:pt x="2032" y="223507"/>
                  </a:lnTo>
                  <a:lnTo>
                    <a:pt x="7239" y="227050"/>
                  </a:lnTo>
                  <a:lnTo>
                    <a:pt x="971336" y="47211"/>
                  </a:lnTo>
                  <a:lnTo>
                    <a:pt x="967703" y="27728"/>
                  </a:lnTo>
                  <a:close/>
                </a:path>
                <a:path extrusionOk="0" h="227329" w="1044575">
                  <a:moveTo>
                    <a:pt x="1043256" y="24396"/>
                  </a:moveTo>
                  <a:lnTo>
                    <a:pt x="985647" y="24396"/>
                  </a:lnTo>
                  <a:lnTo>
                    <a:pt x="990727" y="27940"/>
                  </a:lnTo>
                  <a:lnTo>
                    <a:pt x="992759" y="38696"/>
                  </a:lnTo>
                  <a:lnTo>
                    <a:pt x="989203" y="43878"/>
                  </a:lnTo>
                  <a:lnTo>
                    <a:pt x="971336" y="47211"/>
                  </a:lnTo>
                  <a:lnTo>
                    <a:pt x="976503" y="74917"/>
                  </a:lnTo>
                  <a:lnTo>
                    <a:pt x="1043256" y="24396"/>
                  </a:lnTo>
                  <a:close/>
                </a:path>
                <a:path extrusionOk="0" h="227329" w="1044575">
                  <a:moveTo>
                    <a:pt x="985647" y="24396"/>
                  </a:moveTo>
                  <a:lnTo>
                    <a:pt x="967703" y="27728"/>
                  </a:lnTo>
                  <a:lnTo>
                    <a:pt x="971336" y="47211"/>
                  </a:lnTo>
                  <a:lnTo>
                    <a:pt x="989203" y="43878"/>
                  </a:lnTo>
                  <a:lnTo>
                    <a:pt x="992759" y="38696"/>
                  </a:lnTo>
                  <a:lnTo>
                    <a:pt x="990727" y="27940"/>
                  </a:lnTo>
                  <a:lnTo>
                    <a:pt x="985647" y="24396"/>
                  </a:lnTo>
                  <a:close/>
                </a:path>
                <a:path extrusionOk="0" h="227329" w="1044575">
                  <a:moveTo>
                    <a:pt x="962533" y="0"/>
                  </a:moveTo>
                  <a:lnTo>
                    <a:pt x="967703" y="27728"/>
                  </a:lnTo>
                  <a:lnTo>
                    <a:pt x="985647" y="24396"/>
                  </a:lnTo>
                  <a:lnTo>
                    <a:pt x="1043256" y="24396"/>
                  </a:lnTo>
                  <a:lnTo>
                    <a:pt x="1044448" y="23495"/>
                  </a:lnTo>
                  <a:lnTo>
                    <a:pt x="962533" y="0"/>
                  </a:lnTo>
                  <a:close/>
                </a:path>
              </a:pathLst>
            </a:custGeom>
            <a:solidFill>
              <a:srgbClr val="5593C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3"/>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Classes et Objets</a:t>
            </a:r>
            <a:endParaRPr/>
          </a:p>
        </p:txBody>
      </p:sp>
      <p:sp>
        <p:nvSpPr>
          <p:cNvPr id="286" name="Google Shape;286;p13"/>
          <p:cNvSpPr txBox="1"/>
          <p:nvPr/>
        </p:nvSpPr>
        <p:spPr>
          <a:xfrm>
            <a:off x="1232281" y="1735917"/>
            <a:ext cx="10385977" cy="4221027"/>
          </a:xfrm>
          <a:prstGeom prst="rect">
            <a:avLst/>
          </a:prstGeom>
          <a:noFill/>
          <a:ln>
            <a:noFill/>
          </a:ln>
        </p:spPr>
        <p:txBody>
          <a:bodyPr anchorCtr="0" anchor="t" bIns="0" lIns="0" spcFirstLastPara="1" rIns="0" wrap="square" tIns="156825">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Accès aux attributs et méthodes</a:t>
            </a:r>
            <a:endParaRPr sz="2400">
              <a:solidFill>
                <a:schemeClr val="dk1"/>
              </a:solidFill>
              <a:latin typeface="Calibri"/>
              <a:ea typeface="Calibri"/>
              <a:cs typeface="Calibri"/>
              <a:sym typeface="Calibri"/>
            </a:endParaRPr>
          </a:p>
          <a:p>
            <a:pPr indent="-342900" lvl="0" marL="812165" marR="5080" rtl="0" algn="just">
              <a:lnSpc>
                <a:spcPct val="100000"/>
              </a:lnSpc>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Une fois </a:t>
            </a:r>
            <a:r>
              <a:rPr b="1" lang="en-US" sz="2400">
                <a:solidFill>
                  <a:schemeClr val="dk1"/>
                </a:solidFill>
                <a:latin typeface="Calibri"/>
                <a:ea typeface="Calibri"/>
                <a:cs typeface="Calibri"/>
                <a:sym typeface="Calibri"/>
              </a:rPr>
              <a:t>l’objet </a:t>
            </a:r>
            <a:r>
              <a:rPr lang="en-US" sz="2400">
                <a:solidFill>
                  <a:schemeClr val="dk1"/>
                </a:solidFill>
                <a:latin typeface="Calibri"/>
                <a:ea typeface="Calibri"/>
                <a:cs typeface="Calibri"/>
                <a:sym typeface="Calibri"/>
              </a:rPr>
              <a:t>créé, l’accès aux attributs et aux méthodes de l’objet se fait par l’opérateur</a:t>
            </a:r>
            <a:r>
              <a:rPr lang="en-US" sz="2400">
                <a:solidFill>
                  <a:srgbClr val="404040"/>
                </a:solidFill>
                <a:latin typeface="Calibri"/>
                <a:ea typeface="Calibri"/>
                <a:cs typeface="Calibri"/>
                <a:sym typeface="Calibri"/>
              </a:rPr>
              <a:t> </a:t>
            </a:r>
            <a:r>
              <a:rPr b="1" lang="en-US" sz="2400">
                <a:solidFill>
                  <a:srgbClr val="5B9BD4"/>
                </a:solidFill>
                <a:latin typeface="Calibri"/>
                <a:ea typeface="Calibri"/>
                <a:cs typeface="Calibri"/>
                <a:sym typeface="Calibri"/>
              </a:rPr>
              <a:t>.  (point)</a:t>
            </a:r>
            <a:endParaRPr sz="2400">
              <a:solidFill>
                <a:schemeClr val="dk1"/>
              </a:solidFill>
              <a:latin typeface="Calibri"/>
              <a:ea typeface="Calibri"/>
              <a:cs typeface="Calibri"/>
              <a:sym typeface="Calibri"/>
            </a:endParaRPr>
          </a:p>
          <a:p>
            <a:pPr indent="-342900" lvl="0" marL="812800" marR="0" rtl="0" algn="just">
              <a:lnSpc>
                <a:spcPct val="100000"/>
              </a:lnSpc>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Pour un attribut                        </a:t>
            </a:r>
            <a:r>
              <a:rPr lang="en-US" sz="2400">
                <a:solidFill>
                  <a:schemeClr val="accent5"/>
                </a:solidFill>
                <a:latin typeface="Calibri"/>
                <a:ea typeface="Calibri"/>
                <a:cs typeface="Calibri"/>
                <a:sym typeface="Calibri"/>
              </a:rPr>
              <a:t>&lt;nomObjet&gt; . &lt;nomAttribut&gt; </a:t>
            </a:r>
            <a:endParaRPr sz="2400">
              <a:solidFill>
                <a:schemeClr val="accent5"/>
              </a:solidFill>
              <a:latin typeface="Calibri"/>
              <a:ea typeface="Calibri"/>
              <a:cs typeface="Calibri"/>
              <a:sym typeface="Calibri"/>
            </a:endParaRPr>
          </a:p>
          <a:p>
            <a:pPr indent="0" lvl="0" marL="756285" marR="3947795" rtl="0" algn="just">
              <a:lnSpc>
                <a:spcPct val="100000"/>
              </a:lnSpc>
              <a:spcBef>
                <a:spcPts val="0"/>
              </a:spcBef>
              <a:spcAft>
                <a:spcPts val="0"/>
              </a:spcAft>
              <a:buNone/>
            </a:pPr>
            <a:r>
              <a:rPr lang="en-US" sz="2400">
                <a:solidFill>
                  <a:srgbClr val="5B9BD4"/>
                </a:solidFill>
                <a:latin typeface="Calibri"/>
                <a:ea typeface="Calibri"/>
                <a:cs typeface="Calibri"/>
                <a:sym typeface="Calibri"/>
              </a:rPr>
              <a:t>     </a:t>
            </a:r>
            <a:r>
              <a:rPr lang="en-US" sz="2400">
                <a:solidFill>
                  <a:schemeClr val="dk1"/>
                </a:solidFill>
                <a:latin typeface="Calibri"/>
                <a:ea typeface="Calibri"/>
                <a:cs typeface="Calibri"/>
                <a:sym typeface="Calibri"/>
              </a:rPr>
              <a:t>Ex.</a:t>
            </a:r>
            <a:endParaRPr sz="2400">
              <a:solidFill>
                <a:schemeClr val="dk1"/>
              </a:solidFill>
              <a:latin typeface="Calibri"/>
              <a:ea typeface="Calibri"/>
              <a:cs typeface="Calibri"/>
              <a:sym typeface="Calibri"/>
            </a:endParaRPr>
          </a:p>
          <a:p>
            <a:pPr indent="0" lvl="0" marL="756285" marR="4582160" rtl="0" algn="just">
              <a:lnSpc>
                <a:spcPct val="100000"/>
              </a:lnSpc>
              <a:spcBef>
                <a:spcPts val="0"/>
              </a:spcBef>
              <a:spcAft>
                <a:spcPts val="0"/>
              </a:spcAft>
              <a:buNone/>
            </a:pPr>
            <a:r>
              <a:rPr lang="en-US" sz="2400">
                <a:solidFill>
                  <a:srgbClr val="5B9BD4"/>
                </a:solidFill>
                <a:latin typeface="Calibri"/>
                <a:ea typeface="Calibri"/>
                <a:cs typeface="Calibri"/>
                <a:sym typeface="Calibri"/>
              </a:rPr>
              <a:t>    </a:t>
            </a:r>
            <a:r>
              <a:rPr lang="en-US" sz="2400">
                <a:solidFill>
                  <a:schemeClr val="accent5"/>
                </a:solidFill>
                <a:latin typeface="Calibri"/>
                <a:ea typeface="Calibri"/>
                <a:cs typeface="Calibri"/>
                <a:sym typeface="Calibri"/>
              </a:rPr>
              <a:t>Point p1 = new Point( ); </a:t>
            </a:r>
            <a:endParaRPr sz="2400">
              <a:solidFill>
                <a:schemeClr val="accent5"/>
              </a:solidFill>
              <a:latin typeface="Calibri"/>
              <a:ea typeface="Calibri"/>
              <a:cs typeface="Calibri"/>
              <a:sym typeface="Calibri"/>
            </a:endParaRPr>
          </a:p>
          <a:p>
            <a:pPr indent="0" lvl="0" marL="756285" marR="4582160" rtl="0" algn="just">
              <a:lnSpc>
                <a:spcPct val="100000"/>
              </a:lnSpc>
              <a:spcBef>
                <a:spcPts val="0"/>
              </a:spcBef>
              <a:spcAft>
                <a:spcPts val="0"/>
              </a:spcAft>
              <a:buNone/>
            </a:pPr>
            <a:r>
              <a:rPr lang="en-US" sz="2400">
                <a:solidFill>
                  <a:schemeClr val="accent5"/>
                </a:solidFill>
                <a:latin typeface="Calibri"/>
                <a:ea typeface="Calibri"/>
                <a:cs typeface="Calibri"/>
                <a:sym typeface="Calibri"/>
              </a:rPr>
              <a:t>    p1.x = 8;</a:t>
            </a:r>
            <a:endParaRPr sz="2400">
              <a:solidFill>
                <a:schemeClr val="accent5"/>
              </a:solidFill>
              <a:latin typeface="Calibri"/>
              <a:ea typeface="Calibri"/>
              <a:cs typeface="Calibri"/>
              <a:sym typeface="Calibri"/>
            </a:endParaRPr>
          </a:p>
          <a:p>
            <a:pPr indent="0" lvl="0" marL="756285" marR="0" rtl="0" algn="just">
              <a:lnSpc>
                <a:spcPct val="100000"/>
              </a:lnSpc>
              <a:spcBef>
                <a:spcPts val="0"/>
              </a:spcBef>
              <a:spcAft>
                <a:spcPts val="0"/>
              </a:spcAft>
              <a:buNone/>
            </a:pPr>
            <a:r>
              <a:rPr lang="en-US" sz="2400">
                <a:solidFill>
                  <a:schemeClr val="accent5"/>
                </a:solidFill>
                <a:latin typeface="Calibri"/>
                <a:ea typeface="Calibri"/>
                <a:cs typeface="Calibri"/>
                <a:sym typeface="Calibri"/>
              </a:rPr>
              <a:t>    p1.y =  4;</a:t>
            </a:r>
            <a:endParaRPr sz="2400">
              <a:solidFill>
                <a:schemeClr val="accent5"/>
              </a:solidFill>
              <a:latin typeface="Calibri"/>
              <a:ea typeface="Calibri"/>
              <a:cs typeface="Calibri"/>
              <a:sym typeface="Calibri"/>
            </a:endParaRPr>
          </a:p>
          <a:p>
            <a:pPr indent="-342900" lvl="0" marL="812800" marR="0" rtl="0" algn="just">
              <a:lnSpc>
                <a:spcPct val="100000"/>
              </a:lnSpc>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Pour une méthode                  </a:t>
            </a:r>
            <a:r>
              <a:rPr lang="en-US" sz="2400">
                <a:solidFill>
                  <a:schemeClr val="accent5"/>
                </a:solidFill>
                <a:latin typeface="Calibri"/>
                <a:ea typeface="Calibri"/>
                <a:cs typeface="Calibri"/>
                <a:sym typeface="Calibri"/>
              </a:rPr>
              <a:t>&lt;nomObjet&gt; . &lt;nomMethode&gt; (parametres) </a:t>
            </a:r>
            <a:endParaRPr sz="2400">
              <a:solidFill>
                <a:schemeClr val="accent5"/>
              </a:solidFill>
              <a:latin typeface="Calibri"/>
              <a:ea typeface="Calibri"/>
              <a:cs typeface="Calibri"/>
              <a:sym typeface="Calibri"/>
            </a:endParaRPr>
          </a:p>
          <a:p>
            <a:pPr indent="0" lvl="0" marL="756285" marR="2407285" rtl="0" algn="just">
              <a:lnSpc>
                <a:spcPct val="100000"/>
              </a:lnSpc>
              <a:spcBef>
                <a:spcPts val="0"/>
              </a:spcBef>
              <a:spcAft>
                <a:spcPts val="0"/>
              </a:spcAft>
              <a:buNone/>
            </a:pPr>
            <a:r>
              <a:rPr lang="en-US" sz="2400">
                <a:solidFill>
                  <a:schemeClr val="dk1"/>
                </a:solidFill>
                <a:latin typeface="Calibri"/>
                <a:ea typeface="Calibri"/>
                <a:cs typeface="Calibri"/>
                <a:sym typeface="Calibri"/>
              </a:rPr>
              <a:t>   Ex.</a:t>
            </a:r>
            <a:endParaRPr sz="2400">
              <a:solidFill>
                <a:schemeClr val="dk1"/>
              </a:solidFill>
              <a:latin typeface="Calibri"/>
              <a:ea typeface="Calibri"/>
              <a:cs typeface="Calibri"/>
              <a:sym typeface="Calibri"/>
            </a:endParaRPr>
          </a:p>
          <a:p>
            <a:pPr indent="0" lvl="0" marL="756285" marR="0" rtl="0" algn="just">
              <a:lnSpc>
                <a:spcPct val="100000"/>
              </a:lnSpc>
              <a:spcBef>
                <a:spcPts val="0"/>
              </a:spcBef>
              <a:spcAft>
                <a:spcPts val="0"/>
              </a:spcAft>
              <a:buNone/>
            </a:pPr>
            <a:r>
              <a:rPr lang="en-US" sz="2400">
                <a:solidFill>
                  <a:srgbClr val="5B9BD4"/>
                </a:solidFill>
                <a:latin typeface="Calibri"/>
                <a:ea typeface="Calibri"/>
                <a:cs typeface="Calibri"/>
                <a:sym typeface="Calibri"/>
              </a:rPr>
              <a:t>   </a:t>
            </a:r>
            <a:r>
              <a:rPr lang="en-US" sz="2400">
                <a:solidFill>
                  <a:schemeClr val="accent5"/>
                </a:solidFill>
                <a:latin typeface="Calibri"/>
                <a:ea typeface="Calibri"/>
                <a:cs typeface="Calibri"/>
                <a:sym typeface="Calibri"/>
              </a:rPr>
              <a:t>p1.afficher( );</a:t>
            </a:r>
            <a:endParaRPr sz="2400">
              <a:solidFill>
                <a:schemeClr val="accent5"/>
              </a:solidFill>
              <a:latin typeface="Calibri"/>
              <a:ea typeface="Calibri"/>
              <a:cs typeface="Calibri"/>
              <a:sym typeface="Calibri"/>
            </a:endParaRPr>
          </a:p>
        </p:txBody>
      </p:sp>
      <p:sp>
        <p:nvSpPr>
          <p:cNvPr id="287" name="Google Shape;287;p13"/>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20</a:t>
            </a:r>
            <a:endParaRPr sz="2000">
              <a:solidFill>
                <a:schemeClr val="dk1"/>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Classes et Objets</a:t>
            </a:r>
            <a:endParaRPr/>
          </a:p>
        </p:txBody>
      </p:sp>
      <p:sp>
        <p:nvSpPr>
          <p:cNvPr id="293" name="Google Shape;293;p14"/>
          <p:cNvSpPr txBox="1"/>
          <p:nvPr/>
        </p:nvSpPr>
        <p:spPr>
          <a:xfrm>
            <a:off x="1586753" y="2021204"/>
            <a:ext cx="4067139" cy="1522853"/>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400">
                <a:solidFill>
                  <a:srgbClr val="404040"/>
                </a:solidFill>
                <a:latin typeface="Calibri"/>
                <a:ea typeface="Calibri"/>
                <a:cs typeface="Calibri"/>
                <a:sym typeface="Calibri"/>
              </a:rPr>
              <a:t>Accès aux attributs et méthodes</a:t>
            </a:r>
            <a:endParaRPr sz="2400">
              <a:solidFill>
                <a:schemeClr val="dk1"/>
              </a:solidFill>
              <a:latin typeface="Calibri"/>
              <a:ea typeface="Calibri"/>
              <a:cs typeface="Calibri"/>
              <a:sym typeface="Calibri"/>
            </a:endParaRPr>
          </a:p>
          <a:p>
            <a:pPr indent="0" lvl="0" marL="12700" marR="0" rtl="0" algn="l">
              <a:lnSpc>
                <a:spcPct val="100000"/>
              </a:lnSpc>
              <a:spcBef>
                <a:spcPts val="1690"/>
              </a:spcBef>
              <a:spcAft>
                <a:spcPts val="0"/>
              </a:spcAft>
              <a:buNone/>
            </a:pPr>
            <a:r>
              <a:rPr b="1" i="1" lang="en-US" sz="2000">
                <a:solidFill>
                  <a:schemeClr val="accent5"/>
                </a:solidFill>
                <a:latin typeface="Calibri"/>
                <a:ea typeface="Calibri"/>
                <a:cs typeface="Calibri"/>
                <a:sym typeface="Calibri"/>
              </a:rPr>
              <a:t>Point p1 = new Point ( );</a:t>
            </a:r>
            <a:endParaRPr sz="2000">
              <a:solidFill>
                <a:schemeClr val="accent5"/>
              </a:solidFill>
              <a:latin typeface="Calibri"/>
              <a:ea typeface="Calibri"/>
              <a:cs typeface="Calibri"/>
              <a:sym typeface="Calibri"/>
            </a:endParaRPr>
          </a:p>
          <a:p>
            <a:pPr indent="0" lvl="0" marL="12700" marR="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p1.x = 9;</a:t>
            </a:r>
            <a:endParaRPr sz="2000">
              <a:solidFill>
                <a:schemeClr val="accent5"/>
              </a:solidFill>
              <a:latin typeface="Calibri"/>
              <a:ea typeface="Calibri"/>
              <a:cs typeface="Calibri"/>
              <a:sym typeface="Calibri"/>
            </a:endParaRPr>
          </a:p>
          <a:p>
            <a:pPr indent="0" lvl="0" marL="12700" marR="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p1.y = 0;</a:t>
            </a:r>
            <a:endParaRPr sz="2000">
              <a:solidFill>
                <a:schemeClr val="accent5"/>
              </a:solidFill>
              <a:latin typeface="Calibri"/>
              <a:ea typeface="Calibri"/>
              <a:cs typeface="Calibri"/>
              <a:sym typeface="Calibri"/>
            </a:endParaRPr>
          </a:p>
        </p:txBody>
      </p:sp>
      <p:sp>
        <p:nvSpPr>
          <p:cNvPr id="294" name="Google Shape;294;p14"/>
          <p:cNvSpPr txBox="1"/>
          <p:nvPr/>
        </p:nvSpPr>
        <p:spPr>
          <a:xfrm>
            <a:off x="1586753" y="3775977"/>
            <a:ext cx="2788249" cy="949619"/>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Point p2 = new Point ( );    </a:t>
            </a:r>
            <a:endParaRPr/>
          </a:p>
          <a:p>
            <a:pPr indent="0" lvl="0" marL="12700" marR="5080" rtl="0" algn="l">
              <a:lnSpc>
                <a:spcPct val="100000"/>
              </a:lnSpc>
              <a:spcBef>
                <a:spcPts val="105"/>
              </a:spcBef>
              <a:spcAft>
                <a:spcPts val="0"/>
              </a:spcAft>
              <a:buNone/>
            </a:pPr>
            <a:r>
              <a:rPr b="1" i="1" lang="en-US" sz="2000">
                <a:solidFill>
                  <a:schemeClr val="accent5"/>
                </a:solidFill>
                <a:latin typeface="Calibri"/>
                <a:ea typeface="Calibri"/>
                <a:cs typeface="Calibri"/>
                <a:sym typeface="Calibri"/>
              </a:rPr>
              <a:t>p2.x = 5;</a:t>
            </a:r>
            <a:endParaRPr sz="2000">
              <a:solidFill>
                <a:schemeClr val="accent5"/>
              </a:solidFill>
              <a:latin typeface="Calibri"/>
              <a:ea typeface="Calibri"/>
              <a:cs typeface="Calibri"/>
              <a:sym typeface="Calibri"/>
            </a:endParaRPr>
          </a:p>
          <a:p>
            <a:pPr indent="0" lvl="0" marL="12700" marR="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p2.y = 3;</a:t>
            </a:r>
            <a:endParaRPr sz="2000">
              <a:solidFill>
                <a:schemeClr val="accent5"/>
              </a:solidFill>
              <a:latin typeface="Calibri"/>
              <a:ea typeface="Calibri"/>
              <a:cs typeface="Calibri"/>
              <a:sym typeface="Calibri"/>
            </a:endParaRPr>
          </a:p>
        </p:txBody>
      </p:sp>
      <p:sp>
        <p:nvSpPr>
          <p:cNvPr id="295" name="Google Shape;295;p14"/>
          <p:cNvSpPr txBox="1"/>
          <p:nvPr/>
        </p:nvSpPr>
        <p:spPr>
          <a:xfrm>
            <a:off x="1586753" y="4838620"/>
            <a:ext cx="2383119" cy="3206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p2.deplacer  (2,2);</a:t>
            </a:r>
            <a:endParaRPr sz="2000">
              <a:solidFill>
                <a:schemeClr val="accent5"/>
              </a:solidFill>
              <a:latin typeface="Calibri"/>
              <a:ea typeface="Calibri"/>
              <a:cs typeface="Calibri"/>
              <a:sym typeface="Calibri"/>
            </a:endParaRPr>
          </a:p>
        </p:txBody>
      </p:sp>
      <p:sp>
        <p:nvSpPr>
          <p:cNvPr id="296" name="Google Shape;296;p14"/>
          <p:cNvSpPr txBox="1"/>
          <p:nvPr/>
        </p:nvSpPr>
        <p:spPr>
          <a:xfrm>
            <a:off x="1586754" y="5246027"/>
            <a:ext cx="1990054" cy="3206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p2.afficher ( );</a:t>
            </a:r>
            <a:endParaRPr sz="2000">
              <a:solidFill>
                <a:schemeClr val="accent5"/>
              </a:solidFill>
              <a:latin typeface="Calibri"/>
              <a:ea typeface="Calibri"/>
              <a:cs typeface="Calibri"/>
              <a:sym typeface="Calibri"/>
            </a:endParaRPr>
          </a:p>
        </p:txBody>
      </p:sp>
      <p:sp>
        <p:nvSpPr>
          <p:cNvPr id="297" name="Google Shape;297;p14"/>
          <p:cNvSpPr txBox="1"/>
          <p:nvPr/>
        </p:nvSpPr>
        <p:spPr>
          <a:xfrm>
            <a:off x="1586754" y="5798548"/>
            <a:ext cx="1990054" cy="3206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p1.afficher ( );</a:t>
            </a:r>
            <a:endParaRPr sz="2000">
              <a:solidFill>
                <a:schemeClr val="accent5"/>
              </a:solidFill>
              <a:latin typeface="Calibri"/>
              <a:ea typeface="Calibri"/>
              <a:cs typeface="Calibri"/>
              <a:sym typeface="Calibri"/>
            </a:endParaRPr>
          </a:p>
        </p:txBody>
      </p:sp>
      <p:sp>
        <p:nvSpPr>
          <p:cNvPr id="298" name="Google Shape;298;p14"/>
          <p:cNvSpPr txBox="1"/>
          <p:nvPr/>
        </p:nvSpPr>
        <p:spPr>
          <a:xfrm>
            <a:off x="6010566" y="2325802"/>
            <a:ext cx="5446327" cy="3472746"/>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5400">
            <a:spAutoFit/>
          </a:bodyPr>
          <a:lstStyle/>
          <a:p>
            <a:pPr indent="0" lvl="0" marL="91440" marR="0" rtl="0" algn="l">
              <a:lnSpc>
                <a:spcPct val="100000"/>
              </a:lnSpc>
              <a:spcBef>
                <a:spcPts val="0"/>
              </a:spcBef>
              <a:spcAft>
                <a:spcPts val="0"/>
              </a:spcAft>
              <a:buNone/>
            </a:pPr>
            <a:r>
              <a:rPr b="1" lang="en-US" sz="1600">
                <a:solidFill>
                  <a:schemeClr val="dk1"/>
                </a:solidFill>
                <a:latin typeface="Courier New"/>
                <a:ea typeface="Courier New"/>
                <a:cs typeface="Courier New"/>
                <a:sym typeface="Courier New"/>
              </a:rPr>
              <a:t>class </a:t>
            </a:r>
            <a:r>
              <a:rPr lang="en-US" sz="1600">
                <a:solidFill>
                  <a:srgbClr val="003399"/>
                </a:solidFill>
                <a:latin typeface="Courier New"/>
                <a:ea typeface="Courier New"/>
                <a:cs typeface="Courier New"/>
                <a:sym typeface="Courier New"/>
              </a:rPr>
              <a:t>Point</a:t>
            </a: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i="1" lang="en-US" sz="1600">
                <a:solidFill>
                  <a:srgbClr val="666666"/>
                </a:solidFill>
                <a:latin typeface="Courier New"/>
                <a:ea typeface="Courier New"/>
                <a:cs typeface="Courier New"/>
                <a:sym typeface="Courier New"/>
              </a:rPr>
              <a:t>//ATTRIBUTS</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x</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y</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0" marR="0" rtl="0" algn="l">
              <a:lnSpc>
                <a:spcPct val="100000"/>
              </a:lnSpc>
              <a:spcBef>
                <a:spcPts val="40"/>
              </a:spcBef>
              <a:spcAft>
                <a:spcPts val="0"/>
              </a:spcAft>
              <a:buNone/>
            </a:pPr>
            <a:r>
              <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i="1" lang="en-US" sz="1600">
                <a:solidFill>
                  <a:srgbClr val="666666"/>
                </a:solidFill>
                <a:latin typeface="Courier New"/>
                <a:ea typeface="Courier New"/>
                <a:cs typeface="Courier New"/>
                <a:sym typeface="Courier New"/>
              </a:rPr>
              <a:t>//METHODES</a:t>
            </a:r>
            <a:endParaRPr sz="1600">
              <a:solidFill>
                <a:schemeClr val="dk1"/>
              </a:solidFill>
              <a:latin typeface="Courier New"/>
              <a:ea typeface="Courier New"/>
              <a:cs typeface="Courier New"/>
              <a:sym typeface="Courier New"/>
            </a:endParaRPr>
          </a:p>
          <a:p>
            <a:pPr indent="-457200" lvl="0" marL="1005840" marR="248920" rtl="0" algn="l">
              <a:lnSpc>
                <a:spcPct val="100000"/>
              </a:lnSpc>
              <a:spcBef>
                <a:spcPts val="0"/>
              </a:spcBef>
              <a:spcAft>
                <a:spcPts val="0"/>
              </a:spcAft>
              <a:buNone/>
            </a:pPr>
            <a:r>
              <a:rPr b="1" lang="en-US" sz="1600">
                <a:solidFill>
                  <a:srgbClr val="000066"/>
                </a:solidFill>
                <a:latin typeface="Courier New"/>
                <a:ea typeface="Courier New"/>
                <a:cs typeface="Courier New"/>
                <a:sym typeface="Courier New"/>
              </a:rPr>
              <a:t>void </a:t>
            </a:r>
            <a:r>
              <a:rPr lang="en-US" sz="1600">
                <a:solidFill>
                  <a:srgbClr val="000066"/>
                </a:solidFill>
                <a:latin typeface="Courier New"/>
                <a:ea typeface="Courier New"/>
                <a:cs typeface="Courier New"/>
                <a:sym typeface="Courier New"/>
              </a:rPr>
              <a:t>afficher</a:t>
            </a:r>
            <a:r>
              <a:rPr lang="en-US" sz="1600">
                <a:solidFill>
                  <a:srgbClr val="009900"/>
                </a:solidFill>
                <a:latin typeface="Courier New"/>
                <a:ea typeface="Courier New"/>
                <a:cs typeface="Courier New"/>
                <a:sym typeface="Courier New"/>
              </a:rPr>
              <a:t>(){ </a:t>
            </a:r>
            <a:r>
              <a:rPr lang="en-US" sz="1600">
                <a:solidFill>
                  <a:srgbClr val="003399"/>
                </a:solidFill>
                <a:latin typeface="Courier New"/>
                <a:ea typeface="Courier New"/>
                <a:cs typeface="Courier New"/>
                <a:sym typeface="Courier New"/>
              </a:rPr>
              <a:t>System</a:t>
            </a:r>
            <a:r>
              <a:rPr lang="en-US" sz="1600">
                <a:solidFill>
                  <a:srgbClr val="000066"/>
                </a:solidFill>
                <a:latin typeface="Courier New"/>
                <a:ea typeface="Courier New"/>
                <a:cs typeface="Courier New"/>
                <a:sym typeface="Courier New"/>
              </a:rPr>
              <a:t>.</a:t>
            </a:r>
            <a:r>
              <a:rPr lang="en-US" sz="1600">
                <a:solidFill>
                  <a:srgbClr val="006633"/>
                </a:solidFill>
                <a:latin typeface="Courier New"/>
                <a:ea typeface="Courier New"/>
                <a:cs typeface="Courier New"/>
                <a:sym typeface="Courier New"/>
              </a:rPr>
              <a:t>out</a:t>
            </a:r>
            <a:r>
              <a:rPr lang="en-US" sz="1600">
                <a:solidFill>
                  <a:srgbClr val="000066"/>
                </a:solidFill>
                <a:latin typeface="Courier New"/>
                <a:ea typeface="Courier New"/>
                <a:cs typeface="Courier New"/>
                <a:sym typeface="Courier New"/>
              </a:rPr>
              <a:t>.</a:t>
            </a:r>
            <a:r>
              <a:rPr lang="en-US" sz="1600">
                <a:solidFill>
                  <a:srgbClr val="006633"/>
                </a:solidFill>
                <a:latin typeface="Courier New"/>
                <a:ea typeface="Courier New"/>
                <a:cs typeface="Courier New"/>
                <a:sym typeface="Courier New"/>
              </a:rPr>
              <a:t>println</a:t>
            </a:r>
            <a:r>
              <a:rPr lang="en-US" sz="1600">
                <a:solidFill>
                  <a:srgbClr val="009900"/>
                </a:solidFill>
                <a:latin typeface="Courier New"/>
                <a:ea typeface="Courier New"/>
                <a:cs typeface="Courier New"/>
                <a:sym typeface="Courier New"/>
              </a:rPr>
              <a:t>(</a:t>
            </a:r>
            <a:r>
              <a:rPr lang="en-US" sz="1600">
                <a:solidFill>
                  <a:srgbClr val="0000FF"/>
                </a:solidFill>
                <a:latin typeface="Courier New"/>
                <a:ea typeface="Courier New"/>
                <a:cs typeface="Courier New"/>
                <a:sym typeface="Courier New"/>
              </a:rPr>
              <a:t>"x="</a:t>
            </a:r>
            <a:r>
              <a:rPr lang="en-US" sz="1600">
                <a:solidFill>
                  <a:srgbClr val="339933"/>
                </a:solidFill>
                <a:latin typeface="Courier New"/>
                <a:ea typeface="Courier New"/>
                <a:cs typeface="Courier New"/>
                <a:sym typeface="Courier New"/>
              </a:rPr>
              <a:t>+</a:t>
            </a:r>
            <a:r>
              <a:rPr lang="en-US" sz="1600">
                <a:solidFill>
                  <a:srgbClr val="000066"/>
                </a:solidFill>
                <a:latin typeface="Courier New"/>
                <a:ea typeface="Courier New"/>
                <a:cs typeface="Courier New"/>
                <a:sym typeface="Courier New"/>
              </a:rPr>
              <a:t>x</a:t>
            </a:r>
            <a:r>
              <a:rPr lang="en-US" sz="1600">
                <a:solidFill>
                  <a:srgbClr val="339933"/>
                </a:solidFill>
                <a:latin typeface="Courier New"/>
                <a:ea typeface="Courier New"/>
                <a:cs typeface="Courier New"/>
                <a:sym typeface="Courier New"/>
              </a:rPr>
              <a:t>+</a:t>
            </a:r>
            <a:r>
              <a:rPr lang="en-US" sz="1600">
                <a:solidFill>
                  <a:srgbClr val="0000FF"/>
                </a:solidFill>
                <a:latin typeface="Courier New"/>
                <a:ea typeface="Courier New"/>
                <a:cs typeface="Courier New"/>
                <a:sym typeface="Courier New"/>
              </a:rPr>
              <a:t>"y="</a:t>
            </a:r>
            <a:r>
              <a:rPr lang="en-US" sz="1600">
                <a:solidFill>
                  <a:srgbClr val="339933"/>
                </a:solidFill>
                <a:latin typeface="Courier New"/>
                <a:ea typeface="Courier New"/>
                <a:cs typeface="Courier New"/>
                <a:sym typeface="Courier New"/>
              </a:rPr>
              <a:t>+</a:t>
            </a:r>
            <a:r>
              <a:rPr lang="en-US" sz="1600">
                <a:solidFill>
                  <a:srgbClr val="000066"/>
                </a:solidFill>
                <a:latin typeface="Courier New"/>
                <a:ea typeface="Courier New"/>
                <a:cs typeface="Courier New"/>
                <a:sym typeface="Courier New"/>
              </a:rPr>
              <a:t>y</a:t>
            </a: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457200" lvl="0" marL="1005840" marR="1026160" rtl="0" algn="l">
              <a:lnSpc>
                <a:spcPct val="100000"/>
              </a:lnSpc>
              <a:spcBef>
                <a:spcPts val="0"/>
              </a:spcBef>
              <a:spcAft>
                <a:spcPts val="0"/>
              </a:spcAft>
              <a:buNone/>
            </a:pPr>
            <a:r>
              <a:rPr b="1" lang="en-US" sz="1600">
                <a:solidFill>
                  <a:srgbClr val="000066"/>
                </a:solidFill>
                <a:latin typeface="Courier New"/>
                <a:ea typeface="Courier New"/>
                <a:cs typeface="Courier New"/>
                <a:sym typeface="Courier New"/>
              </a:rPr>
              <a:t>void </a:t>
            </a:r>
            <a:r>
              <a:rPr lang="en-US" sz="1600">
                <a:solidFill>
                  <a:srgbClr val="000066"/>
                </a:solidFill>
                <a:latin typeface="Courier New"/>
                <a:ea typeface="Courier New"/>
                <a:cs typeface="Courier New"/>
                <a:sym typeface="Courier New"/>
              </a:rPr>
              <a:t>deplacer</a:t>
            </a:r>
            <a:r>
              <a:rPr lang="en-US" sz="1600">
                <a:solidFill>
                  <a:srgbClr val="009900"/>
                </a:solidFill>
                <a:latin typeface="Courier New"/>
                <a:ea typeface="Courier New"/>
                <a:cs typeface="Courier New"/>
                <a:sym typeface="Courier New"/>
              </a:rPr>
              <a:t>(</a:t>
            </a: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dx, </a:t>
            </a: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dy</a:t>
            </a:r>
            <a:r>
              <a:rPr lang="en-US" sz="1600">
                <a:solidFill>
                  <a:srgbClr val="009900"/>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x </a:t>
            </a:r>
            <a:r>
              <a:rPr lang="en-US" sz="1600">
                <a:solidFill>
                  <a:srgbClr val="339933"/>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x+dx</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1005840" marR="0" rtl="0" algn="l">
              <a:lnSpc>
                <a:spcPct val="100000"/>
              </a:lnSpc>
              <a:spcBef>
                <a:spcPts val="5"/>
              </a:spcBef>
              <a:spcAft>
                <a:spcPts val="0"/>
              </a:spcAft>
              <a:buNone/>
            </a:pPr>
            <a:r>
              <a:rPr lang="en-US" sz="1600">
                <a:solidFill>
                  <a:srgbClr val="000066"/>
                </a:solidFill>
                <a:latin typeface="Courier New"/>
                <a:ea typeface="Courier New"/>
                <a:cs typeface="Courier New"/>
                <a:sym typeface="Courier New"/>
              </a:rPr>
              <a:t>y </a:t>
            </a:r>
            <a:r>
              <a:rPr lang="en-US" sz="1600">
                <a:solidFill>
                  <a:srgbClr val="339933"/>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y+dy</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91440" marR="0" rtl="0" algn="l">
              <a:lnSpc>
                <a:spcPct val="100000"/>
              </a:lnSpc>
              <a:spcBef>
                <a:spcPts val="0"/>
              </a:spcBef>
              <a:spcAft>
                <a:spcPts val="0"/>
              </a:spcAft>
              <a:buNone/>
            </a:pP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5"/>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Constructeurs</a:t>
            </a:r>
            <a:endParaRPr/>
          </a:p>
        </p:txBody>
      </p:sp>
      <p:sp>
        <p:nvSpPr>
          <p:cNvPr id="305" name="Google Shape;305;p15"/>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24</a:t>
            </a:r>
            <a:endParaRPr sz="2000">
              <a:solidFill>
                <a:schemeClr val="dk1"/>
              </a:solidFill>
              <a:latin typeface="Verdana"/>
              <a:ea typeface="Verdana"/>
              <a:cs typeface="Verdana"/>
              <a:sym typeface="Verdana"/>
            </a:endParaRPr>
          </a:p>
        </p:txBody>
      </p:sp>
      <p:sp>
        <p:nvSpPr>
          <p:cNvPr id="306" name="Google Shape;306;p15"/>
          <p:cNvSpPr txBox="1"/>
          <p:nvPr/>
        </p:nvSpPr>
        <p:spPr>
          <a:xfrm>
            <a:off x="1232281" y="1722470"/>
            <a:ext cx="10385977" cy="4441601"/>
          </a:xfrm>
          <a:prstGeom prst="rect">
            <a:avLst/>
          </a:prstGeom>
          <a:noFill/>
          <a:ln>
            <a:noFill/>
          </a:ln>
        </p:spPr>
        <p:txBody>
          <a:bodyPr anchorCtr="0" anchor="t" bIns="0" lIns="0" spcFirstLastPara="1" rIns="0" wrap="square" tIns="156825">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Pour construire un objet</a:t>
            </a:r>
            <a:endParaRPr sz="2400">
              <a:solidFill>
                <a:schemeClr val="dk1"/>
              </a:solidFill>
              <a:latin typeface="Calibri"/>
              <a:ea typeface="Calibri"/>
              <a:cs typeface="Calibri"/>
              <a:sym typeface="Calibri"/>
            </a:endParaRPr>
          </a:p>
          <a:p>
            <a:pPr indent="-285750" lvl="0" marL="444500" marR="0" rtl="0" algn="just">
              <a:spcBef>
                <a:spcPts val="1235"/>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on doit utiliser un </a:t>
            </a:r>
            <a:r>
              <a:rPr b="1" i="1" lang="en-US" sz="2400">
                <a:solidFill>
                  <a:schemeClr val="dk1"/>
                </a:solidFill>
                <a:latin typeface="Calibri"/>
                <a:ea typeface="Calibri"/>
                <a:cs typeface="Calibri"/>
                <a:sym typeface="Calibri"/>
              </a:rPr>
              <a:t>constructeur   </a:t>
            </a:r>
            <a:r>
              <a:rPr lang="en-US" sz="2400">
                <a:solidFill>
                  <a:schemeClr val="dk1"/>
                </a:solidFill>
                <a:latin typeface="Calibri"/>
                <a:ea typeface="Calibri"/>
                <a:cs typeface="Calibri"/>
                <a:sym typeface="Calibri"/>
              </a:rPr>
              <a:t>avec le mot clé </a:t>
            </a:r>
            <a:r>
              <a:rPr b="1" i="1" lang="en-US" sz="2400">
                <a:solidFill>
                  <a:srgbClr val="5B9BD4"/>
                </a:solidFill>
                <a:latin typeface="Calibri"/>
                <a:ea typeface="Calibri"/>
                <a:cs typeface="Calibri"/>
                <a:sym typeface="Calibri"/>
              </a:rPr>
              <a:t>new</a:t>
            </a:r>
            <a:endParaRPr sz="2400">
              <a:solidFill>
                <a:schemeClr val="dk1"/>
              </a:solidFill>
              <a:latin typeface="Calibri"/>
              <a:ea typeface="Calibri"/>
              <a:cs typeface="Calibri"/>
              <a:sym typeface="Calibri"/>
            </a:endParaRPr>
          </a:p>
          <a:p>
            <a:pPr indent="-285750" lvl="0" marL="444500" marR="0" rtl="0" algn="just">
              <a:lnSpc>
                <a:spcPct val="100000"/>
              </a:lnSpc>
              <a:spcBef>
                <a:spcPts val="1235"/>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Il existe le </a:t>
            </a:r>
            <a:r>
              <a:rPr lang="en-US" sz="2400">
                <a:solidFill>
                  <a:srgbClr val="FF0000"/>
                </a:solidFill>
                <a:latin typeface="Calibri"/>
                <a:ea typeface="Calibri"/>
                <a:cs typeface="Calibri"/>
                <a:sym typeface="Calibri"/>
              </a:rPr>
              <a:t>constructeur par défaut </a:t>
            </a:r>
            <a:r>
              <a:rPr lang="en-US" sz="2400">
                <a:solidFill>
                  <a:schemeClr val="dk1"/>
                </a:solidFill>
                <a:latin typeface="Calibri"/>
                <a:ea typeface="Calibri"/>
                <a:cs typeface="Calibri"/>
                <a:sym typeface="Calibri"/>
              </a:rPr>
              <a:t>qui ne possède pas de paramètres</a:t>
            </a:r>
            <a:endParaRPr sz="2400">
              <a:solidFill>
                <a:schemeClr val="dk1"/>
              </a:solidFill>
              <a:latin typeface="Calibri"/>
              <a:ea typeface="Calibri"/>
              <a:cs typeface="Calibri"/>
              <a:sym typeface="Calibri"/>
            </a:endParaRPr>
          </a:p>
          <a:p>
            <a:pPr indent="-342900" lvl="0" marL="1327785" marR="0" rtl="0" algn="just">
              <a:lnSpc>
                <a:spcPct val="100000"/>
              </a:lnSpc>
              <a:spcBef>
                <a:spcPts val="1005"/>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Attribut la valeur </a:t>
            </a:r>
            <a:r>
              <a:rPr lang="en-US" sz="2000">
                <a:solidFill>
                  <a:schemeClr val="accent5"/>
                </a:solidFill>
                <a:latin typeface="Calibri"/>
                <a:ea typeface="Calibri"/>
                <a:cs typeface="Calibri"/>
                <a:sym typeface="Calibri"/>
              </a:rPr>
              <a:t>0</a:t>
            </a:r>
            <a:r>
              <a:rPr lang="en-US" sz="2000">
                <a:solidFill>
                  <a:schemeClr val="dk1"/>
                </a:solidFill>
                <a:latin typeface="Calibri"/>
                <a:ea typeface="Calibri"/>
                <a:cs typeface="Calibri"/>
                <a:sym typeface="Calibri"/>
              </a:rPr>
              <a:t> à tous les attributs de type nombres</a:t>
            </a:r>
            <a:endParaRPr sz="2000">
              <a:solidFill>
                <a:schemeClr val="dk1"/>
              </a:solidFill>
              <a:latin typeface="Calibri"/>
              <a:ea typeface="Calibri"/>
              <a:cs typeface="Calibri"/>
              <a:sym typeface="Calibri"/>
            </a:endParaRPr>
          </a:p>
          <a:p>
            <a:pPr indent="-342900" lvl="0" marL="1327785" marR="1776730" rtl="0" algn="just">
              <a:lnSpc>
                <a:spcPct val="83500"/>
              </a:lnSpc>
              <a:spcBef>
                <a:spcPts val="1075"/>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Attribut la valeur </a:t>
            </a:r>
            <a:r>
              <a:rPr b="1" lang="en-US" sz="2000">
                <a:solidFill>
                  <a:srgbClr val="5B9BD4"/>
                </a:solidFill>
                <a:latin typeface="Calibri"/>
                <a:ea typeface="Calibri"/>
                <a:cs typeface="Calibri"/>
                <a:sym typeface="Calibri"/>
              </a:rPr>
              <a:t>null </a:t>
            </a:r>
            <a:r>
              <a:rPr lang="en-US" sz="2000">
                <a:solidFill>
                  <a:schemeClr val="dk1"/>
                </a:solidFill>
                <a:latin typeface="Calibri"/>
                <a:ea typeface="Calibri"/>
                <a:cs typeface="Calibri"/>
                <a:sym typeface="Calibri"/>
              </a:rPr>
              <a:t>à tous les attributs de type objet</a:t>
            </a:r>
            <a:endParaRPr sz="2000">
              <a:solidFill>
                <a:schemeClr val="dk1"/>
              </a:solidFill>
              <a:latin typeface="Calibri"/>
              <a:ea typeface="Calibri"/>
              <a:cs typeface="Calibri"/>
              <a:sym typeface="Calibri"/>
            </a:endParaRPr>
          </a:p>
          <a:p>
            <a:pPr indent="-228600" lvl="0" marL="1213485" marR="1776730" rtl="0" algn="just">
              <a:lnSpc>
                <a:spcPct val="69583"/>
              </a:lnSpc>
              <a:spcBef>
                <a:spcPts val="1075"/>
              </a:spcBef>
              <a:spcAft>
                <a:spcPts val="0"/>
              </a:spcAft>
              <a:buNone/>
            </a:pPr>
            <a:r>
              <a:rPr lang="en-US" sz="2400">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EX</a:t>
            </a:r>
            <a:r>
              <a:rPr b="1" lang="en-US" sz="2400">
                <a:solidFill>
                  <a:schemeClr val="dk1"/>
                </a:solidFill>
                <a:latin typeface="Calibri"/>
                <a:ea typeface="Calibri"/>
                <a:cs typeface="Calibri"/>
                <a:sym typeface="Calibri"/>
              </a:rPr>
              <a:t>.</a:t>
            </a:r>
            <a:endParaRPr b="1" sz="2400">
              <a:solidFill>
                <a:schemeClr val="dk1"/>
              </a:solidFill>
              <a:latin typeface="Calibri"/>
              <a:ea typeface="Calibri"/>
              <a:cs typeface="Calibri"/>
              <a:sym typeface="Calibri"/>
            </a:endParaRPr>
          </a:p>
          <a:p>
            <a:pPr indent="0" lvl="0" marL="1213485" marR="0" rtl="0" algn="just">
              <a:lnSpc>
                <a:spcPct val="80700"/>
              </a:lnSpc>
              <a:spcBef>
                <a:spcPts val="0"/>
              </a:spcBef>
              <a:spcAft>
                <a:spcPts val="0"/>
              </a:spcAft>
              <a:buNone/>
            </a:pPr>
            <a:r>
              <a:t/>
            </a:r>
            <a:endParaRPr sz="2000">
              <a:solidFill>
                <a:srgbClr val="5B9BD4"/>
              </a:solidFill>
              <a:latin typeface="Calibri"/>
              <a:ea typeface="Calibri"/>
              <a:cs typeface="Calibri"/>
              <a:sym typeface="Calibri"/>
            </a:endParaRPr>
          </a:p>
          <a:p>
            <a:pPr indent="0" lvl="0" marL="1213485" marR="0" rtl="0" algn="just">
              <a:lnSpc>
                <a:spcPct val="80700"/>
              </a:lnSpc>
              <a:spcBef>
                <a:spcPts val="0"/>
              </a:spcBef>
              <a:spcAft>
                <a:spcPts val="0"/>
              </a:spcAft>
              <a:buNone/>
            </a:pPr>
            <a:r>
              <a:rPr b="1" lang="en-US" sz="2000">
                <a:solidFill>
                  <a:schemeClr val="accent5"/>
                </a:solidFill>
                <a:latin typeface="Calibri"/>
                <a:ea typeface="Calibri"/>
                <a:cs typeface="Calibri"/>
                <a:sym typeface="Calibri"/>
              </a:rPr>
              <a:t>Point p = new Point ( );</a:t>
            </a:r>
            <a:endParaRPr b="1" sz="2000">
              <a:solidFill>
                <a:schemeClr val="accent5"/>
              </a:solidFill>
              <a:latin typeface="Calibri"/>
              <a:ea typeface="Calibri"/>
              <a:cs typeface="Calibri"/>
              <a:sym typeface="Calibri"/>
            </a:endParaRPr>
          </a:p>
          <a:p>
            <a:pPr indent="-342900" lvl="1" marL="444500" marR="280035" rtl="0" algn="just">
              <a:spcBef>
                <a:spcPts val="1015"/>
              </a:spcBef>
              <a:spcAft>
                <a:spcPts val="0"/>
              </a:spcAft>
              <a:buClr>
                <a:schemeClr val="dk1"/>
              </a:buClr>
              <a:buSzPts val="2400"/>
              <a:buFont typeface="Noto Sans Symbols"/>
              <a:buChar char="▪"/>
            </a:pPr>
            <a:r>
              <a:rPr b="0" i="0" lang="en-US" sz="2400" u="none" cap="none" strike="noStrike">
                <a:solidFill>
                  <a:schemeClr val="dk1"/>
                </a:solidFill>
                <a:latin typeface="Calibri"/>
                <a:ea typeface="Calibri"/>
                <a:cs typeface="Calibri"/>
                <a:sym typeface="Calibri"/>
              </a:rPr>
              <a:t>Le constructeur peut être surchargé pour initialiser différement l’objet</a:t>
            </a:r>
            <a:endParaRPr b="0" i="0" sz="2400" u="none" cap="none" strike="noStrike">
              <a:solidFill>
                <a:schemeClr val="dk1"/>
              </a:solidFill>
              <a:latin typeface="Calibri"/>
              <a:ea typeface="Calibri"/>
              <a:cs typeface="Calibri"/>
              <a:sym typeface="Calibri"/>
            </a:endParaRPr>
          </a:p>
          <a:p>
            <a:pPr indent="0" lvl="0" marL="908050" marR="280035" rtl="0" algn="just">
              <a:lnSpc>
                <a:spcPct val="100000"/>
              </a:lnSpc>
              <a:spcBef>
                <a:spcPts val="1015"/>
              </a:spcBef>
              <a:spcAft>
                <a:spcPts val="0"/>
              </a:spcAft>
              <a:buNone/>
            </a:pPr>
            <a:r>
              <a:rPr lang="en-US" sz="2000">
                <a:solidFill>
                  <a:srgbClr val="404040"/>
                </a:solidFill>
                <a:latin typeface="Calibri"/>
                <a:ea typeface="Calibri"/>
                <a:cs typeface="Calibri"/>
                <a:sym typeface="Calibri"/>
              </a:rPr>
              <a:t>  </a:t>
            </a:r>
            <a:r>
              <a:rPr b="1" lang="en-US" sz="2000">
                <a:solidFill>
                  <a:schemeClr val="dk1"/>
                </a:solidFill>
                <a:latin typeface="Calibri"/>
                <a:ea typeface="Calibri"/>
                <a:cs typeface="Calibri"/>
                <a:sym typeface="Calibri"/>
              </a:rPr>
              <a:t>EX.</a:t>
            </a:r>
            <a:endParaRPr b="1" sz="2000">
              <a:solidFill>
                <a:schemeClr val="dk1"/>
              </a:solidFill>
              <a:latin typeface="Calibri"/>
              <a:ea typeface="Calibri"/>
              <a:cs typeface="Calibri"/>
              <a:sym typeface="Calibri"/>
            </a:endParaRPr>
          </a:p>
          <a:p>
            <a:pPr indent="0" lvl="0" marL="812800" marR="0" rtl="0" algn="just">
              <a:lnSpc>
                <a:spcPct val="100000"/>
              </a:lnSpc>
              <a:spcBef>
                <a:spcPts val="0"/>
              </a:spcBef>
              <a:spcAft>
                <a:spcPts val="0"/>
              </a:spcAft>
              <a:buNone/>
            </a:pPr>
            <a:r>
              <a:rPr lang="en-US" sz="2400">
                <a:solidFill>
                  <a:schemeClr val="accent5"/>
                </a:solidFill>
                <a:latin typeface="Calibri"/>
                <a:ea typeface="Calibri"/>
                <a:cs typeface="Calibri"/>
                <a:sym typeface="Calibri"/>
              </a:rPr>
              <a:t>     </a:t>
            </a:r>
            <a:r>
              <a:rPr b="1" lang="en-US" sz="2000">
                <a:solidFill>
                  <a:schemeClr val="accent5"/>
                </a:solidFill>
                <a:latin typeface="Calibri"/>
                <a:ea typeface="Calibri"/>
                <a:cs typeface="Calibri"/>
                <a:sym typeface="Calibri"/>
              </a:rPr>
              <a:t>Point p = new Point(3, 4);</a:t>
            </a:r>
            <a:endParaRPr b="1" sz="2000">
              <a:solidFill>
                <a:schemeClr val="accent5"/>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6"/>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Constructeurs</a:t>
            </a:r>
            <a:endParaRPr/>
          </a:p>
        </p:txBody>
      </p:sp>
      <p:sp>
        <p:nvSpPr>
          <p:cNvPr id="312" name="Google Shape;312;p16"/>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25</a:t>
            </a:r>
            <a:endParaRPr sz="2000">
              <a:solidFill>
                <a:schemeClr val="dk1"/>
              </a:solidFill>
              <a:latin typeface="Verdana"/>
              <a:ea typeface="Verdana"/>
              <a:cs typeface="Verdana"/>
              <a:sym typeface="Verdana"/>
            </a:endParaRPr>
          </a:p>
        </p:txBody>
      </p:sp>
      <p:sp>
        <p:nvSpPr>
          <p:cNvPr id="313" name="Google Shape;313;p16"/>
          <p:cNvSpPr txBox="1"/>
          <p:nvPr/>
        </p:nvSpPr>
        <p:spPr>
          <a:xfrm>
            <a:off x="1535747" y="1781320"/>
            <a:ext cx="9087429" cy="1820370"/>
          </a:xfrm>
          <a:prstGeom prst="rect">
            <a:avLst/>
          </a:prstGeom>
          <a:noFill/>
          <a:ln>
            <a:noFill/>
          </a:ln>
        </p:spPr>
        <p:txBody>
          <a:bodyPr anchorCtr="0" anchor="t" bIns="0" lIns="0" spcFirstLastPara="1" rIns="0" wrap="square" tIns="156825">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Exemple du constructeur du point</a:t>
            </a:r>
            <a:endParaRPr sz="2400">
              <a:solidFill>
                <a:schemeClr val="dk1"/>
              </a:solidFill>
              <a:latin typeface="Calibri"/>
              <a:ea typeface="Calibri"/>
              <a:cs typeface="Calibri"/>
              <a:sym typeface="Calibri"/>
            </a:endParaRPr>
          </a:p>
          <a:p>
            <a:pPr indent="-342900" lvl="0" marL="812800" marR="0" rtl="0" algn="just">
              <a:lnSpc>
                <a:spcPct val="100000"/>
              </a:lnSpc>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Le constructeur est une méthode qui</a:t>
            </a:r>
            <a:endParaRPr sz="2400">
              <a:solidFill>
                <a:schemeClr val="dk1"/>
              </a:solidFill>
              <a:latin typeface="Calibri"/>
              <a:ea typeface="Calibri"/>
              <a:cs typeface="Calibri"/>
              <a:sym typeface="Calibri"/>
            </a:endParaRPr>
          </a:p>
          <a:p>
            <a:pPr indent="-342900" lvl="0" marL="1270000" marR="0" rtl="0" algn="just">
              <a:lnSpc>
                <a:spcPct val="100000"/>
              </a:lnSpc>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possède EXACTEMENT le même nom que la classe</a:t>
            </a:r>
            <a:endParaRPr sz="2000">
              <a:solidFill>
                <a:schemeClr val="dk1"/>
              </a:solidFill>
              <a:latin typeface="Calibri"/>
              <a:ea typeface="Calibri"/>
              <a:cs typeface="Calibri"/>
              <a:sym typeface="Calibri"/>
            </a:endParaRPr>
          </a:p>
          <a:p>
            <a:pPr indent="-342900" lvl="0" marL="1270000" marR="0" rtl="0" algn="just">
              <a:lnSpc>
                <a:spcPct val="100000"/>
              </a:lnSpc>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ne possède pas de type de retour</a:t>
            </a:r>
            <a:endParaRPr sz="2000">
              <a:solidFill>
                <a:schemeClr val="dk1"/>
              </a:solidFill>
              <a:latin typeface="Calibri"/>
              <a:ea typeface="Calibri"/>
              <a:cs typeface="Calibri"/>
              <a:sym typeface="Calibri"/>
            </a:endParaRPr>
          </a:p>
          <a:p>
            <a:pPr indent="-342900" lvl="0" marL="1270000" marR="0" rtl="0" algn="just">
              <a:lnSpc>
                <a:spcPct val="100000"/>
              </a:lnSpc>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possède en paramètre tous les éléments pour initialiser l’objet</a:t>
            </a:r>
            <a:endParaRPr sz="2000">
              <a:solidFill>
                <a:schemeClr val="dk1"/>
              </a:solidFill>
              <a:latin typeface="Calibri"/>
              <a:ea typeface="Calibri"/>
              <a:cs typeface="Calibri"/>
              <a:sym typeface="Calibri"/>
            </a:endParaRPr>
          </a:p>
        </p:txBody>
      </p:sp>
      <p:sp>
        <p:nvSpPr>
          <p:cNvPr id="314" name="Google Shape;314;p16"/>
          <p:cNvSpPr txBox="1"/>
          <p:nvPr/>
        </p:nvSpPr>
        <p:spPr>
          <a:xfrm>
            <a:off x="2668272" y="4310276"/>
            <a:ext cx="2696210" cy="31995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000">
                <a:solidFill>
                  <a:schemeClr val="accent5"/>
                </a:solidFill>
                <a:latin typeface="Calibri"/>
                <a:ea typeface="Calibri"/>
                <a:cs typeface="Calibri"/>
                <a:sym typeface="Calibri"/>
              </a:rPr>
              <a:t>Point p1 = new Point (3, 4);</a:t>
            </a:r>
            <a:endParaRPr b="1" sz="2000">
              <a:solidFill>
                <a:schemeClr val="accent5"/>
              </a:solidFill>
              <a:latin typeface="Calibri"/>
              <a:ea typeface="Calibri"/>
              <a:cs typeface="Calibri"/>
              <a:sym typeface="Calibri"/>
            </a:endParaRPr>
          </a:p>
        </p:txBody>
      </p:sp>
      <p:sp>
        <p:nvSpPr>
          <p:cNvPr id="315" name="Google Shape;315;p16"/>
          <p:cNvSpPr txBox="1"/>
          <p:nvPr/>
        </p:nvSpPr>
        <p:spPr>
          <a:xfrm>
            <a:off x="2668272" y="4797956"/>
            <a:ext cx="2616835" cy="31995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000">
                <a:solidFill>
                  <a:schemeClr val="accent5"/>
                </a:solidFill>
                <a:latin typeface="Calibri"/>
                <a:ea typeface="Calibri"/>
                <a:cs typeface="Calibri"/>
                <a:sym typeface="Calibri"/>
              </a:rPr>
              <a:t>Point p2 = new Point (0, 0);</a:t>
            </a:r>
            <a:endParaRPr b="1" sz="2000">
              <a:solidFill>
                <a:schemeClr val="accent5"/>
              </a:solidFill>
              <a:latin typeface="Calibri"/>
              <a:ea typeface="Calibri"/>
              <a:cs typeface="Calibri"/>
              <a:sym typeface="Calibri"/>
            </a:endParaRPr>
          </a:p>
        </p:txBody>
      </p:sp>
      <p:sp>
        <p:nvSpPr>
          <p:cNvPr id="316" name="Google Shape;316;p16"/>
          <p:cNvSpPr txBox="1"/>
          <p:nvPr/>
        </p:nvSpPr>
        <p:spPr>
          <a:xfrm>
            <a:off x="2668272" y="5285585"/>
            <a:ext cx="2275840" cy="31995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000">
                <a:solidFill>
                  <a:schemeClr val="accent5"/>
                </a:solidFill>
                <a:latin typeface="Calibri"/>
                <a:ea typeface="Calibri"/>
                <a:cs typeface="Calibri"/>
                <a:sym typeface="Calibri"/>
              </a:rPr>
              <a:t>Point p3 = new Point ( );</a:t>
            </a:r>
            <a:endParaRPr b="1" sz="2000">
              <a:solidFill>
                <a:schemeClr val="accent5"/>
              </a:solidFill>
              <a:latin typeface="Calibri"/>
              <a:ea typeface="Calibri"/>
              <a:cs typeface="Calibri"/>
              <a:sym typeface="Calibri"/>
            </a:endParaRPr>
          </a:p>
        </p:txBody>
      </p:sp>
      <p:sp>
        <p:nvSpPr>
          <p:cNvPr id="317" name="Google Shape;317;p16"/>
          <p:cNvSpPr txBox="1"/>
          <p:nvPr/>
        </p:nvSpPr>
        <p:spPr>
          <a:xfrm>
            <a:off x="7790420" y="3606282"/>
            <a:ext cx="4204356" cy="2733441"/>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4750">
            <a:spAutoFit/>
          </a:bodyPr>
          <a:lstStyle/>
          <a:p>
            <a:pPr indent="0" lvl="0" marL="92075" marR="0" rtl="0" algn="l">
              <a:lnSpc>
                <a:spcPct val="100000"/>
              </a:lnSpc>
              <a:spcBef>
                <a:spcPts val="0"/>
              </a:spcBef>
              <a:spcAft>
                <a:spcPts val="0"/>
              </a:spcAft>
              <a:buNone/>
            </a:pPr>
            <a:r>
              <a:rPr b="1" lang="en-US" sz="1600">
                <a:solidFill>
                  <a:schemeClr val="dk1"/>
                </a:solidFill>
                <a:latin typeface="Courier New"/>
                <a:ea typeface="Courier New"/>
                <a:cs typeface="Courier New"/>
                <a:sym typeface="Courier New"/>
              </a:rPr>
              <a:t>class </a:t>
            </a:r>
            <a:r>
              <a:rPr lang="en-US" sz="1600">
                <a:solidFill>
                  <a:srgbClr val="003399"/>
                </a:solidFill>
                <a:latin typeface="Courier New"/>
                <a:ea typeface="Courier New"/>
                <a:cs typeface="Courier New"/>
                <a:sym typeface="Courier New"/>
              </a:rPr>
              <a:t>Point</a:t>
            </a: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9275" marR="0" rtl="0" algn="l">
              <a:lnSpc>
                <a:spcPct val="100000"/>
              </a:lnSpc>
              <a:spcBef>
                <a:spcPts val="0"/>
              </a:spcBef>
              <a:spcAft>
                <a:spcPts val="0"/>
              </a:spcAft>
              <a:buNone/>
            </a:pPr>
            <a:r>
              <a:rPr i="1" lang="en-US" sz="1600">
                <a:solidFill>
                  <a:srgbClr val="666666"/>
                </a:solidFill>
                <a:latin typeface="Courier New"/>
                <a:ea typeface="Courier New"/>
                <a:cs typeface="Courier New"/>
                <a:sym typeface="Courier New"/>
              </a:rPr>
              <a:t>//ATTRIBUTS</a:t>
            </a:r>
            <a:endParaRPr sz="1600">
              <a:solidFill>
                <a:schemeClr val="dk1"/>
              </a:solidFill>
              <a:latin typeface="Courier New"/>
              <a:ea typeface="Courier New"/>
              <a:cs typeface="Courier New"/>
              <a:sym typeface="Courier New"/>
            </a:endParaRPr>
          </a:p>
          <a:p>
            <a:pPr indent="0" lvl="0" marL="549275" marR="0" rtl="0" algn="l">
              <a:lnSpc>
                <a:spcPct val="100000"/>
              </a:lnSpc>
              <a:spcBef>
                <a:spcPts val="5"/>
              </a:spcBef>
              <a:spcAft>
                <a:spcPts val="0"/>
              </a:spcAft>
              <a:buNone/>
            </a:pP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x</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9275" marR="0" rtl="0" algn="l">
              <a:lnSpc>
                <a:spcPct val="100000"/>
              </a:lnSpc>
              <a:spcBef>
                <a:spcPts val="0"/>
              </a:spcBef>
              <a:spcAft>
                <a:spcPts val="0"/>
              </a:spcAft>
              <a:buNone/>
            </a:pP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y</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0" marR="0" rtl="0" algn="l">
              <a:lnSpc>
                <a:spcPct val="100000"/>
              </a:lnSpc>
              <a:spcBef>
                <a:spcPts val="35"/>
              </a:spcBef>
              <a:spcAft>
                <a:spcPts val="0"/>
              </a:spcAft>
              <a:buNone/>
            </a:pPr>
            <a:r>
              <a:t/>
            </a:r>
            <a:endParaRPr sz="1600">
              <a:solidFill>
                <a:schemeClr val="dk1"/>
              </a:solidFill>
              <a:latin typeface="Courier New"/>
              <a:ea typeface="Courier New"/>
              <a:cs typeface="Courier New"/>
              <a:sym typeface="Courier New"/>
            </a:endParaRPr>
          </a:p>
          <a:p>
            <a:pPr indent="0" lvl="0" marL="549275" marR="0" rtl="0" algn="l">
              <a:lnSpc>
                <a:spcPct val="100000"/>
              </a:lnSpc>
              <a:spcBef>
                <a:spcPts val="0"/>
              </a:spcBef>
              <a:spcAft>
                <a:spcPts val="0"/>
              </a:spcAft>
              <a:buNone/>
            </a:pPr>
            <a:r>
              <a:rPr i="1" lang="en-US" sz="1600">
                <a:solidFill>
                  <a:srgbClr val="666666"/>
                </a:solidFill>
                <a:latin typeface="Courier New"/>
                <a:ea typeface="Courier New"/>
                <a:cs typeface="Courier New"/>
                <a:sym typeface="Courier New"/>
              </a:rPr>
              <a:t>//CONSTRUCTEURS</a:t>
            </a:r>
            <a:endParaRPr sz="1600">
              <a:solidFill>
                <a:schemeClr val="dk1"/>
              </a:solidFill>
              <a:latin typeface="Courier New"/>
              <a:ea typeface="Courier New"/>
              <a:cs typeface="Courier New"/>
              <a:sym typeface="Courier New"/>
            </a:endParaRPr>
          </a:p>
          <a:p>
            <a:pPr indent="-457200" lvl="0" marL="1006475" marR="780415" rtl="0" algn="l">
              <a:lnSpc>
                <a:spcPct val="100000"/>
              </a:lnSpc>
              <a:spcBef>
                <a:spcPts val="0"/>
              </a:spcBef>
              <a:spcAft>
                <a:spcPts val="0"/>
              </a:spcAft>
              <a:buNone/>
            </a:pPr>
            <a:r>
              <a:rPr b="1" lang="en-US" sz="1600">
                <a:solidFill>
                  <a:srgbClr val="000066"/>
                </a:solidFill>
                <a:latin typeface="Courier New"/>
                <a:ea typeface="Courier New"/>
                <a:cs typeface="Courier New"/>
                <a:sym typeface="Courier New"/>
              </a:rPr>
              <a:t>Point</a:t>
            </a:r>
            <a:r>
              <a:rPr lang="en-US" sz="1600">
                <a:solidFill>
                  <a:srgbClr val="009900"/>
                </a:solidFill>
                <a:latin typeface="Courier New"/>
                <a:ea typeface="Courier New"/>
                <a:cs typeface="Courier New"/>
                <a:sym typeface="Courier New"/>
              </a:rPr>
              <a:t>(</a:t>
            </a: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px, </a:t>
            </a: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py</a:t>
            </a:r>
            <a:r>
              <a:rPr lang="en-US" sz="1600">
                <a:solidFill>
                  <a:srgbClr val="009900"/>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x </a:t>
            </a:r>
            <a:r>
              <a:rPr lang="en-US" sz="1600">
                <a:solidFill>
                  <a:srgbClr val="339933"/>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px</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1006475" marR="0" rtl="0" algn="l">
              <a:lnSpc>
                <a:spcPct val="100000"/>
              </a:lnSpc>
              <a:spcBef>
                <a:spcPts val="5"/>
              </a:spcBef>
              <a:spcAft>
                <a:spcPts val="0"/>
              </a:spcAft>
              <a:buNone/>
            </a:pPr>
            <a:r>
              <a:rPr lang="en-US" sz="1600">
                <a:solidFill>
                  <a:srgbClr val="000066"/>
                </a:solidFill>
                <a:latin typeface="Courier New"/>
                <a:ea typeface="Courier New"/>
                <a:cs typeface="Courier New"/>
                <a:sym typeface="Courier New"/>
              </a:rPr>
              <a:t>y </a:t>
            </a:r>
            <a:r>
              <a:rPr lang="en-US" sz="1600">
                <a:solidFill>
                  <a:srgbClr val="339933"/>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py</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9275" marR="0" rtl="0" algn="l">
              <a:lnSpc>
                <a:spcPct val="100000"/>
              </a:lnSpc>
              <a:spcBef>
                <a:spcPts val="0"/>
              </a:spcBef>
              <a:spcAft>
                <a:spcPts val="0"/>
              </a:spcAft>
              <a:buNone/>
            </a:pP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92075" marR="0" rtl="0" algn="l">
              <a:lnSpc>
                <a:spcPct val="100000"/>
              </a:lnSpc>
              <a:spcBef>
                <a:spcPts val="0"/>
              </a:spcBef>
              <a:spcAft>
                <a:spcPts val="0"/>
              </a:spcAft>
              <a:buNone/>
            </a:pP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p:txBody>
      </p:sp>
      <p:sp>
        <p:nvSpPr>
          <p:cNvPr id="318" name="Google Shape;318;p16"/>
          <p:cNvSpPr/>
          <p:nvPr/>
        </p:nvSpPr>
        <p:spPr>
          <a:xfrm>
            <a:off x="3006854" y="5097295"/>
            <a:ext cx="1530985" cy="649605"/>
          </a:xfrm>
          <a:custGeom>
            <a:rect b="b" l="l" r="r" t="t"/>
            <a:pathLst>
              <a:path extrusionOk="0" h="649604" w="1530985">
                <a:moveTo>
                  <a:pt x="652018" y="0"/>
                </a:moveTo>
                <a:lnTo>
                  <a:pt x="765428" y="324612"/>
                </a:lnTo>
                <a:lnTo>
                  <a:pt x="1530985" y="57150"/>
                </a:lnTo>
                <a:lnTo>
                  <a:pt x="765428" y="324612"/>
                </a:lnTo>
                <a:lnTo>
                  <a:pt x="878839" y="649160"/>
                </a:lnTo>
                <a:lnTo>
                  <a:pt x="765428" y="324612"/>
                </a:lnTo>
                <a:lnTo>
                  <a:pt x="0" y="592086"/>
                </a:lnTo>
                <a:lnTo>
                  <a:pt x="765428" y="324612"/>
                </a:lnTo>
                <a:lnTo>
                  <a:pt x="652018" y="0"/>
                </a:lnTo>
                <a:close/>
              </a:path>
            </a:pathLst>
          </a:custGeom>
          <a:noFill/>
          <a:ln cap="flat" cmpd="sng" w="1587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19" name="Google Shape;319;p16"/>
          <p:cNvGrpSpPr/>
          <p:nvPr/>
        </p:nvGrpSpPr>
        <p:grpSpPr>
          <a:xfrm>
            <a:off x="1799846" y="5283350"/>
            <a:ext cx="867156" cy="1048512"/>
            <a:chOff x="2257044" y="5417820"/>
            <a:chExt cx="867156" cy="1048512"/>
          </a:xfrm>
        </p:grpSpPr>
        <p:pic>
          <p:nvPicPr>
            <p:cNvPr id="320" name="Google Shape;320;p16"/>
            <p:cNvPicPr preferRelativeResize="0"/>
            <p:nvPr/>
          </p:nvPicPr>
          <p:blipFill rotWithShape="1">
            <a:blip r:embed="rId3">
              <a:alphaModFix/>
            </a:blip>
            <a:srcRect b="0" l="0" r="0" t="0"/>
            <a:stretch/>
          </p:blipFill>
          <p:spPr>
            <a:xfrm>
              <a:off x="2257044" y="5417820"/>
              <a:ext cx="867156" cy="1048512"/>
            </a:xfrm>
            <a:prstGeom prst="rect">
              <a:avLst/>
            </a:prstGeom>
            <a:noFill/>
            <a:ln>
              <a:noFill/>
            </a:ln>
          </p:spPr>
        </p:pic>
        <p:pic>
          <p:nvPicPr>
            <p:cNvPr id="321" name="Google Shape;321;p16"/>
            <p:cNvPicPr preferRelativeResize="0"/>
            <p:nvPr/>
          </p:nvPicPr>
          <p:blipFill rotWithShape="1">
            <a:blip r:embed="rId4">
              <a:alphaModFix/>
            </a:blip>
            <a:srcRect b="0" l="0" r="0" t="0"/>
            <a:stretch/>
          </p:blipFill>
          <p:spPr>
            <a:xfrm>
              <a:off x="2310384" y="5433060"/>
              <a:ext cx="760476" cy="941908"/>
            </a:xfrm>
            <a:prstGeom prst="rect">
              <a:avLst/>
            </a:prstGeom>
            <a:noFill/>
            <a:ln>
              <a:noFill/>
            </a:ln>
          </p:spPr>
        </p:pic>
      </p:grpSp>
      <p:sp>
        <p:nvSpPr>
          <p:cNvPr id="322" name="Google Shape;322;p16"/>
          <p:cNvSpPr txBox="1"/>
          <p:nvPr/>
        </p:nvSpPr>
        <p:spPr>
          <a:xfrm>
            <a:off x="2807971" y="5804964"/>
            <a:ext cx="4520676" cy="3206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Le constructeur par defaut n’existe plus ! </a:t>
            </a:r>
            <a:endParaRPr sz="20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Constructeurs</a:t>
            </a:r>
            <a:endParaRPr/>
          </a:p>
        </p:txBody>
      </p:sp>
      <p:sp>
        <p:nvSpPr>
          <p:cNvPr id="328" name="Google Shape;328;p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52400" lvl="0" marL="91440" rtl="0" algn="just">
              <a:lnSpc>
                <a:spcPct val="90000"/>
              </a:lnSpc>
              <a:spcBef>
                <a:spcPts val="0"/>
              </a:spcBef>
              <a:spcAft>
                <a:spcPts val="0"/>
              </a:spcAft>
              <a:buSzPts val="2400"/>
              <a:buChar char=" "/>
            </a:pPr>
            <a:r>
              <a:rPr b="1" lang="en-US" sz="2400"/>
              <a:t>Remarques</a:t>
            </a:r>
            <a:r>
              <a:rPr b="1" lang="en-US"/>
              <a:t>:</a:t>
            </a:r>
            <a:endParaRPr/>
          </a:p>
          <a:p>
            <a:pPr indent="-127000" lvl="0" marL="91440" rtl="0" algn="just">
              <a:lnSpc>
                <a:spcPct val="90000"/>
              </a:lnSpc>
              <a:spcBef>
                <a:spcPts val="1400"/>
              </a:spcBef>
              <a:spcAft>
                <a:spcPts val="0"/>
              </a:spcAft>
              <a:buSzPts val="2000"/>
              <a:buFont typeface="Noto Sans Symbols"/>
              <a:buChar char="▪"/>
            </a:pPr>
            <a:r>
              <a:rPr lang="en-US"/>
              <a:t>  </a:t>
            </a:r>
            <a:r>
              <a:rPr lang="en-US" sz="2400">
                <a:solidFill>
                  <a:schemeClr val="dk1"/>
                </a:solidFill>
              </a:rPr>
              <a:t>Si la classe ne possède pas de constructeurs déclarés explicitement, le compilateur définit un constructeur par défaut public pour créer des objets. </a:t>
            </a:r>
            <a:endParaRPr/>
          </a:p>
          <a:p>
            <a:pPr indent="-152400" lvl="0" marL="91440" rtl="0" algn="just">
              <a:lnSpc>
                <a:spcPct val="90000"/>
              </a:lnSpc>
              <a:spcBef>
                <a:spcPts val="1400"/>
              </a:spcBef>
              <a:spcAft>
                <a:spcPts val="0"/>
              </a:spcAft>
              <a:buSzPts val="2400"/>
              <a:buFont typeface="Noto Sans Symbols"/>
              <a:buChar char="▪"/>
            </a:pPr>
            <a:r>
              <a:rPr lang="en-US" sz="2400">
                <a:solidFill>
                  <a:schemeClr val="dk1"/>
                </a:solidFill>
              </a:rPr>
              <a:t> Ce constructeur est appelé le </a:t>
            </a:r>
            <a:r>
              <a:rPr lang="en-US" sz="2400">
                <a:solidFill>
                  <a:srgbClr val="FF0000"/>
                </a:solidFill>
              </a:rPr>
              <a:t>constructeur par défaut implicite</a:t>
            </a:r>
            <a:r>
              <a:rPr lang="en-US" sz="2400">
                <a:solidFill>
                  <a:schemeClr val="dk1"/>
                </a:solidFill>
              </a:rPr>
              <a:t>.      </a:t>
            </a:r>
            <a:endParaRPr/>
          </a:p>
          <a:p>
            <a:pPr indent="-152400" lvl="0" marL="91440" rtl="0" algn="just">
              <a:lnSpc>
                <a:spcPct val="90000"/>
              </a:lnSpc>
              <a:spcBef>
                <a:spcPts val="1400"/>
              </a:spcBef>
              <a:spcAft>
                <a:spcPts val="0"/>
              </a:spcAft>
              <a:buSzPts val="2400"/>
              <a:buFont typeface="Noto Sans Symbols"/>
              <a:buChar char="▪"/>
            </a:pPr>
            <a:r>
              <a:rPr lang="en-US" sz="2400">
                <a:solidFill>
                  <a:schemeClr val="dk1"/>
                </a:solidFill>
              </a:rPr>
              <a:t> Lorsque la classe contient un constructeur défini explicitement, le constructeur par défaut implicite est détruit automatiquement.</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8"/>
          <p:cNvSpPr txBox="1"/>
          <p:nvPr/>
        </p:nvSpPr>
        <p:spPr>
          <a:xfrm>
            <a:off x="1232281" y="1937863"/>
            <a:ext cx="6809866" cy="1025281"/>
          </a:xfrm>
          <a:prstGeom prst="rect">
            <a:avLst/>
          </a:prstGeom>
          <a:noFill/>
          <a:ln>
            <a:noFill/>
          </a:ln>
        </p:spPr>
        <p:txBody>
          <a:bodyPr anchorCtr="0" anchor="t" bIns="0" lIns="0" spcFirstLastPara="1" rIns="0" wrap="square" tIns="156825">
            <a:spAutoFit/>
          </a:bodyPr>
          <a:lstStyle/>
          <a:p>
            <a:pPr indent="0" lvl="0" marL="12700" marR="0" rtl="0" algn="l">
              <a:lnSpc>
                <a:spcPct val="100000"/>
              </a:lnSpc>
              <a:spcBef>
                <a:spcPts val="0"/>
              </a:spcBef>
              <a:spcAft>
                <a:spcPts val="0"/>
              </a:spcAft>
              <a:buNone/>
            </a:pPr>
            <a:r>
              <a:rPr b="1" lang="en-US" sz="2400">
                <a:solidFill>
                  <a:srgbClr val="404040"/>
                </a:solidFill>
                <a:latin typeface="Calibri"/>
                <a:ea typeface="Calibri"/>
                <a:cs typeface="Calibri"/>
                <a:sym typeface="Calibri"/>
              </a:rPr>
              <a:t>Constructeurs multiples:</a:t>
            </a:r>
            <a:endParaRPr sz="2400">
              <a:solidFill>
                <a:schemeClr val="dk1"/>
              </a:solidFill>
              <a:latin typeface="Calibri"/>
              <a:ea typeface="Calibri"/>
              <a:cs typeface="Calibri"/>
              <a:sym typeface="Calibri"/>
            </a:endParaRPr>
          </a:p>
          <a:p>
            <a:pPr indent="-342900" lvl="0" marL="538163" marR="5080" rtl="0" algn="l">
              <a:lnSpc>
                <a:spcPct val="100000"/>
              </a:lnSpc>
              <a:spcBef>
                <a:spcPts val="1005"/>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Le bon constructeur est choisi selon les paramètres</a:t>
            </a:r>
            <a:endParaRPr sz="2400">
              <a:solidFill>
                <a:schemeClr val="dk1"/>
              </a:solidFill>
              <a:latin typeface="Calibri"/>
              <a:ea typeface="Calibri"/>
              <a:cs typeface="Calibri"/>
              <a:sym typeface="Calibri"/>
            </a:endParaRPr>
          </a:p>
        </p:txBody>
      </p:sp>
      <p:sp>
        <p:nvSpPr>
          <p:cNvPr id="334" name="Google Shape;334;p18"/>
          <p:cNvSpPr txBox="1"/>
          <p:nvPr/>
        </p:nvSpPr>
        <p:spPr>
          <a:xfrm>
            <a:off x="2237964" y="3591643"/>
            <a:ext cx="2543810" cy="31995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Point p1 =  new Point  (3, 4);</a:t>
            </a:r>
            <a:endParaRPr sz="2000">
              <a:solidFill>
                <a:schemeClr val="accent5"/>
              </a:solidFill>
              <a:latin typeface="Calibri"/>
              <a:ea typeface="Calibri"/>
              <a:cs typeface="Calibri"/>
              <a:sym typeface="Calibri"/>
            </a:endParaRPr>
          </a:p>
        </p:txBody>
      </p:sp>
      <p:sp>
        <p:nvSpPr>
          <p:cNvPr id="335" name="Google Shape;335;p18"/>
          <p:cNvSpPr txBox="1"/>
          <p:nvPr/>
        </p:nvSpPr>
        <p:spPr>
          <a:xfrm>
            <a:off x="2237964" y="4198682"/>
            <a:ext cx="2199640" cy="31995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i="1" lang="en-US" sz="2000">
                <a:solidFill>
                  <a:schemeClr val="accent5"/>
                </a:solidFill>
                <a:latin typeface="Calibri"/>
                <a:ea typeface="Calibri"/>
                <a:cs typeface="Calibri"/>
                <a:sym typeface="Calibri"/>
              </a:rPr>
              <a:t>Point p2 =  new Point  ( );</a:t>
            </a:r>
            <a:endParaRPr sz="2000">
              <a:solidFill>
                <a:schemeClr val="accent5"/>
              </a:solidFill>
              <a:latin typeface="Calibri"/>
              <a:ea typeface="Calibri"/>
              <a:cs typeface="Calibri"/>
              <a:sym typeface="Calibri"/>
            </a:endParaRPr>
          </a:p>
        </p:txBody>
      </p:sp>
      <p:sp>
        <p:nvSpPr>
          <p:cNvPr id="336" name="Google Shape;336;p18"/>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28</a:t>
            </a:r>
            <a:endParaRPr sz="2000">
              <a:solidFill>
                <a:schemeClr val="dk1"/>
              </a:solidFill>
              <a:latin typeface="Verdana"/>
              <a:ea typeface="Verdana"/>
              <a:cs typeface="Verdana"/>
              <a:sym typeface="Verdana"/>
            </a:endParaRPr>
          </a:p>
        </p:txBody>
      </p:sp>
      <p:sp>
        <p:nvSpPr>
          <p:cNvPr id="337" name="Google Shape;337;p18"/>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Constructeurs</a:t>
            </a:r>
            <a:endParaRPr/>
          </a:p>
        </p:txBody>
      </p:sp>
      <p:sp>
        <p:nvSpPr>
          <p:cNvPr id="338" name="Google Shape;338;p18"/>
          <p:cNvSpPr txBox="1"/>
          <p:nvPr/>
        </p:nvSpPr>
        <p:spPr>
          <a:xfrm>
            <a:off x="7879976" y="1984608"/>
            <a:ext cx="4128247" cy="3842718"/>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6025">
            <a:spAutoFit/>
          </a:bodyPr>
          <a:lstStyle/>
          <a:p>
            <a:pPr indent="0" lvl="0" marL="91440" marR="0" rtl="0" algn="l">
              <a:lnSpc>
                <a:spcPct val="100000"/>
              </a:lnSpc>
              <a:spcBef>
                <a:spcPts val="0"/>
              </a:spcBef>
              <a:spcAft>
                <a:spcPts val="0"/>
              </a:spcAft>
              <a:buNone/>
            </a:pPr>
            <a:r>
              <a:rPr b="1" lang="en-US" sz="1600">
                <a:solidFill>
                  <a:schemeClr val="dk1"/>
                </a:solidFill>
                <a:latin typeface="Courier New"/>
                <a:ea typeface="Courier New"/>
                <a:cs typeface="Courier New"/>
                <a:sym typeface="Courier New"/>
              </a:rPr>
              <a:t>class </a:t>
            </a:r>
            <a:r>
              <a:rPr lang="en-US" sz="1600">
                <a:solidFill>
                  <a:srgbClr val="003399"/>
                </a:solidFill>
                <a:latin typeface="Courier New"/>
                <a:ea typeface="Courier New"/>
                <a:cs typeface="Courier New"/>
                <a:sym typeface="Courier New"/>
              </a:rPr>
              <a:t>Point</a:t>
            </a: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i="1" lang="en-US" sz="1600">
                <a:solidFill>
                  <a:srgbClr val="666666"/>
                </a:solidFill>
                <a:latin typeface="Courier New"/>
                <a:ea typeface="Courier New"/>
                <a:cs typeface="Courier New"/>
                <a:sym typeface="Courier New"/>
              </a:rPr>
              <a:t>//ATTRIBUTS</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x</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y</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0" marR="0" rtl="0" algn="l">
              <a:lnSpc>
                <a:spcPct val="100000"/>
              </a:lnSpc>
              <a:spcBef>
                <a:spcPts val="40"/>
              </a:spcBef>
              <a:spcAft>
                <a:spcPts val="0"/>
              </a:spcAft>
              <a:buNone/>
            </a:pPr>
            <a:r>
              <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i="1" lang="en-US" sz="1600">
                <a:solidFill>
                  <a:srgbClr val="666666"/>
                </a:solidFill>
                <a:latin typeface="Courier New"/>
                <a:ea typeface="Courier New"/>
                <a:cs typeface="Courier New"/>
                <a:sym typeface="Courier New"/>
              </a:rPr>
              <a:t>//Construteurs</a:t>
            </a:r>
            <a:endParaRPr sz="1600">
              <a:solidFill>
                <a:schemeClr val="dk1"/>
              </a:solidFill>
              <a:latin typeface="Courier New"/>
              <a:ea typeface="Courier New"/>
              <a:cs typeface="Courier New"/>
              <a:sym typeface="Courier New"/>
            </a:endParaRPr>
          </a:p>
          <a:p>
            <a:pPr indent="-457200" lvl="0" marL="1005840" marR="779145" rtl="0" algn="l">
              <a:lnSpc>
                <a:spcPct val="100000"/>
              </a:lnSpc>
              <a:spcBef>
                <a:spcPts val="0"/>
              </a:spcBef>
              <a:spcAft>
                <a:spcPts val="0"/>
              </a:spcAft>
              <a:buNone/>
            </a:pPr>
            <a:r>
              <a:rPr lang="en-US" sz="1600">
                <a:solidFill>
                  <a:srgbClr val="000066"/>
                </a:solidFill>
                <a:latin typeface="Courier New"/>
                <a:ea typeface="Courier New"/>
                <a:cs typeface="Courier New"/>
                <a:sym typeface="Courier New"/>
              </a:rPr>
              <a:t>Point</a:t>
            </a:r>
            <a:r>
              <a:rPr lang="en-US" sz="1600">
                <a:solidFill>
                  <a:srgbClr val="009900"/>
                </a:solidFill>
                <a:latin typeface="Courier New"/>
                <a:ea typeface="Courier New"/>
                <a:cs typeface="Courier New"/>
                <a:sym typeface="Courier New"/>
              </a:rPr>
              <a:t>(</a:t>
            </a: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px, </a:t>
            </a:r>
            <a:r>
              <a:rPr b="1" lang="en-US" sz="1600">
                <a:solidFill>
                  <a:srgbClr val="000066"/>
                </a:solidFill>
                <a:latin typeface="Courier New"/>
                <a:ea typeface="Courier New"/>
                <a:cs typeface="Courier New"/>
                <a:sym typeface="Courier New"/>
              </a:rPr>
              <a:t>int </a:t>
            </a:r>
            <a:r>
              <a:rPr lang="en-US" sz="1600">
                <a:solidFill>
                  <a:srgbClr val="000066"/>
                </a:solidFill>
                <a:latin typeface="Courier New"/>
                <a:ea typeface="Courier New"/>
                <a:cs typeface="Courier New"/>
                <a:sym typeface="Courier New"/>
              </a:rPr>
              <a:t>py</a:t>
            </a:r>
            <a:r>
              <a:rPr lang="en-US" sz="1600">
                <a:solidFill>
                  <a:srgbClr val="009900"/>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x </a:t>
            </a:r>
            <a:r>
              <a:rPr lang="en-US" sz="1600">
                <a:solidFill>
                  <a:srgbClr val="339933"/>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px</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1005840" marR="0" rtl="0" algn="l">
              <a:lnSpc>
                <a:spcPct val="100000"/>
              </a:lnSpc>
              <a:spcBef>
                <a:spcPts val="0"/>
              </a:spcBef>
              <a:spcAft>
                <a:spcPts val="0"/>
              </a:spcAft>
              <a:buNone/>
            </a:pPr>
            <a:r>
              <a:rPr lang="en-US" sz="1600">
                <a:solidFill>
                  <a:srgbClr val="000066"/>
                </a:solidFill>
                <a:latin typeface="Courier New"/>
                <a:ea typeface="Courier New"/>
                <a:cs typeface="Courier New"/>
                <a:sym typeface="Courier New"/>
              </a:rPr>
              <a:t>y </a:t>
            </a:r>
            <a:r>
              <a:rPr lang="en-US" sz="1600">
                <a:solidFill>
                  <a:srgbClr val="339933"/>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py</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lang="en-US" sz="1600">
                <a:solidFill>
                  <a:srgbClr val="000066"/>
                </a:solidFill>
                <a:latin typeface="Courier New"/>
                <a:ea typeface="Courier New"/>
                <a:cs typeface="Courier New"/>
                <a:sym typeface="Courier New"/>
              </a:rPr>
              <a:t>Point</a:t>
            </a: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1005840" marR="0" rtl="0" algn="l">
              <a:lnSpc>
                <a:spcPct val="100000"/>
              </a:lnSpc>
              <a:spcBef>
                <a:spcPts val="0"/>
              </a:spcBef>
              <a:spcAft>
                <a:spcPts val="0"/>
              </a:spcAft>
              <a:buNone/>
            </a:pPr>
            <a:r>
              <a:rPr lang="en-US" sz="1600">
                <a:solidFill>
                  <a:srgbClr val="000066"/>
                </a:solidFill>
                <a:latin typeface="Courier New"/>
                <a:ea typeface="Courier New"/>
                <a:cs typeface="Courier New"/>
                <a:sym typeface="Courier New"/>
              </a:rPr>
              <a:t>x </a:t>
            </a:r>
            <a:r>
              <a:rPr lang="en-US" sz="1600">
                <a:solidFill>
                  <a:srgbClr val="339933"/>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0</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1005840" marR="0" rtl="0" algn="l">
              <a:lnSpc>
                <a:spcPct val="100000"/>
              </a:lnSpc>
              <a:spcBef>
                <a:spcPts val="0"/>
              </a:spcBef>
              <a:spcAft>
                <a:spcPts val="0"/>
              </a:spcAft>
              <a:buNone/>
            </a:pPr>
            <a:r>
              <a:rPr lang="en-US" sz="1600">
                <a:solidFill>
                  <a:srgbClr val="000066"/>
                </a:solidFill>
                <a:latin typeface="Courier New"/>
                <a:ea typeface="Courier New"/>
                <a:cs typeface="Courier New"/>
                <a:sym typeface="Courier New"/>
              </a:rPr>
              <a:t>y </a:t>
            </a:r>
            <a:r>
              <a:rPr lang="en-US" sz="1600">
                <a:solidFill>
                  <a:srgbClr val="339933"/>
                </a:solidFill>
                <a:latin typeface="Courier New"/>
                <a:ea typeface="Courier New"/>
                <a:cs typeface="Courier New"/>
                <a:sym typeface="Courier New"/>
              </a:rPr>
              <a:t>= </a:t>
            </a:r>
            <a:r>
              <a:rPr lang="en-US" sz="1600">
                <a:solidFill>
                  <a:srgbClr val="000066"/>
                </a:solidFill>
                <a:latin typeface="Courier New"/>
                <a:ea typeface="Courier New"/>
                <a:cs typeface="Courier New"/>
                <a:sym typeface="Courier New"/>
              </a:rPr>
              <a:t>0</a:t>
            </a:r>
            <a:r>
              <a:rPr lang="en-US" sz="1600">
                <a:solidFill>
                  <a:srgbClr val="339933"/>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548640" marR="0" rtl="0" algn="l">
              <a:lnSpc>
                <a:spcPct val="100000"/>
              </a:lnSpc>
              <a:spcBef>
                <a:spcPts val="0"/>
              </a:spcBef>
              <a:spcAft>
                <a:spcPts val="0"/>
              </a:spcAft>
              <a:buNone/>
            </a:pP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91440" marR="0" rtl="0" algn="l">
              <a:lnSpc>
                <a:spcPct val="100000"/>
              </a:lnSpc>
              <a:spcBef>
                <a:spcPts val="0"/>
              </a:spcBef>
              <a:spcAft>
                <a:spcPts val="0"/>
              </a:spcAft>
              <a:buNone/>
            </a:pPr>
            <a:r>
              <a:rPr lang="en-US" sz="1600">
                <a:solidFill>
                  <a:srgbClr val="009900"/>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9"/>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Constructeurs</a:t>
            </a:r>
            <a:endParaRPr/>
          </a:p>
        </p:txBody>
      </p:sp>
      <p:sp>
        <p:nvSpPr>
          <p:cNvPr id="344" name="Google Shape;344;p19"/>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29</a:t>
            </a:r>
            <a:endParaRPr sz="2000">
              <a:solidFill>
                <a:schemeClr val="dk1"/>
              </a:solidFill>
              <a:latin typeface="Verdana"/>
              <a:ea typeface="Verdana"/>
              <a:cs typeface="Verdana"/>
              <a:sym typeface="Verdana"/>
            </a:endParaRPr>
          </a:p>
        </p:txBody>
      </p:sp>
      <p:sp>
        <p:nvSpPr>
          <p:cNvPr id="345" name="Google Shape;345;p19"/>
          <p:cNvSpPr txBox="1"/>
          <p:nvPr/>
        </p:nvSpPr>
        <p:spPr>
          <a:xfrm>
            <a:off x="1615623" y="2025395"/>
            <a:ext cx="3676015" cy="3324225"/>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5400">
            <a:spAutoFit/>
          </a:bodyPr>
          <a:lstStyle/>
          <a:p>
            <a:pPr indent="0" lvl="0" marL="90805" marR="0" rtl="0" algn="l">
              <a:lnSpc>
                <a:spcPct val="100000"/>
              </a:lnSpc>
              <a:spcBef>
                <a:spcPts val="0"/>
              </a:spcBef>
              <a:spcAft>
                <a:spcPts val="0"/>
              </a:spcAft>
              <a:buNone/>
            </a:pPr>
            <a:r>
              <a:rPr b="1" lang="en-US" sz="1400">
                <a:solidFill>
                  <a:schemeClr val="dk1"/>
                </a:solidFill>
                <a:latin typeface="Courier New"/>
                <a:ea typeface="Courier New"/>
                <a:cs typeface="Courier New"/>
                <a:sym typeface="Courier New"/>
              </a:rPr>
              <a:t>class </a:t>
            </a:r>
            <a:r>
              <a:rPr lang="en-US" sz="1400">
                <a:solidFill>
                  <a:srgbClr val="003399"/>
                </a:solidFill>
                <a:latin typeface="Courier New"/>
                <a:ea typeface="Courier New"/>
                <a:cs typeface="Courier New"/>
                <a:sym typeface="Courier New"/>
              </a:rPr>
              <a:t>Point</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48005" marR="0" rtl="0" algn="l">
              <a:lnSpc>
                <a:spcPct val="100000"/>
              </a:lnSpc>
              <a:spcBef>
                <a:spcPts val="5"/>
              </a:spcBef>
              <a:spcAft>
                <a:spcPts val="0"/>
              </a:spcAft>
              <a:buNone/>
            </a:pPr>
            <a:r>
              <a:rPr i="1" lang="en-US" sz="1400">
                <a:solidFill>
                  <a:srgbClr val="666666"/>
                </a:solidFill>
                <a:latin typeface="Courier New"/>
                <a:ea typeface="Courier New"/>
                <a:cs typeface="Courier New"/>
                <a:sym typeface="Courier New"/>
              </a:rPr>
              <a:t>//ATTRIBUTS</a:t>
            </a:r>
            <a:endParaRPr sz="14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x</a:t>
            </a:r>
            <a:r>
              <a:rPr lang="en-US" sz="1400">
                <a:solidFill>
                  <a:srgbClr val="339933"/>
                </a:solidFill>
                <a:latin typeface="Courier New"/>
                <a:ea typeface="Courier New"/>
                <a:cs typeface="Courier New"/>
                <a:sym typeface="Courier New"/>
              </a:rPr>
              <a:t>; </a:t>
            </a:r>
            <a:r>
              <a:rPr b="1" lang="en-US" sz="1400">
                <a:solidFill>
                  <a:srgbClr val="000066"/>
                </a:solidFill>
                <a:latin typeface="Courier New"/>
                <a:ea typeface="Courier New"/>
                <a:cs typeface="Courier New"/>
                <a:sym typeface="Courier New"/>
              </a:rPr>
              <a:t>int </a:t>
            </a:r>
            <a:r>
              <a:rPr lang="en-US" sz="1400">
                <a:solidFill>
                  <a:srgbClr val="000066"/>
                </a:solidFill>
                <a:latin typeface="Courier New"/>
                <a:ea typeface="Courier New"/>
                <a:cs typeface="Courier New"/>
                <a:sym typeface="Courier New"/>
              </a:rPr>
              <a:t>y</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0" marR="0" rtl="0" algn="l">
              <a:lnSpc>
                <a:spcPct val="100000"/>
              </a:lnSpc>
              <a:spcBef>
                <a:spcPts val="35"/>
              </a:spcBef>
              <a:spcAft>
                <a:spcPts val="0"/>
              </a:spcAft>
              <a:buNone/>
            </a:pPr>
            <a:r>
              <a:t/>
            </a:r>
            <a:endParaRPr sz="145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i="1" lang="en-US" sz="1400">
                <a:solidFill>
                  <a:srgbClr val="666666"/>
                </a:solidFill>
                <a:latin typeface="Courier New"/>
                <a:ea typeface="Courier New"/>
                <a:cs typeface="Courier New"/>
                <a:sym typeface="Courier New"/>
              </a:rPr>
              <a:t>//Construteurs</a:t>
            </a:r>
            <a:endParaRPr sz="1400">
              <a:solidFill>
                <a:schemeClr val="dk1"/>
              </a:solidFill>
              <a:latin typeface="Courier New"/>
              <a:ea typeface="Courier New"/>
              <a:cs typeface="Courier New"/>
              <a:sym typeface="Courier New"/>
            </a:endParaRPr>
          </a:p>
          <a:p>
            <a:pPr indent="-457834" lvl="0" marL="1005840" marR="1525270" rtl="0" algn="l">
              <a:lnSpc>
                <a:spcPct val="100000"/>
              </a:lnSpc>
              <a:spcBef>
                <a:spcPts val="0"/>
              </a:spcBef>
              <a:spcAft>
                <a:spcPts val="0"/>
              </a:spcAft>
              <a:buNone/>
            </a:pPr>
            <a:r>
              <a:rPr lang="en-US" sz="1400">
                <a:solidFill>
                  <a:srgbClr val="000066"/>
                </a:solidFill>
                <a:latin typeface="Courier New"/>
                <a:ea typeface="Courier New"/>
                <a:cs typeface="Courier New"/>
                <a:sym typeface="Courier New"/>
              </a:rPr>
              <a:t>Point</a:t>
            </a:r>
            <a:r>
              <a:rPr lang="en-US" sz="1400">
                <a:solidFill>
                  <a:srgbClr val="009900"/>
                </a:solidFill>
                <a:latin typeface="Courier New"/>
                <a:ea typeface="Courier New"/>
                <a:cs typeface="Courier New"/>
                <a:sym typeface="Courier New"/>
              </a:rPr>
              <a:t>(</a:t>
            </a:r>
            <a:r>
              <a:rPr b="1" lang="en-US" sz="1400">
                <a:solidFill>
                  <a:srgbClr val="000066"/>
                </a:solidFill>
                <a:latin typeface="Courier New"/>
                <a:ea typeface="Courier New"/>
                <a:cs typeface="Courier New"/>
                <a:sym typeface="Courier New"/>
              </a:rPr>
              <a:t>Point p</a:t>
            </a:r>
            <a:r>
              <a:rPr lang="en-US" sz="1400">
                <a:solidFill>
                  <a:srgbClr val="009900"/>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x </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p.x</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005840" marR="0" rtl="0" algn="l">
              <a:lnSpc>
                <a:spcPct val="100000"/>
              </a:lnSpc>
              <a:spcBef>
                <a:spcPts val="0"/>
              </a:spcBef>
              <a:spcAft>
                <a:spcPts val="0"/>
              </a:spcAft>
              <a:buNone/>
            </a:pPr>
            <a:r>
              <a:rPr lang="en-US" sz="1400">
                <a:solidFill>
                  <a:srgbClr val="000066"/>
                </a:solidFill>
                <a:latin typeface="Courier New"/>
                <a:ea typeface="Courier New"/>
                <a:cs typeface="Courier New"/>
                <a:sym typeface="Courier New"/>
              </a:rPr>
              <a:t>y </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p.y</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48005" marR="0" rtl="0" algn="l">
              <a:lnSpc>
                <a:spcPct val="100000"/>
              </a:lnSpc>
              <a:spcBef>
                <a:spcPts val="5"/>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0" marR="0" rtl="0" algn="l">
              <a:lnSpc>
                <a:spcPct val="100000"/>
              </a:lnSpc>
              <a:spcBef>
                <a:spcPts val="35"/>
              </a:spcBef>
              <a:spcAft>
                <a:spcPts val="0"/>
              </a:spcAft>
              <a:buNone/>
            </a:pPr>
            <a:r>
              <a:t/>
            </a:r>
            <a:endParaRPr sz="1450">
              <a:solidFill>
                <a:schemeClr val="dk1"/>
              </a:solidFill>
              <a:latin typeface="Courier New"/>
              <a:ea typeface="Courier New"/>
              <a:cs typeface="Courier New"/>
              <a:sym typeface="Courier New"/>
            </a:endParaRPr>
          </a:p>
          <a:p>
            <a:pPr indent="-457834" lvl="0" marL="1005840" marR="779780" rtl="0" algn="l">
              <a:lnSpc>
                <a:spcPct val="100000"/>
              </a:lnSpc>
              <a:spcBef>
                <a:spcPts val="0"/>
              </a:spcBef>
              <a:spcAft>
                <a:spcPts val="0"/>
              </a:spcAft>
              <a:buNone/>
            </a:pPr>
            <a:r>
              <a:rPr lang="en-US" sz="1400">
                <a:solidFill>
                  <a:srgbClr val="000066"/>
                </a:solidFill>
                <a:latin typeface="Courier New"/>
                <a:ea typeface="Courier New"/>
                <a:cs typeface="Courier New"/>
                <a:sym typeface="Courier New"/>
              </a:rPr>
              <a:t>Point</a:t>
            </a:r>
            <a:r>
              <a:rPr lang="en-US" sz="1400">
                <a:solidFill>
                  <a:srgbClr val="009900"/>
                </a:solidFill>
                <a:latin typeface="Courier New"/>
                <a:ea typeface="Courier New"/>
                <a:cs typeface="Courier New"/>
                <a:sym typeface="Courier New"/>
              </a:rPr>
              <a:t>(</a:t>
            </a:r>
            <a:r>
              <a:rPr lang="en-US" sz="1400">
                <a:solidFill>
                  <a:srgbClr val="000066"/>
                </a:solidFill>
                <a:latin typeface="Courier New"/>
                <a:ea typeface="Courier New"/>
                <a:cs typeface="Courier New"/>
                <a:sym typeface="Courier New"/>
              </a:rPr>
              <a:t>int xx, int yy</a:t>
            </a:r>
            <a:r>
              <a:rPr lang="en-US" sz="1400">
                <a:solidFill>
                  <a:srgbClr val="009900"/>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x </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xx</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005840" marR="0" rtl="0" algn="l">
              <a:lnSpc>
                <a:spcPct val="100000"/>
              </a:lnSpc>
              <a:spcBef>
                <a:spcPts val="0"/>
              </a:spcBef>
              <a:spcAft>
                <a:spcPts val="0"/>
              </a:spcAft>
              <a:buNone/>
            </a:pPr>
            <a:r>
              <a:rPr lang="en-US" sz="1400">
                <a:solidFill>
                  <a:srgbClr val="000066"/>
                </a:solidFill>
                <a:latin typeface="Courier New"/>
                <a:ea typeface="Courier New"/>
                <a:cs typeface="Courier New"/>
                <a:sym typeface="Courier New"/>
              </a:rPr>
              <a:t>y </a:t>
            </a:r>
            <a:r>
              <a:rPr lang="en-US" sz="1400">
                <a:solidFill>
                  <a:srgbClr val="339933"/>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yy</a:t>
            </a:r>
            <a:r>
              <a:rPr lang="en-US" sz="1400">
                <a:solidFill>
                  <a:srgbClr val="339933"/>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90805" marR="0" rtl="0" algn="l">
              <a:lnSpc>
                <a:spcPct val="100000"/>
              </a:lnSpc>
              <a:spcBef>
                <a:spcPts val="5"/>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346" name="Google Shape;346;p19"/>
          <p:cNvSpPr/>
          <p:nvPr/>
        </p:nvSpPr>
        <p:spPr>
          <a:xfrm>
            <a:off x="5510968" y="2025395"/>
            <a:ext cx="5393690" cy="2677795"/>
          </a:xfrm>
          <a:custGeom>
            <a:rect b="b" l="l" r="r" t="t"/>
            <a:pathLst>
              <a:path extrusionOk="0" h="2677795" w="5393690">
                <a:moveTo>
                  <a:pt x="0" y="2677667"/>
                </a:moveTo>
                <a:lnTo>
                  <a:pt x="5393435" y="2677667"/>
                </a:lnTo>
                <a:lnTo>
                  <a:pt x="5393435" y="0"/>
                </a:lnTo>
                <a:lnTo>
                  <a:pt x="0" y="0"/>
                </a:lnTo>
                <a:lnTo>
                  <a:pt x="0" y="267766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9"/>
          <p:cNvSpPr txBox="1"/>
          <p:nvPr/>
        </p:nvSpPr>
        <p:spPr>
          <a:xfrm>
            <a:off x="5589961" y="2037969"/>
            <a:ext cx="5194300" cy="130683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400">
                <a:solidFill>
                  <a:schemeClr val="dk1"/>
                </a:solidFill>
                <a:latin typeface="Courier New"/>
                <a:ea typeface="Courier New"/>
                <a:cs typeface="Courier New"/>
                <a:sym typeface="Courier New"/>
              </a:rPr>
              <a:t>public class </a:t>
            </a:r>
            <a:r>
              <a:rPr lang="en-US" sz="1400">
                <a:solidFill>
                  <a:srgbClr val="000066"/>
                </a:solidFill>
                <a:latin typeface="Courier New"/>
                <a:ea typeface="Courier New"/>
                <a:cs typeface="Courier New"/>
                <a:sym typeface="Courier New"/>
              </a:rPr>
              <a:t>Test</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914400" lvl="0" marL="1841500" marR="5080" rtl="0" algn="l">
              <a:lnSpc>
                <a:spcPct val="100000"/>
              </a:lnSpc>
              <a:spcBef>
                <a:spcPts val="0"/>
              </a:spcBef>
              <a:spcAft>
                <a:spcPts val="0"/>
              </a:spcAft>
              <a:buNone/>
            </a:pPr>
            <a:r>
              <a:rPr b="1" lang="en-US" sz="1400">
                <a:solidFill>
                  <a:schemeClr val="dk1"/>
                </a:solidFill>
                <a:latin typeface="Courier New"/>
                <a:ea typeface="Courier New"/>
                <a:cs typeface="Courier New"/>
                <a:sym typeface="Courier New"/>
              </a:rPr>
              <a:t>public static </a:t>
            </a:r>
            <a:r>
              <a:rPr b="1" lang="en-US" sz="1400">
                <a:solidFill>
                  <a:srgbClr val="000066"/>
                </a:solidFill>
                <a:latin typeface="Courier New"/>
                <a:ea typeface="Courier New"/>
                <a:cs typeface="Courier New"/>
                <a:sym typeface="Courier New"/>
              </a:rPr>
              <a:t>void </a:t>
            </a:r>
            <a:r>
              <a:rPr lang="en-US" sz="1400">
                <a:solidFill>
                  <a:srgbClr val="000066"/>
                </a:solidFill>
                <a:latin typeface="Courier New"/>
                <a:ea typeface="Courier New"/>
                <a:cs typeface="Courier New"/>
                <a:sym typeface="Courier New"/>
              </a:rPr>
              <a:t>main </a:t>
            </a:r>
            <a:r>
              <a:rPr lang="en-US" sz="1400">
                <a:solidFill>
                  <a:srgbClr val="009900"/>
                </a:solidFill>
                <a:latin typeface="Courier New"/>
                <a:ea typeface="Courier New"/>
                <a:cs typeface="Courier New"/>
                <a:sym typeface="Courier New"/>
              </a:rPr>
              <a:t>(</a:t>
            </a:r>
            <a:r>
              <a:rPr lang="en-US" sz="1400">
                <a:solidFill>
                  <a:srgbClr val="003399"/>
                </a:solidFill>
                <a:latin typeface="Courier New"/>
                <a:ea typeface="Courier New"/>
                <a:cs typeface="Courier New"/>
                <a:sym typeface="Courier New"/>
              </a:rPr>
              <a:t>String</a:t>
            </a:r>
            <a:r>
              <a:rPr lang="en-US" sz="1400">
                <a:solidFill>
                  <a:srgbClr val="009900"/>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args</a:t>
            </a:r>
            <a:r>
              <a:rPr lang="en-US" sz="1400">
                <a:solidFill>
                  <a:srgbClr val="009900"/>
                </a:solidFill>
                <a:latin typeface="Courier New"/>
                <a:ea typeface="Courier New"/>
                <a:cs typeface="Courier New"/>
                <a:sym typeface="Courier New"/>
              </a:rPr>
              <a:t>){ </a:t>
            </a:r>
            <a:r>
              <a:rPr lang="en-US" sz="1400">
                <a:solidFill>
                  <a:srgbClr val="003399"/>
                </a:solidFill>
                <a:latin typeface="Courier New"/>
                <a:ea typeface="Courier New"/>
                <a:cs typeface="Courier New"/>
                <a:sym typeface="Courier New"/>
              </a:rPr>
              <a:t>int a = 8;</a:t>
            </a:r>
            <a:endParaRPr sz="1400">
              <a:solidFill>
                <a:schemeClr val="dk1"/>
              </a:solidFill>
              <a:latin typeface="Courier New"/>
              <a:ea typeface="Courier New"/>
              <a:cs typeface="Courier New"/>
              <a:sym typeface="Courier New"/>
            </a:endParaRPr>
          </a:p>
          <a:p>
            <a:pPr indent="0" lvl="0" marL="1841500" marR="0" rtl="0" algn="l">
              <a:lnSpc>
                <a:spcPct val="100000"/>
              </a:lnSpc>
              <a:spcBef>
                <a:spcPts val="0"/>
              </a:spcBef>
              <a:spcAft>
                <a:spcPts val="0"/>
              </a:spcAft>
              <a:buNone/>
            </a:pPr>
            <a:r>
              <a:rPr lang="en-US" sz="1400">
                <a:solidFill>
                  <a:srgbClr val="003399"/>
                </a:solidFill>
                <a:latin typeface="Courier New"/>
                <a:ea typeface="Courier New"/>
                <a:cs typeface="Courier New"/>
                <a:sym typeface="Courier New"/>
              </a:rPr>
              <a:t>int b = 4;</a:t>
            </a:r>
            <a:endParaRPr sz="1400">
              <a:solidFill>
                <a:schemeClr val="dk1"/>
              </a:solidFill>
              <a:latin typeface="Courier New"/>
              <a:ea typeface="Courier New"/>
              <a:cs typeface="Courier New"/>
              <a:sym typeface="Courier New"/>
            </a:endParaRPr>
          </a:p>
          <a:p>
            <a:pPr indent="0" lvl="0" marL="1841500" marR="469900" rtl="0" algn="l">
              <a:lnSpc>
                <a:spcPct val="100000"/>
              </a:lnSpc>
              <a:spcBef>
                <a:spcPts val="0"/>
              </a:spcBef>
              <a:spcAft>
                <a:spcPts val="0"/>
              </a:spcAft>
              <a:buNone/>
            </a:pPr>
            <a:r>
              <a:rPr lang="en-US" sz="1400">
                <a:solidFill>
                  <a:srgbClr val="003399"/>
                </a:solidFill>
                <a:latin typeface="Courier New"/>
                <a:ea typeface="Courier New"/>
                <a:cs typeface="Courier New"/>
                <a:sym typeface="Courier New"/>
              </a:rPr>
              <a:t>Point p1 = new Point(a, b); Point p2 = new Point (p1);</a:t>
            </a:r>
            <a:endParaRPr sz="1400">
              <a:solidFill>
                <a:schemeClr val="dk1"/>
              </a:solidFill>
              <a:latin typeface="Courier New"/>
              <a:ea typeface="Courier New"/>
              <a:cs typeface="Courier New"/>
              <a:sym typeface="Courier New"/>
            </a:endParaRPr>
          </a:p>
        </p:txBody>
      </p:sp>
      <p:sp>
        <p:nvSpPr>
          <p:cNvPr id="348" name="Google Shape;348;p19"/>
          <p:cNvSpPr txBox="1"/>
          <p:nvPr/>
        </p:nvSpPr>
        <p:spPr>
          <a:xfrm>
            <a:off x="7419143" y="3531565"/>
            <a:ext cx="2687955" cy="4533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rgbClr val="003399"/>
                </a:solidFill>
                <a:latin typeface="Courier New"/>
                <a:ea typeface="Courier New"/>
                <a:cs typeface="Courier New"/>
                <a:sym typeface="Courier New"/>
              </a:rPr>
              <a:t>System.out.println(p1.x);</a:t>
            </a:r>
            <a:endParaRPr sz="1400">
              <a:solidFill>
                <a:schemeClr val="dk1"/>
              </a:solidFill>
              <a:latin typeface="Courier New"/>
              <a:ea typeface="Courier New"/>
              <a:cs typeface="Courier New"/>
              <a:sym typeface="Courier New"/>
            </a:endParaRPr>
          </a:p>
          <a:p>
            <a:pPr indent="0" lvl="0" marL="12700" marR="0" rtl="0" algn="l">
              <a:lnSpc>
                <a:spcPct val="100000"/>
              </a:lnSpc>
              <a:spcBef>
                <a:spcPts val="0"/>
              </a:spcBef>
              <a:spcAft>
                <a:spcPts val="0"/>
              </a:spcAft>
              <a:buNone/>
            </a:pPr>
            <a:r>
              <a:rPr lang="en-US" sz="1400">
                <a:solidFill>
                  <a:srgbClr val="003399"/>
                </a:solidFill>
                <a:latin typeface="Courier New"/>
                <a:ea typeface="Courier New"/>
                <a:cs typeface="Courier New"/>
                <a:sym typeface="Courier New"/>
              </a:rPr>
              <a:t>System.out.println(p2.x);</a:t>
            </a:r>
            <a:endParaRPr sz="1400">
              <a:solidFill>
                <a:schemeClr val="dk1"/>
              </a:solidFill>
              <a:latin typeface="Courier New"/>
              <a:ea typeface="Courier New"/>
              <a:cs typeface="Courier New"/>
              <a:sym typeface="Courier New"/>
            </a:endParaRPr>
          </a:p>
        </p:txBody>
      </p:sp>
      <p:sp>
        <p:nvSpPr>
          <p:cNvPr id="349" name="Google Shape;349;p19"/>
          <p:cNvSpPr txBox="1"/>
          <p:nvPr/>
        </p:nvSpPr>
        <p:spPr>
          <a:xfrm>
            <a:off x="6504743" y="4172203"/>
            <a:ext cx="132715"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350" name="Google Shape;350;p19"/>
          <p:cNvSpPr txBox="1"/>
          <p:nvPr/>
        </p:nvSpPr>
        <p:spPr>
          <a:xfrm>
            <a:off x="5589961" y="4385564"/>
            <a:ext cx="132715"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351" name="Google Shape;351;p19"/>
          <p:cNvSpPr txBox="1"/>
          <p:nvPr/>
        </p:nvSpPr>
        <p:spPr>
          <a:xfrm>
            <a:off x="8633012" y="5008558"/>
            <a:ext cx="79337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8</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8</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Le mot clé this</a:t>
            </a:r>
            <a:endParaRPr/>
          </a:p>
        </p:txBody>
      </p:sp>
      <p:sp>
        <p:nvSpPr>
          <p:cNvPr id="357" name="Google Shape;357;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just">
              <a:lnSpc>
                <a:spcPct val="90000"/>
              </a:lnSpc>
              <a:spcBef>
                <a:spcPts val="0"/>
              </a:spcBef>
              <a:spcAft>
                <a:spcPts val="0"/>
              </a:spcAft>
              <a:buSzPts val="2000"/>
              <a:buFont typeface="Noto Sans Symbols"/>
              <a:buChar char="▪"/>
            </a:pPr>
            <a:r>
              <a:rPr lang="en-US"/>
              <a:t> </a:t>
            </a:r>
            <a:r>
              <a:rPr lang="en-US" sz="2400">
                <a:solidFill>
                  <a:schemeClr val="dk1"/>
                </a:solidFill>
              </a:rPr>
              <a:t>L’accesseur </a:t>
            </a:r>
            <a:r>
              <a:rPr b="1" lang="en-US" sz="2400">
                <a:solidFill>
                  <a:srgbClr val="FF0000"/>
                </a:solidFill>
              </a:rPr>
              <a:t>this</a:t>
            </a:r>
            <a:r>
              <a:rPr lang="en-US" sz="2400">
                <a:solidFill>
                  <a:srgbClr val="FF0000"/>
                </a:solidFill>
              </a:rPr>
              <a:t> </a:t>
            </a:r>
            <a:r>
              <a:rPr lang="en-US" sz="2400">
                <a:solidFill>
                  <a:schemeClr val="dk1"/>
                </a:solidFill>
              </a:rPr>
              <a:t>d'une classe se réfère à l'instance de l'objet en cours de traitement. </a:t>
            </a:r>
            <a:endParaRPr sz="2400">
              <a:solidFill>
                <a:schemeClr val="dk1"/>
              </a:solidFill>
            </a:endParaRPr>
          </a:p>
          <a:p>
            <a:pPr indent="-152400" lvl="0" marL="91440" rtl="0" algn="just">
              <a:lnSpc>
                <a:spcPct val="90000"/>
              </a:lnSpc>
              <a:spcBef>
                <a:spcPts val="1400"/>
              </a:spcBef>
              <a:spcAft>
                <a:spcPts val="0"/>
              </a:spcAft>
              <a:buSzPts val="2400"/>
              <a:buFont typeface="Noto Sans Symbols"/>
              <a:buChar char="▪"/>
            </a:pPr>
            <a:r>
              <a:rPr lang="en-US" sz="2400">
                <a:solidFill>
                  <a:schemeClr val="dk1"/>
                </a:solidFill>
              </a:rPr>
              <a:t> Il peut être utilisé :</a:t>
            </a:r>
            <a:endParaRPr/>
          </a:p>
          <a:p>
            <a:pPr indent="-152400" lvl="0" marL="444500" rtl="0" algn="just">
              <a:lnSpc>
                <a:spcPct val="90000"/>
              </a:lnSpc>
              <a:spcBef>
                <a:spcPts val="1400"/>
              </a:spcBef>
              <a:spcAft>
                <a:spcPts val="0"/>
              </a:spcAft>
              <a:buSzPts val="2400"/>
              <a:buFont typeface="Noto Sans Symbols"/>
              <a:buChar char="⮚"/>
            </a:pPr>
            <a:r>
              <a:rPr lang="en-US" sz="2400">
                <a:solidFill>
                  <a:schemeClr val="dk1"/>
                </a:solidFill>
              </a:rPr>
              <a:t> Dans un constructeur </a:t>
            </a:r>
            <a:endParaRPr sz="2400">
              <a:solidFill>
                <a:schemeClr val="dk1"/>
              </a:solidFill>
            </a:endParaRPr>
          </a:p>
          <a:p>
            <a:pPr indent="-152400" lvl="0" marL="444500" rtl="0" algn="just">
              <a:lnSpc>
                <a:spcPct val="90000"/>
              </a:lnSpc>
              <a:spcBef>
                <a:spcPts val="1400"/>
              </a:spcBef>
              <a:spcAft>
                <a:spcPts val="0"/>
              </a:spcAft>
              <a:buSzPts val="2400"/>
              <a:buFont typeface="Noto Sans Symbols"/>
              <a:buChar char="⮚"/>
            </a:pPr>
            <a:r>
              <a:rPr lang="en-US" sz="2400">
                <a:solidFill>
                  <a:schemeClr val="dk1"/>
                </a:solidFill>
              </a:rPr>
              <a:t>Pour retourner une référence à l'objet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1"/>
          <p:cNvSpPr txBox="1"/>
          <p:nvPr>
            <p:ph type="title"/>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rgbClr val="3F3F3F"/>
              </a:buClr>
              <a:buSzPts val="4800"/>
              <a:buFont typeface="Calibri"/>
              <a:buNone/>
            </a:pPr>
            <a:r>
              <a:rPr lang="en-US"/>
              <a:t>Le mot clé this</a:t>
            </a:r>
            <a:endParaRPr/>
          </a:p>
        </p:txBody>
      </p:sp>
      <p:sp>
        <p:nvSpPr>
          <p:cNvPr id="363" name="Google Shape;363;p21"/>
          <p:cNvSpPr txBox="1"/>
          <p:nvPr/>
        </p:nvSpPr>
        <p:spPr>
          <a:xfrm>
            <a:off x="1232282" y="2018304"/>
            <a:ext cx="9162294" cy="2240998"/>
          </a:xfrm>
          <a:prstGeom prst="rect">
            <a:avLst/>
          </a:prstGeom>
          <a:noFill/>
          <a:ln>
            <a:noFill/>
          </a:ln>
        </p:spPr>
        <p:txBody>
          <a:bodyPr anchorCtr="0" anchor="t" bIns="0" lIns="0" spcFirstLastPara="1" rIns="0" wrap="square" tIns="156825">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Exemple: Lever l’ambiguïté entre l’attribut et le paramètre</a:t>
            </a:r>
            <a:endParaRPr sz="2400">
              <a:solidFill>
                <a:schemeClr val="dk1"/>
              </a:solidFill>
              <a:latin typeface="Calibri"/>
              <a:ea typeface="Calibri"/>
              <a:cs typeface="Calibri"/>
              <a:sym typeface="Calibri"/>
            </a:endParaRPr>
          </a:p>
          <a:p>
            <a:pPr indent="-342900" lvl="0" marL="812800" marR="0" rtl="0" algn="just">
              <a:lnSpc>
                <a:spcPct val="100000"/>
              </a:lnSpc>
              <a:spcBef>
                <a:spcPts val="1005"/>
              </a:spcBef>
              <a:spcAft>
                <a:spcPts val="0"/>
              </a:spcAft>
              <a:buClr>
                <a:srgbClr val="404040"/>
              </a:buClr>
              <a:buSzPts val="2000"/>
              <a:buFont typeface="Noto Sans Symbols"/>
              <a:buChar char="▪"/>
            </a:pPr>
            <a:r>
              <a:rPr lang="en-US" sz="2000">
                <a:solidFill>
                  <a:srgbClr val="404040"/>
                </a:solidFill>
                <a:latin typeface="Calibri"/>
                <a:ea typeface="Calibri"/>
                <a:cs typeface="Calibri"/>
                <a:sym typeface="Calibri"/>
              </a:rPr>
              <a:t>Un paramètre peut avoir le même nom qu’un attribut</a:t>
            </a:r>
            <a:endParaRPr sz="2000">
              <a:solidFill>
                <a:schemeClr val="dk1"/>
              </a:solidFill>
              <a:latin typeface="Calibri"/>
              <a:ea typeface="Calibri"/>
              <a:cs typeface="Calibri"/>
              <a:sym typeface="Calibri"/>
            </a:endParaRPr>
          </a:p>
          <a:p>
            <a:pPr indent="-342900" lvl="0" marL="812800" marR="0" rtl="0" algn="just">
              <a:lnSpc>
                <a:spcPct val="100000"/>
              </a:lnSpc>
              <a:spcBef>
                <a:spcPts val="994"/>
              </a:spcBef>
              <a:spcAft>
                <a:spcPts val="0"/>
              </a:spcAft>
              <a:buClr>
                <a:srgbClr val="404040"/>
              </a:buClr>
              <a:buSzPts val="2000"/>
              <a:buFont typeface="Noto Sans Symbols"/>
              <a:buChar char="▪"/>
            </a:pPr>
            <a:r>
              <a:rPr lang="en-US" sz="2000">
                <a:solidFill>
                  <a:srgbClr val="404040"/>
                </a:solidFill>
                <a:latin typeface="Calibri"/>
                <a:ea typeface="Calibri"/>
                <a:cs typeface="Calibri"/>
                <a:sym typeface="Calibri"/>
              </a:rPr>
              <a:t>Pour les différencier on précède l’attribut par </a:t>
            </a:r>
            <a:r>
              <a:rPr b="1" i="1" lang="en-US" sz="2000">
                <a:solidFill>
                  <a:srgbClr val="5B9BD4"/>
                </a:solidFill>
                <a:latin typeface="Calibri"/>
                <a:ea typeface="Calibri"/>
                <a:cs typeface="Calibri"/>
                <a:sym typeface="Calibri"/>
              </a:rPr>
              <a:t>this.</a:t>
            </a:r>
            <a:endParaRPr sz="2000">
              <a:solidFill>
                <a:schemeClr val="dk1"/>
              </a:solidFill>
              <a:latin typeface="Calibri"/>
              <a:ea typeface="Calibri"/>
              <a:cs typeface="Calibri"/>
              <a:sym typeface="Calibri"/>
            </a:endParaRPr>
          </a:p>
          <a:p>
            <a:pPr indent="-285750" lvl="0" marL="1212850" marR="0" rtl="0" algn="just">
              <a:lnSpc>
                <a:spcPct val="100000"/>
              </a:lnSpc>
              <a:spcBef>
                <a:spcPts val="1005"/>
              </a:spcBef>
              <a:spcAft>
                <a:spcPts val="0"/>
              </a:spcAft>
              <a:buClr>
                <a:srgbClr val="5B9BD4"/>
              </a:buClr>
              <a:buSzPts val="1800"/>
              <a:buFont typeface="Noto Sans Symbols"/>
              <a:buChar char="⮚"/>
            </a:pPr>
            <a:r>
              <a:rPr b="1" lang="en-US" sz="1800">
                <a:solidFill>
                  <a:srgbClr val="5B9BD4"/>
                </a:solidFill>
                <a:latin typeface="Calibri"/>
                <a:ea typeface="Calibri"/>
                <a:cs typeface="Calibri"/>
                <a:sym typeface="Calibri"/>
              </a:rPr>
              <a:t>this </a:t>
            </a:r>
            <a:r>
              <a:rPr lang="en-US" sz="1800">
                <a:solidFill>
                  <a:srgbClr val="404040"/>
                </a:solidFill>
                <a:latin typeface="Calibri"/>
                <a:ea typeface="Calibri"/>
                <a:cs typeface="Calibri"/>
                <a:sym typeface="Calibri"/>
              </a:rPr>
              <a:t>fait référence à l’objet courant</a:t>
            </a:r>
            <a:endParaRPr sz="1800">
              <a:solidFill>
                <a:schemeClr val="dk1"/>
              </a:solidFill>
              <a:latin typeface="Calibri"/>
              <a:ea typeface="Calibri"/>
              <a:cs typeface="Calibri"/>
              <a:sym typeface="Calibri"/>
            </a:endParaRPr>
          </a:p>
          <a:p>
            <a:pPr indent="-342900" lvl="0" marL="812800" marR="0" rtl="0" algn="just">
              <a:lnSpc>
                <a:spcPct val="100000"/>
              </a:lnSpc>
              <a:spcBef>
                <a:spcPts val="1000"/>
              </a:spcBef>
              <a:spcAft>
                <a:spcPts val="0"/>
              </a:spcAft>
              <a:buClr>
                <a:srgbClr val="404040"/>
              </a:buClr>
              <a:buSzPts val="2000"/>
              <a:buFont typeface="Noto Sans Symbols"/>
              <a:buChar char="▪"/>
            </a:pPr>
            <a:r>
              <a:rPr lang="en-US" sz="2000">
                <a:solidFill>
                  <a:srgbClr val="404040"/>
                </a:solidFill>
                <a:latin typeface="Calibri"/>
                <a:ea typeface="Calibri"/>
                <a:cs typeface="Calibri"/>
                <a:sym typeface="Calibri"/>
              </a:rPr>
              <a:t>Dans le constructeur</a:t>
            </a:r>
            <a:endParaRPr sz="2000">
              <a:solidFill>
                <a:schemeClr val="dk1"/>
              </a:solidFill>
              <a:latin typeface="Calibri"/>
              <a:ea typeface="Calibri"/>
              <a:cs typeface="Calibri"/>
              <a:sym typeface="Calibri"/>
            </a:endParaRPr>
          </a:p>
        </p:txBody>
      </p:sp>
      <p:sp>
        <p:nvSpPr>
          <p:cNvPr id="364" name="Google Shape;364;p21"/>
          <p:cNvSpPr txBox="1"/>
          <p:nvPr/>
        </p:nvSpPr>
        <p:spPr>
          <a:xfrm>
            <a:off x="3125470" y="4263009"/>
            <a:ext cx="2234438" cy="1256113"/>
          </a:xfrm>
          <a:prstGeom prst="rect">
            <a:avLst/>
          </a:prstGeom>
          <a:noFill/>
          <a:ln>
            <a:noFill/>
          </a:ln>
        </p:spPr>
        <p:txBody>
          <a:bodyPr anchorCtr="0" anchor="t" bIns="0" lIns="0" spcFirstLastPara="1" rIns="0" wrap="square" tIns="12050">
            <a:spAutoFit/>
          </a:bodyPr>
          <a:lstStyle/>
          <a:p>
            <a:pPr indent="-457200" lvl="0" marL="469900" marR="5080" rtl="0" algn="l">
              <a:lnSpc>
                <a:spcPct val="100000"/>
              </a:lnSpc>
              <a:spcBef>
                <a:spcPts val="0"/>
              </a:spcBef>
              <a:spcAft>
                <a:spcPts val="0"/>
              </a:spcAft>
              <a:buNone/>
            </a:pPr>
            <a:r>
              <a:rPr b="1" lang="en-US" sz="2000">
                <a:solidFill>
                  <a:srgbClr val="5B9BD4"/>
                </a:solidFill>
                <a:latin typeface="Calibri"/>
                <a:ea typeface="Calibri"/>
                <a:cs typeface="Calibri"/>
                <a:sym typeface="Calibri"/>
              </a:rPr>
              <a:t>point (int x, int y)   { </a:t>
            </a:r>
            <a:endParaRPr b="1" sz="2000">
              <a:solidFill>
                <a:srgbClr val="5B9BD4"/>
              </a:solidFill>
              <a:latin typeface="Calibri"/>
              <a:ea typeface="Calibri"/>
              <a:cs typeface="Calibri"/>
              <a:sym typeface="Calibri"/>
            </a:endParaRPr>
          </a:p>
          <a:p>
            <a:pPr indent="-457200" lvl="0" marL="469900" marR="5080" rtl="0" algn="l">
              <a:lnSpc>
                <a:spcPct val="100000"/>
              </a:lnSpc>
              <a:spcBef>
                <a:spcPts val="95"/>
              </a:spcBef>
              <a:spcAft>
                <a:spcPts val="0"/>
              </a:spcAft>
              <a:buNone/>
            </a:pPr>
            <a:r>
              <a:rPr b="1" lang="en-US" sz="2000">
                <a:solidFill>
                  <a:srgbClr val="5B9BD4"/>
                </a:solidFill>
                <a:latin typeface="Calibri"/>
                <a:ea typeface="Calibri"/>
                <a:cs typeface="Calibri"/>
                <a:sym typeface="Calibri"/>
              </a:rPr>
              <a:t>             x = x;</a:t>
            </a:r>
            <a:endParaRPr sz="200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b="1" lang="en-US" sz="2000">
                <a:solidFill>
                  <a:srgbClr val="5B9BD4"/>
                </a:solidFill>
                <a:latin typeface="Calibri"/>
                <a:ea typeface="Calibri"/>
                <a:cs typeface="Calibri"/>
                <a:sym typeface="Calibri"/>
              </a:rPr>
              <a:t>y = y;</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000">
                <a:solidFill>
                  <a:srgbClr val="5B9BD4"/>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365" name="Google Shape;365;p21"/>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26</a:t>
            </a:r>
            <a:endParaRPr sz="2000">
              <a:solidFill>
                <a:schemeClr val="dk1"/>
              </a:solidFill>
              <a:latin typeface="Verdana"/>
              <a:ea typeface="Verdana"/>
              <a:cs typeface="Verdana"/>
              <a:sym typeface="Verdana"/>
            </a:endParaRPr>
          </a:p>
        </p:txBody>
      </p:sp>
      <p:sp>
        <p:nvSpPr>
          <p:cNvPr id="366" name="Google Shape;366;p21"/>
          <p:cNvSpPr txBox="1"/>
          <p:nvPr/>
        </p:nvSpPr>
        <p:spPr>
          <a:xfrm>
            <a:off x="7879417" y="4259302"/>
            <a:ext cx="1934210" cy="1256754"/>
          </a:xfrm>
          <a:prstGeom prst="rect">
            <a:avLst/>
          </a:prstGeom>
          <a:noFill/>
          <a:ln>
            <a:noFill/>
          </a:ln>
        </p:spPr>
        <p:txBody>
          <a:bodyPr anchorCtr="0" anchor="t" bIns="0" lIns="0" spcFirstLastPara="1" rIns="0" wrap="square" tIns="12700">
            <a:spAutoFit/>
          </a:bodyPr>
          <a:lstStyle/>
          <a:p>
            <a:pPr indent="-457200" lvl="0" marL="469900" marR="5080" rtl="0" algn="l">
              <a:lnSpc>
                <a:spcPct val="100000"/>
              </a:lnSpc>
              <a:spcBef>
                <a:spcPts val="0"/>
              </a:spcBef>
              <a:spcAft>
                <a:spcPts val="0"/>
              </a:spcAft>
              <a:buNone/>
            </a:pPr>
            <a:r>
              <a:rPr b="1" lang="en-US" sz="2000">
                <a:solidFill>
                  <a:srgbClr val="5B9BD4"/>
                </a:solidFill>
                <a:latin typeface="Calibri"/>
                <a:ea typeface="Calibri"/>
                <a:cs typeface="Calibri"/>
                <a:sym typeface="Calibri"/>
              </a:rPr>
              <a:t>point (int x, int y)   { this.x = x; </a:t>
            </a:r>
            <a:endParaRPr b="1" sz="2000">
              <a:solidFill>
                <a:srgbClr val="5B9BD4"/>
              </a:solidFill>
              <a:latin typeface="Calibri"/>
              <a:ea typeface="Calibri"/>
              <a:cs typeface="Calibri"/>
              <a:sym typeface="Calibri"/>
            </a:endParaRPr>
          </a:p>
          <a:p>
            <a:pPr indent="-457200" lvl="0" marL="469900" marR="5080" rtl="0" algn="l">
              <a:lnSpc>
                <a:spcPct val="100000"/>
              </a:lnSpc>
              <a:spcBef>
                <a:spcPts val="100"/>
              </a:spcBef>
              <a:spcAft>
                <a:spcPts val="0"/>
              </a:spcAft>
              <a:buNone/>
            </a:pPr>
            <a:r>
              <a:rPr b="1" lang="en-US" sz="2000">
                <a:solidFill>
                  <a:srgbClr val="5B9BD4"/>
                </a:solidFill>
                <a:latin typeface="Calibri"/>
                <a:ea typeface="Calibri"/>
                <a:cs typeface="Calibri"/>
                <a:sym typeface="Calibri"/>
              </a:rPr>
              <a:t>        this.y = y;</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000">
                <a:solidFill>
                  <a:srgbClr val="5B9BD4"/>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grpSp>
        <p:nvGrpSpPr>
          <p:cNvPr id="367" name="Google Shape;367;p21"/>
          <p:cNvGrpSpPr/>
          <p:nvPr/>
        </p:nvGrpSpPr>
        <p:grpSpPr>
          <a:xfrm>
            <a:off x="5320284" y="4547615"/>
            <a:ext cx="2244852" cy="428244"/>
            <a:chOff x="5320284" y="4547615"/>
            <a:chExt cx="2244852" cy="428244"/>
          </a:xfrm>
        </p:grpSpPr>
        <p:pic>
          <p:nvPicPr>
            <p:cNvPr id="368" name="Google Shape;368;p21"/>
            <p:cNvPicPr preferRelativeResize="0"/>
            <p:nvPr/>
          </p:nvPicPr>
          <p:blipFill rotWithShape="1">
            <a:blip r:embed="rId3">
              <a:alphaModFix/>
            </a:blip>
            <a:srcRect b="0" l="0" r="0" t="0"/>
            <a:stretch/>
          </p:blipFill>
          <p:spPr>
            <a:xfrm>
              <a:off x="5320284" y="4547615"/>
              <a:ext cx="2244852" cy="428244"/>
            </a:xfrm>
            <a:prstGeom prst="rect">
              <a:avLst/>
            </a:prstGeom>
            <a:noFill/>
            <a:ln>
              <a:noFill/>
            </a:ln>
          </p:spPr>
        </p:pic>
        <p:sp>
          <p:nvSpPr>
            <p:cNvPr id="369" name="Google Shape;369;p21"/>
            <p:cNvSpPr/>
            <p:nvPr/>
          </p:nvSpPr>
          <p:spPr>
            <a:xfrm>
              <a:off x="5359908" y="4649723"/>
              <a:ext cx="1991360" cy="173990"/>
            </a:xfrm>
            <a:custGeom>
              <a:rect b="b" l="l" r="r" t="t"/>
              <a:pathLst>
                <a:path extrusionOk="0" h="173989" w="1991359">
                  <a:moveTo>
                    <a:pt x="1817369" y="0"/>
                  </a:moveTo>
                  <a:lnTo>
                    <a:pt x="1817369" y="173736"/>
                  </a:lnTo>
                  <a:lnTo>
                    <a:pt x="1933193" y="115824"/>
                  </a:lnTo>
                  <a:lnTo>
                    <a:pt x="1846325" y="115824"/>
                  </a:lnTo>
                  <a:lnTo>
                    <a:pt x="1857601" y="113549"/>
                  </a:lnTo>
                  <a:lnTo>
                    <a:pt x="1866804" y="107346"/>
                  </a:lnTo>
                  <a:lnTo>
                    <a:pt x="1873007" y="98143"/>
                  </a:lnTo>
                  <a:lnTo>
                    <a:pt x="1875282" y="86868"/>
                  </a:lnTo>
                  <a:lnTo>
                    <a:pt x="1873007" y="75592"/>
                  </a:lnTo>
                  <a:lnTo>
                    <a:pt x="1866804" y="66389"/>
                  </a:lnTo>
                  <a:lnTo>
                    <a:pt x="1857601" y="60186"/>
                  </a:lnTo>
                  <a:lnTo>
                    <a:pt x="1846325" y="57912"/>
                  </a:lnTo>
                  <a:lnTo>
                    <a:pt x="1933193" y="57912"/>
                  </a:lnTo>
                  <a:lnTo>
                    <a:pt x="1817369" y="0"/>
                  </a:lnTo>
                  <a:close/>
                </a:path>
                <a:path extrusionOk="0" h="173989" w="1991359">
                  <a:moveTo>
                    <a:pt x="1817369" y="57912"/>
                  </a:moveTo>
                  <a:lnTo>
                    <a:pt x="28955" y="57912"/>
                  </a:lnTo>
                  <a:lnTo>
                    <a:pt x="17680" y="60186"/>
                  </a:lnTo>
                  <a:lnTo>
                    <a:pt x="8477" y="66389"/>
                  </a:lnTo>
                  <a:lnTo>
                    <a:pt x="2274" y="75592"/>
                  </a:lnTo>
                  <a:lnTo>
                    <a:pt x="0" y="86868"/>
                  </a:lnTo>
                  <a:lnTo>
                    <a:pt x="2274" y="98143"/>
                  </a:lnTo>
                  <a:lnTo>
                    <a:pt x="8477" y="107346"/>
                  </a:lnTo>
                  <a:lnTo>
                    <a:pt x="17680" y="113549"/>
                  </a:lnTo>
                  <a:lnTo>
                    <a:pt x="28955" y="115824"/>
                  </a:lnTo>
                  <a:lnTo>
                    <a:pt x="1817369" y="115824"/>
                  </a:lnTo>
                  <a:lnTo>
                    <a:pt x="1817369" y="57912"/>
                  </a:lnTo>
                  <a:close/>
                </a:path>
                <a:path extrusionOk="0" h="173989" w="1991359">
                  <a:moveTo>
                    <a:pt x="1933193" y="57912"/>
                  </a:moveTo>
                  <a:lnTo>
                    <a:pt x="1846325" y="57912"/>
                  </a:lnTo>
                  <a:lnTo>
                    <a:pt x="1857601" y="60186"/>
                  </a:lnTo>
                  <a:lnTo>
                    <a:pt x="1866804" y="66389"/>
                  </a:lnTo>
                  <a:lnTo>
                    <a:pt x="1873007" y="75592"/>
                  </a:lnTo>
                  <a:lnTo>
                    <a:pt x="1875282" y="86868"/>
                  </a:lnTo>
                  <a:lnTo>
                    <a:pt x="1873007" y="98143"/>
                  </a:lnTo>
                  <a:lnTo>
                    <a:pt x="1866804" y="107346"/>
                  </a:lnTo>
                  <a:lnTo>
                    <a:pt x="1857601" y="113549"/>
                  </a:lnTo>
                  <a:lnTo>
                    <a:pt x="1846325" y="115824"/>
                  </a:lnTo>
                  <a:lnTo>
                    <a:pt x="1933193" y="115824"/>
                  </a:lnTo>
                  <a:lnTo>
                    <a:pt x="1991106" y="86868"/>
                  </a:lnTo>
                  <a:lnTo>
                    <a:pt x="1933193" y="57912"/>
                  </a:lnTo>
                  <a:close/>
                </a:path>
              </a:pathLst>
            </a:custGeom>
            <a:solidFill>
              <a:srgbClr val="6FAC4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2"/>
          <p:cNvSpPr txBox="1"/>
          <p:nvPr/>
        </p:nvSpPr>
        <p:spPr>
          <a:xfrm>
            <a:off x="1232281" y="1924199"/>
            <a:ext cx="9579154" cy="3113032"/>
          </a:xfrm>
          <a:prstGeom prst="rect">
            <a:avLst/>
          </a:prstGeom>
          <a:noFill/>
          <a:ln>
            <a:noFill/>
          </a:ln>
        </p:spPr>
        <p:txBody>
          <a:bodyPr anchorCtr="0" anchor="t" bIns="0" lIns="0" spcFirstLastPara="1" rIns="0" wrap="square" tIns="156825">
            <a:spAutoFit/>
          </a:bodyPr>
          <a:lstStyle/>
          <a:p>
            <a:pPr indent="-152400" lvl="0" marL="0" marR="0" rtl="0" algn="just">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  L’encapsulation est un principe clé dans la POO. </a:t>
            </a:r>
            <a:endParaRPr/>
          </a:p>
          <a:p>
            <a:pPr indent="0" lvl="0" marL="0" marR="0" rtl="0" algn="just">
              <a:spcBef>
                <a:spcPts val="0"/>
              </a:spcBef>
              <a:spcAft>
                <a:spcPts val="0"/>
              </a:spcAft>
              <a:buNone/>
            </a:pPr>
            <a:r>
              <a:t/>
            </a:r>
            <a:endParaRPr sz="2400">
              <a:solidFill>
                <a:schemeClr val="dk1"/>
              </a:solidFill>
              <a:latin typeface="Calibri"/>
              <a:ea typeface="Calibri"/>
              <a:cs typeface="Calibri"/>
              <a:sym typeface="Calibri"/>
            </a:endParaRPr>
          </a:p>
          <a:p>
            <a:pPr indent="-152400" lvl="0" marL="0" marR="0" rtl="0" algn="just">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 Elle consiste à regrouper des données (attributs) et un comportement (méthodes) dans une même classe et à réglementer l’accès aux données de l’extérieur (par d’autres objets). </a:t>
            </a:r>
            <a:endParaRPr/>
          </a:p>
          <a:p>
            <a:pPr indent="0" lvl="0" marL="0" marR="0" rtl="0" algn="just">
              <a:spcBef>
                <a:spcPts val="0"/>
              </a:spcBef>
              <a:spcAft>
                <a:spcPts val="0"/>
              </a:spcAft>
              <a:buClr>
                <a:srgbClr val="3F3F3F"/>
              </a:buClr>
              <a:buSzPts val="2400"/>
              <a:buFont typeface="Noto Sans Symbols"/>
              <a:buNone/>
            </a:pPr>
            <a:r>
              <a:t/>
            </a:r>
            <a:endParaRPr sz="2400">
              <a:solidFill>
                <a:schemeClr val="dk1"/>
              </a:solidFill>
              <a:latin typeface="Calibri"/>
              <a:ea typeface="Calibri"/>
              <a:cs typeface="Calibri"/>
              <a:sym typeface="Calibri"/>
            </a:endParaRPr>
          </a:p>
          <a:p>
            <a:pPr indent="-152400" lvl="0" marL="0" marR="0" rtl="0" algn="just">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 Cela signifie qu’il n’est pas possible d’agir directement sur les données d’un objet ; il est nécessaire de passer par ses méthodes. </a:t>
            </a:r>
            <a:endParaRPr sz="2400">
              <a:solidFill>
                <a:schemeClr val="dk1"/>
              </a:solidFill>
              <a:latin typeface="Calibri"/>
              <a:ea typeface="Calibri"/>
              <a:cs typeface="Calibri"/>
              <a:sym typeface="Calibri"/>
            </a:endParaRPr>
          </a:p>
        </p:txBody>
      </p:sp>
      <p:sp>
        <p:nvSpPr>
          <p:cNvPr id="376" name="Google Shape;376;p22"/>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32</a:t>
            </a:r>
            <a:endParaRPr sz="2000">
              <a:solidFill>
                <a:schemeClr val="dk1"/>
              </a:solidFill>
              <a:latin typeface="Verdana"/>
              <a:ea typeface="Verdana"/>
              <a:cs typeface="Verdana"/>
              <a:sym typeface="Verdana"/>
            </a:endParaRPr>
          </a:p>
        </p:txBody>
      </p:sp>
      <p:sp>
        <p:nvSpPr>
          <p:cNvPr id="377" name="Google Shape;377;p22"/>
          <p:cNvSpPr txBox="1"/>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marR="0" rtl="0" algn="l">
              <a:lnSpc>
                <a:spcPct val="100000"/>
              </a:lnSpc>
              <a:spcBef>
                <a:spcPts val="0"/>
              </a:spcBef>
              <a:spcAft>
                <a:spcPts val="0"/>
              </a:spcAft>
              <a:buClr>
                <a:srgbClr val="3F3F3F"/>
              </a:buClr>
              <a:buSzPts val="4800"/>
              <a:buFont typeface="Calibri"/>
              <a:buNone/>
            </a:pPr>
            <a:r>
              <a:rPr lang="en-US" sz="4800">
                <a:solidFill>
                  <a:srgbClr val="3F3F3F"/>
                </a:solidFill>
                <a:latin typeface="Calibri"/>
                <a:ea typeface="Calibri"/>
                <a:cs typeface="Calibri"/>
                <a:sym typeface="Calibri"/>
              </a:rPr>
              <a:t>Encapsulation et visibilité</a:t>
            </a:r>
            <a:endParaRPr sz="4800">
              <a:solidFill>
                <a:srgbClr val="3F3F3F"/>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52400" lvl="0" marL="91440" rtl="0" algn="just">
              <a:lnSpc>
                <a:spcPct val="90000"/>
              </a:lnSpc>
              <a:spcBef>
                <a:spcPts val="0"/>
              </a:spcBef>
              <a:spcAft>
                <a:spcPts val="0"/>
              </a:spcAft>
              <a:buSzPts val="2400"/>
              <a:buFont typeface="Noto Sans Symbols"/>
              <a:buChar char="▪"/>
            </a:pPr>
            <a:r>
              <a:rPr b="1" lang="en-US" sz="2400">
                <a:solidFill>
                  <a:schemeClr val="accent5"/>
                </a:solidFill>
              </a:rPr>
              <a:t>Visibilité</a:t>
            </a:r>
            <a:r>
              <a:rPr lang="en-US" sz="2400">
                <a:solidFill>
                  <a:schemeClr val="dk1"/>
                </a:solidFill>
              </a:rPr>
              <a:t> d’une classe = où pourrons-nous utiliser cette classe?</a:t>
            </a:r>
            <a:endParaRPr/>
          </a:p>
          <a:p>
            <a:pPr indent="-182563" lvl="1" marL="528638" rtl="0" algn="just">
              <a:lnSpc>
                <a:spcPct val="90000"/>
              </a:lnSpc>
              <a:spcBef>
                <a:spcPts val="400"/>
              </a:spcBef>
              <a:spcAft>
                <a:spcPts val="0"/>
              </a:spcAft>
              <a:buSzPts val="2400"/>
              <a:buFont typeface="Noto Sans Symbols"/>
              <a:buChar char="⮚"/>
            </a:pPr>
            <a:r>
              <a:rPr lang="en-US" sz="2400">
                <a:solidFill>
                  <a:schemeClr val="dk1"/>
                </a:solidFill>
              </a:rPr>
              <a:t> Où pourrons-nous déclarer, instancier et utiliser un objet de cette classe?</a:t>
            </a:r>
            <a:endParaRPr/>
          </a:p>
          <a:p>
            <a:pPr indent="-182563" lvl="1" marL="528638" rtl="0" algn="just">
              <a:lnSpc>
                <a:spcPct val="90000"/>
              </a:lnSpc>
              <a:spcBef>
                <a:spcPts val="600"/>
              </a:spcBef>
              <a:spcAft>
                <a:spcPts val="0"/>
              </a:spcAft>
              <a:buSzPts val="2400"/>
              <a:buFont typeface="Noto Sans Symbols"/>
              <a:buChar char="⮚"/>
            </a:pPr>
            <a:r>
              <a:rPr lang="en-US" sz="2400">
                <a:solidFill>
                  <a:schemeClr val="dk1"/>
                </a:solidFill>
              </a:rPr>
              <a:t> Peut-on l’utiliser dans une classe d’un autre package?</a:t>
            </a:r>
            <a:endParaRPr/>
          </a:p>
          <a:p>
            <a:pPr indent="-30480" lvl="1" marL="384048" rtl="0" algn="just">
              <a:lnSpc>
                <a:spcPct val="90000"/>
              </a:lnSpc>
              <a:spcBef>
                <a:spcPts val="600"/>
              </a:spcBef>
              <a:spcAft>
                <a:spcPts val="0"/>
              </a:spcAft>
              <a:buSzPts val="2400"/>
              <a:buFont typeface="Noto Sans Symbols"/>
              <a:buNone/>
            </a:pPr>
            <a:r>
              <a:t/>
            </a:r>
            <a:endParaRPr sz="2400">
              <a:solidFill>
                <a:schemeClr val="dk1"/>
              </a:solidFill>
            </a:endParaRPr>
          </a:p>
          <a:p>
            <a:pPr indent="-182563" lvl="1" marL="182563" rtl="0" algn="just">
              <a:lnSpc>
                <a:spcPct val="90000"/>
              </a:lnSpc>
              <a:spcBef>
                <a:spcPts val="600"/>
              </a:spcBef>
              <a:spcAft>
                <a:spcPts val="0"/>
              </a:spcAft>
              <a:buSzPts val="2400"/>
              <a:buFont typeface="Noto Sans Symbols"/>
              <a:buChar char="▪"/>
            </a:pPr>
            <a:r>
              <a:rPr lang="en-US" sz="2400">
                <a:solidFill>
                  <a:schemeClr val="dk1"/>
                </a:solidFill>
              </a:rPr>
              <a:t> On peut définir la visibilité pour chaque membre d’une classe</a:t>
            </a:r>
            <a:endParaRPr/>
          </a:p>
          <a:p>
            <a:pPr indent="-182563" lvl="1" marL="457200" rtl="0" algn="just">
              <a:lnSpc>
                <a:spcPct val="90000"/>
              </a:lnSpc>
              <a:spcBef>
                <a:spcPts val="600"/>
              </a:spcBef>
              <a:spcAft>
                <a:spcPts val="0"/>
              </a:spcAft>
              <a:buSzPts val="2400"/>
              <a:buFont typeface="Noto Sans Symbols"/>
              <a:buChar char="⮚"/>
            </a:pPr>
            <a:r>
              <a:rPr lang="en-US" sz="2400">
                <a:solidFill>
                  <a:schemeClr val="dk1"/>
                </a:solidFill>
              </a:rPr>
              <a:t> Attributs</a:t>
            </a:r>
            <a:endParaRPr/>
          </a:p>
          <a:p>
            <a:pPr indent="-182563" lvl="1" marL="457200" rtl="0" algn="just">
              <a:lnSpc>
                <a:spcPct val="90000"/>
              </a:lnSpc>
              <a:spcBef>
                <a:spcPts val="600"/>
              </a:spcBef>
              <a:spcAft>
                <a:spcPts val="0"/>
              </a:spcAft>
              <a:buSzPts val="2400"/>
              <a:buFont typeface="Noto Sans Symbols"/>
              <a:buChar char="⮚"/>
            </a:pPr>
            <a:r>
              <a:rPr lang="en-US" sz="2400">
                <a:solidFill>
                  <a:schemeClr val="dk1"/>
                </a:solidFill>
              </a:rPr>
              <a:t> Constructeurs</a:t>
            </a:r>
            <a:endParaRPr/>
          </a:p>
          <a:p>
            <a:pPr indent="-182563" lvl="1" marL="457200" rtl="0" algn="just">
              <a:lnSpc>
                <a:spcPct val="90000"/>
              </a:lnSpc>
              <a:spcBef>
                <a:spcPts val="600"/>
              </a:spcBef>
              <a:spcAft>
                <a:spcPts val="0"/>
              </a:spcAft>
              <a:buSzPts val="2400"/>
              <a:buFont typeface="Noto Sans Symbols"/>
              <a:buChar char="⮚"/>
            </a:pPr>
            <a:r>
              <a:rPr lang="en-US" sz="2400">
                <a:solidFill>
                  <a:schemeClr val="dk1"/>
                </a:solidFill>
              </a:rPr>
              <a:t> Méthodes</a:t>
            </a:r>
            <a:endParaRPr/>
          </a:p>
          <a:p>
            <a:pPr indent="0" lvl="0" marL="91440" rtl="0" algn="l">
              <a:lnSpc>
                <a:spcPct val="90000"/>
              </a:lnSpc>
              <a:spcBef>
                <a:spcPts val="1600"/>
              </a:spcBef>
              <a:spcAft>
                <a:spcPts val="0"/>
              </a:spcAft>
              <a:buSzPts val="2000"/>
              <a:buNone/>
            </a:pPr>
            <a:r>
              <a:t/>
            </a:r>
            <a:endParaRPr/>
          </a:p>
        </p:txBody>
      </p:sp>
      <p:sp>
        <p:nvSpPr>
          <p:cNvPr id="383" name="Google Shape;383;p23"/>
          <p:cNvSpPr txBox="1"/>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marR="0" rtl="0" algn="l">
              <a:lnSpc>
                <a:spcPct val="100000"/>
              </a:lnSpc>
              <a:spcBef>
                <a:spcPts val="0"/>
              </a:spcBef>
              <a:spcAft>
                <a:spcPts val="0"/>
              </a:spcAft>
              <a:buClr>
                <a:srgbClr val="3F3F3F"/>
              </a:buClr>
              <a:buSzPts val="4800"/>
              <a:buFont typeface="Calibri"/>
              <a:buNone/>
            </a:pPr>
            <a:r>
              <a:rPr lang="en-US" sz="4800">
                <a:solidFill>
                  <a:srgbClr val="3F3F3F"/>
                </a:solidFill>
                <a:latin typeface="Calibri"/>
                <a:ea typeface="Calibri"/>
                <a:cs typeface="Calibri"/>
                <a:sym typeface="Calibri"/>
              </a:rPr>
              <a:t>Encapsulation et visibilité</a:t>
            </a:r>
            <a:endParaRPr sz="4800">
              <a:solidFill>
                <a:srgbClr val="3F3F3F"/>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4"/>
          <p:cNvSpPr txBox="1"/>
          <p:nvPr/>
        </p:nvSpPr>
        <p:spPr>
          <a:xfrm>
            <a:off x="1097280" y="1737360"/>
            <a:ext cx="9929308" cy="1697260"/>
          </a:xfrm>
          <a:prstGeom prst="rect">
            <a:avLst/>
          </a:prstGeom>
          <a:noFill/>
          <a:ln>
            <a:noFill/>
          </a:ln>
        </p:spPr>
        <p:txBody>
          <a:bodyPr anchorCtr="0" anchor="t" bIns="0" lIns="0" spcFirstLastPara="1" rIns="0" wrap="square" tIns="156825">
            <a:spAutoFit/>
          </a:bodyPr>
          <a:lstStyle/>
          <a:p>
            <a:pPr indent="-342900" lvl="0" marL="444500" marR="0" rtl="0" algn="l">
              <a:lnSpc>
                <a:spcPct val="100000"/>
              </a:lnSpc>
              <a:spcBef>
                <a:spcPts val="0"/>
              </a:spcBef>
              <a:spcAft>
                <a:spcPts val="0"/>
              </a:spcAft>
              <a:buClr>
                <a:schemeClr val="dk1"/>
              </a:buClr>
              <a:buSzPts val="2000"/>
              <a:buFont typeface="Noto Sans Symbols"/>
              <a:buChar char="▪"/>
            </a:pPr>
            <a:r>
              <a:rPr lang="en-US" sz="2000">
                <a:solidFill>
                  <a:schemeClr val="dk1"/>
                </a:solidFill>
                <a:latin typeface="Verdana"/>
                <a:ea typeface="Verdana"/>
                <a:cs typeface="Verdana"/>
                <a:sym typeface="Verdana"/>
              </a:rPr>
              <a:t>Elle est précisée devant l’attribut / la méthode</a:t>
            </a:r>
            <a:endParaRPr sz="2000">
              <a:solidFill>
                <a:schemeClr val="dk1"/>
              </a:solidFill>
              <a:latin typeface="Verdana"/>
              <a:ea typeface="Verdana"/>
              <a:cs typeface="Verdana"/>
              <a:sym typeface="Verdana"/>
            </a:endParaRPr>
          </a:p>
          <a:p>
            <a:pPr indent="0" lvl="0" marL="756285" marR="0" rtl="0" algn="l">
              <a:lnSpc>
                <a:spcPct val="100000"/>
              </a:lnSpc>
              <a:spcBef>
                <a:spcPts val="0"/>
              </a:spcBef>
              <a:spcAft>
                <a:spcPts val="0"/>
              </a:spcAft>
              <a:buNone/>
            </a:pPr>
            <a:r>
              <a:rPr b="1" lang="en-US" sz="2000">
                <a:solidFill>
                  <a:srgbClr val="5B9BD4"/>
                </a:solidFill>
                <a:latin typeface="Tahoma"/>
                <a:ea typeface="Tahoma"/>
                <a:cs typeface="Tahoma"/>
                <a:sym typeface="Tahoma"/>
              </a:rPr>
              <a:t>&lt;visibilité&gt; &lt;type&gt; &lt;nomAttribut&gt;;</a:t>
            </a:r>
            <a:endParaRPr sz="2000">
              <a:solidFill>
                <a:schemeClr val="dk1"/>
              </a:solidFill>
              <a:latin typeface="Tahoma"/>
              <a:ea typeface="Tahoma"/>
              <a:cs typeface="Tahoma"/>
              <a:sym typeface="Tahoma"/>
            </a:endParaRPr>
          </a:p>
          <a:p>
            <a:pPr indent="0" lvl="0" marL="756285" marR="0" rtl="0" algn="l">
              <a:lnSpc>
                <a:spcPct val="100000"/>
              </a:lnSpc>
              <a:spcBef>
                <a:spcPts val="0"/>
              </a:spcBef>
              <a:spcAft>
                <a:spcPts val="0"/>
              </a:spcAft>
              <a:buNone/>
            </a:pPr>
            <a:r>
              <a:rPr b="1" lang="en-US" sz="2000">
                <a:solidFill>
                  <a:srgbClr val="5B9BD4"/>
                </a:solidFill>
                <a:latin typeface="Tahoma"/>
                <a:ea typeface="Tahoma"/>
                <a:cs typeface="Tahoma"/>
                <a:sym typeface="Tahoma"/>
              </a:rPr>
              <a:t>&lt;visibilité&gt; &lt;typeRetour&gt; &lt;nomMethode&gt;(&lt;param1&gt;, &lt;param2&gt;, ….)</a:t>
            </a:r>
            <a:endParaRPr b="1" sz="2000">
              <a:solidFill>
                <a:srgbClr val="5B9BD4"/>
              </a:solidFill>
              <a:latin typeface="Tahoma"/>
              <a:ea typeface="Tahoma"/>
              <a:cs typeface="Tahoma"/>
              <a:sym typeface="Tahoma"/>
            </a:endParaRPr>
          </a:p>
          <a:p>
            <a:pPr indent="0" lvl="0" marL="756285" marR="0" rtl="0" algn="l">
              <a:lnSpc>
                <a:spcPct val="100000"/>
              </a:lnSpc>
              <a:spcBef>
                <a:spcPts val="0"/>
              </a:spcBef>
              <a:spcAft>
                <a:spcPts val="0"/>
              </a:spcAft>
              <a:buNone/>
            </a:pPr>
            <a:r>
              <a:t/>
            </a:r>
            <a:endParaRPr sz="2000">
              <a:solidFill>
                <a:schemeClr val="dk1"/>
              </a:solidFill>
              <a:latin typeface="Tahoma"/>
              <a:ea typeface="Tahoma"/>
              <a:cs typeface="Tahoma"/>
              <a:sym typeface="Tahoma"/>
            </a:endParaRPr>
          </a:p>
          <a:p>
            <a:pPr indent="-342900" lvl="0" marL="444500" marR="0" rtl="0" algn="l">
              <a:lnSpc>
                <a:spcPct val="100000"/>
              </a:lnSpc>
              <a:spcBef>
                <a:spcPts val="0"/>
              </a:spcBef>
              <a:spcAft>
                <a:spcPts val="0"/>
              </a:spcAft>
              <a:buClr>
                <a:schemeClr val="dk1"/>
              </a:buClr>
              <a:buSzPts val="2000"/>
              <a:buFont typeface="Noto Sans Symbols"/>
              <a:buChar char="▪"/>
            </a:pPr>
            <a:r>
              <a:rPr lang="en-US" sz="2000">
                <a:solidFill>
                  <a:schemeClr val="dk1"/>
                </a:solidFill>
                <a:latin typeface="Verdana"/>
                <a:ea typeface="Verdana"/>
                <a:cs typeface="Verdana"/>
                <a:sym typeface="Verdana"/>
              </a:rPr>
              <a:t>4 visibilités permettent de protéger les attributs et les méthodes</a:t>
            </a:r>
            <a:endParaRPr sz="2000">
              <a:solidFill>
                <a:schemeClr val="dk1"/>
              </a:solidFill>
              <a:latin typeface="Verdana"/>
              <a:ea typeface="Verdana"/>
              <a:cs typeface="Verdana"/>
              <a:sym typeface="Verdana"/>
            </a:endParaRPr>
          </a:p>
        </p:txBody>
      </p:sp>
      <p:sp>
        <p:nvSpPr>
          <p:cNvPr id="389" name="Google Shape;389;p24"/>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33</a:t>
            </a:r>
            <a:endParaRPr sz="2000">
              <a:solidFill>
                <a:schemeClr val="dk1"/>
              </a:solidFill>
              <a:latin typeface="Verdana"/>
              <a:ea typeface="Verdana"/>
              <a:cs typeface="Verdana"/>
              <a:sym typeface="Verdana"/>
            </a:endParaRPr>
          </a:p>
        </p:txBody>
      </p:sp>
      <p:graphicFrame>
        <p:nvGraphicFramePr>
          <p:cNvPr id="390" name="Google Shape;390;p24"/>
          <p:cNvGraphicFramePr/>
          <p:nvPr/>
        </p:nvGraphicFramePr>
        <p:xfrm>
          <a:off x="2344571" y="3554137"/>
          <a:ext cx="3000000" cy="3000000"/>
        </p:xfrm>
        <a:graphic>
          <a:graphicData uri="http://schemas.openxmlformats.org/drawingml/2006/table">
            <a:tbl>
              <a:tblPr bandRow="1" firstRow="1">
                <a:noFill/>
                <a:tableStyleId>{AADB4A2B-A616-4299-9F59-80E0FF929C61}</a:tableStyleId>
              </a:tblPr>
              <a:tblGrid>
                <a:gridCol w="1330950"/>
                <a:gridCol w="1394450"/>
                <a:gridCol w="5768350"/>
              </a:tblGrid>
              <a:tr h="370200">
                <a:tc>
                  <a:txBody>
                    <a:bodyPr/>
                    <a:lstStyle/>
                    <a:p>
                      <a:pPr indent="0" lvl="0" marL="91440" marR="0" rtl="0" algn="l">
                        <a:lnSpc>
                          <a:spcPct val="100000"/>
                        </a:lnSpc>
                        <a:spcBef>
                          <a:spcPts val="0"/>
                        </a:spcBef>
                        <a:spcAft>
                          <a:spcPts val="0"/>
                        </a:spcAft>
                        <a:buNone/>
                      </a:pPr>
                      <a:r>
                        <a:rPr b="1" lang="en-US" sz="2000" u="none" cap="none" strike="noStrike">
                          <a:solidFill>
                            <a:srgbClr val="FFFFFF"/>
                          </a:solidFill>
                          <a:latin typeface="Calibri"/>
                          <a:ea typeface="Calibri"/>
                          <a:cs typeface="Calibri"/>
                          <a:sym typeface="Calibri"/>
                        </a:rPr>
                        <a:t>Nom</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c>
                  <a:txBody>
                    <a:bodyPr/>
                    <a:lstStyle/>
                    <a:p>
                      <a:pPr indent="0" lvl="0" marL="91440" marR="0" rtl="0" algn="l">
                        <a:lnSpc>
                          <a:spcPct val="100000"/>
                        </a:lnSpc>
                        <a:spcBef>
                          <a:spcPts val="0"/>
                        </a:spcBef>
                        <a:spcAft>
                          <a:spcPts val="0"/>
                        </a:spcAft>
                        <a:buNone/>
                      </a:pPr>
                      <a:r>
                        <a:rPr b="1" lang="en-US" sz="2000" u="none" cap="none" strike="noStrike">
                          <a:solidFill>
                            <a:srgbClr val="FFFFFF"/>
                          </a:solidFill>
                          <a:latin typeface="Calibri"/>
                          <a:ea typeface="Calibri"/>
                          <a:cs typeface="Calibri"/>
                          <a:sym typeface="Calibri"/>
                        </a:rPr>
                        <a:t>Mot-clé</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c>
                  <a:txBody>
                    <a:bodyPr/>
                    <a:lstStyle/>
                    <a:p>
                      <a:pPr indent="0" lvl="0" marL="92075" marR="0" rtl="0" algn="l">
                        <a:lnSpc>
                          <a:spcPct val="100000"/>
                        </a:lnSpc>
                        <a:spcBef>
                          <a:spcPts val="0"/>
                        </a:spcBef>
                        <a:spcAft>
                          <a:spcPts val="0"/>
                        </a:spcAft>
                        <a:buNone/>
                      </a:pPr>
                      <a:r>
                        <a:rPr b="1" lang="en-US" sz="2000" u="none" cap="none" strike="noStrike">
                          <a:solidFill>
                            <a:srgbClr val="FFFFFF"/>
                          </a:solidFill>
                          <a:latin typeface="Calibri"/>
                          <a:ea typeface="Calibri"/>
                          <a:cs typeface="Calibri"/>
                          <a:sym typeface="Calibri"/>
                        </a:rPr>
                        <a:t>Description</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r>
              <a:tr h="370850">
                <a:tc>
                  <a:txBody>
                    <a:bodyPr/>
                    <a:lstStyle/>
                    <a:p>
                      <a:pPr indent="0" lvl="0" marL="91440" marR="0" rtl="0" algn="l">
                        <a:lnSpc>
                          <a:spcPct val="100000"/>
                        </a:lnSpc>
                        <a:spcBef>
                          <a:spcPts val="0"/>
                        </a:spcBef>
                        <a:spcAft>
                          <a:spcPts val="0"/>
                        </a:spcAft>
                        <a:buNone/>
                      </a:pPr>
                      <a:r>
                        <a:rPr b="1" lang="en-US" sz="2000" u="none" cap="none" strike="noStrike">
                          <a:solidFill>
                            <a:srgbClr val="7E7E7E"/>
                          </a:solidFill>
                          <a:latin typeface="Calibri"/>
                          <a:ea typeface="Calibri"/>
                          <a:cs typeface="Calibri"/>
                          <a:sym typeface="Calibri"/>
                        </a:rPr>
                        <a:t>publique</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c>
                  <a:txBody>
                    <a:bodyPr/>
                    <a:lstStyle/>
                    <a:p>
                      <a:pPr indent="0" lvl="0" marL="91440" marR="0" rtl="0" algn="l">
                        <a:lnSpc>
                          <a:spcPct val="100000"/>
                        </a:lnSpc>
                        <a:spcBef>
                          <a:spcPts val="0"/>
                        </a:spcBef>
                        <a:spcAft>
                          <a:spcPts val="0"/>
                        </a:spcAft>
                        <a:buNone/>
                      </a:pPr>
                      <a:r>
                        <a:rPr b="1" lang="en-US" sz="2000" u="none" cap="none" strike="noStrike">
                          <a:latin typeface="Calibri"/>
                          <a:ea typeface="Calibri"/>
                          <a:cs typeface="Calibri"/>
                          <a:sym typeface="Calibri"/>
                        </a:rPr>
                        <a:t>public</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c>
                  <a:txBody>
                    <a:bodyPr/>
                    <a:lstStyle/>
                    <a:p>
                      <a:pPr indent="0" lvl="0" marL="92075" marR="0" rtl="0" algn="l">
                        <a:lnSpc>
                          <a:spcPct val="100000"/>
                        </a:lnSpc>
                        <a:spcBef>
                          <a:spcPts val="0"/>
                        </a:spcBef>
                        <a:spcAft>
                          <a:spcPts val="0"/>
                        </a:spcAft>
                        <a:buNone/>
                      </a:pPr>
                      <a:r>
                        <a:rPr lang="en-US" sz="2000" u="none" cap="none" strike="noStrike">
                          <a:latin typeface="Calibri"/>
                          <a:ea typeface="Calibri"/>
                          <a:cs typeface="Calibri"/>
                          <a:sym typeface="Calibri"/>
                        </a:rPr>
                        <a:t>Attribut / Méthode accessible partout</a:t>
                      </a:r>
                      <a:endParaRPr sz="2000" u="none" cap="none" strike="noStrike">
                        <a:latin typeface="Calibri"/>
                        <a:ea typeface="Calibri"/>
                        <a:cs typeface="Calibri"/>
                        <a:sym typeface="Calibri"/>
                      </a:endParaRPr>
                    </a:p>
                  </a:txBody>
                  <a:tcPr marT="41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r>
              <a:tr h="578475">
                <a:tc>
                  <a:txBody>
                    <a:bodyPr/>
                    <a:lstStyle/>
                    <a:p>
                      <a:pPr indent="0" lvl="0" marL="91440" marR="0" rtl="0" algn="l">
                        <a:lnSpc>
                          <a:spcPct val="100000"/>
                        </a:lnSpc>
                        <a:spcBef>
                          <a:spcPts val="0"/>
                        </a:spcBef>
                        <a:spcAft>
                          <a:spcPts val="0"/>
                        </a:spcAft>
                        <a:buNone/>
                      </a:pPr>
                      <a:r>
                        <a:rPr b="1" lang="en-US" sz="2000" u="none" cap="none" strike="noStrike">
                          <a:solidFill>
                            <a:srgbClr val="7E7E7E"/>
                          </a:solidFill>
                          <a:latin typeface="Calibri"/>
                          <a:ea typeface="Calibri"/>
                          <a:cs typeface="Calibri"/>
                          <a:sym typeface="Calibri"/>
                        </a:rPr>
                        <a:t>privé</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c>
                  <a:txBody>
                    <a:bodyPr/>
                    <a:lstStyle/>
                    <a:p>
                      <a:pPr indent="0" lvl="0" marL="91440" marR="0" rtl="0" algn="l">
                        <a:lnSpc>
                          <a:spcPct val="100000"/>
                        </a:lnSpc>
                        <a:spcBef>
                          <a:spcPts val="0"/>
                        </a:spcBef>
                        <a:spcAft>
                          <a:spcPts val="0"/>
                        </a:spcAft>
                        <a:buNone/>
                      </a:pPr>
                      <a:r>
                        <a:rPr b="1" lang="en-US" sz="2000" u="none" cap="none" strike="noStrike">
                          <a:latin typeface="Calibri"/>
                          <a:ea typeface="Calibri"/>
                          <a:cs typeface="Calibri"/>
                          <a:sym typeface="Calibri"/>
                        </a:rPr>
                        <a:t>private</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c>
                  <a:txBody>
                    <a:bodyPr/>
                    <a:lstStyle/>
                    <a:p>
                      <a:pPr indent="0" lvl="0" marL="92075" marR="132080" rtl="0" algn="l">
                        <a:lnSpc>
                          <a:spcPct val="100000"/>
                        </a:lnSpc>
                        <a:spcBef>
                          <a:spcPts val="0"/>
                        </a:spcBef>
                        <a:spcAft>
                          <a:spcPts val="0"/>
                        </a:spcAft>
                        <a:buNone/>
                      </a:pPr>
                      <a:r>
                        <a:rPr lang="en-US" sz="2000" u="none" cap="none" strike="noStrike">
                          <a:latin typeface="Calibri"/>
                          <a:ea typeface="Calibri"/>
                          <a:cs typeface="Calibri"/>
                          <a:sym typeface="Calibri"/>
                        </a:rPr>
                        <a:t>Attribut / Méthode accessible uniquement au sein de sa propre classe</a:t>
                      </a:r>
                      <a:endParaRPr sz="2000" u="none" cap="none" strike="noStrike">
                        <a:latin typeface="Calibri"/>
                        <a:ea typeface="Calibri"/>
                        <a:cs typeface="Calibri"/>
                        <a:sym typeface="Calibri"/>
                      </a:endParaRPr>
                    </a:p>
                  </a:txBody>
                  <a:tcPr marT="41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r>
              <a:tr h="579125">
                <a:tc>
                  <a:txBody>
                    <a:bodyPr/>
                    <a:lstStyle/>
                    <a:p>
                      <a:pPr indent="0" lvl="0" marL="91440" marR="0" rtl="0" algn="l">
                        <a:lnSpc>
                          <a:spcPct val="100000"/>
                        </a:lnSpc>
                        <a:spcBef>
                          <a:spcPts val="0"/>
                        </a:spcBef>
                        <a:spcAft>
                          <a:spcPts val="0"/>
                        </a:spcAft>
                        <a:buNone/>
                      </a:pPr>
                      <a:r>
                        <a:rPr b="1" lang="en-US" sz="2000" u="none" cap="none" strike="noStrike">
                          <a:solidFill>
                            <a:srgbClr val="7E7E7E"/>
                          </a:solidFill>
                          <a:latin typeface="Calibri"/>
                          <a:ea typeface="Calibri"/>
                          <a:cs typeface="Calibri"/>
                          <a:sym typeface="Calibri"/>
                        </a:rPr>
                        <a:t>protégé</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c>
                  <a:txBody>
                    <a:bodyPr/>
                    <a:lstStyle/>
                    <a:p>
                      <a:pPr indent="0" lvl="0" marL="91440" marR="0" rtl="0" algn="l">
                        <a:lnSpc>
                          <a:spcPct val="100000"/>
                        </a:lnSpc>
                        <a:spcBef>
                          <a:spcPts val="0"/>
                        </a:spcBef>
                        <a:spcAft>
                          <a:spcPts val="0"/>
                        </a:spcAft>
                        <a:buNone/>
                      </a:pPr>
                      <a:r>
                        <a:rPr b="1" lang="en-US" sz="2000" u="none" cap="none" strike="noStrike">
                          <a:latin typeface="Calibri"/>
                          <a:ea typeface="Calibri"/>
                          <a:cs typeface="Calibri"/>
                          <a:sym typeface="Calibri"/>
                        </a:rPr>
                        <a:t>protected</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c>
                  <a:txBody>
                    <a:bodyPr/>
                    <a:lstStyle/>
                    <a:p>
                      <a:pPr indent="0" lvl="0" marL="92075" marR="267970" rtl="0" algn="l">
                        <a:lnSpc>
                          <a:spcPct val="100000"/>
                        </a:lnSpc>
                        <a:spcBef>
                          <a:spcPts val="0"/>
                        </a:spcBef>
                        <a:spcAft>
                          <a:spcPts val="0"/>
                        </a:spcAft>
                        <a:buNone/>
                      </a:pPr>
                      <a:r>
                        <a:rPr lang="en-US" sz="2000" u="none" cap="none" strike="noStrike">
                          <a:latin typeface="Calibri"/>
                          <a:ea typeface="Calibri"/>
                          <a:cs typeface="Calibri"/>
                          <a:sym typeface="Calibri"/>
                        </a:rPr>
                        <a:t>Attribut / Méthode accessible dans les classes dérivées et les classes du même package</a:t>
                      </a:r>
                      <a:endParaRPr sz="2000" u="none" cap="none" strike="noStrike">
                        <a:latin typeface="Calibri"/>
                        <a:ea typeface="Calibri"/>
                        <a:cs typeface="Calibri"/>
                        <a:sym typeface="Calibri"/>
                      </a:endParaRPr>
                    </a:p>
                  </a:txBody>
                  <a:tcPr marT="41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r>
              <a:tr h="578475">
                <a:tc>
                  <a:txBody>
                    <a:bodyPr/>
                    <a:lstStyle/>
                    <a:p>
                      <a:pPr indent="0" lvl="0" marL="91440" marR="0" rtl="0" algn="l">
                        <a:lnSpc>
                          <a:spcPct val="100000"/>
                        </a:lnSpc>
                        <a:spcBef>
                          <a:spcPts val="0"/>
                        </a:spcBef>
                        <a:spcAft>
                          <a:spcPts val="0"/>
                        </a:spcAft>
                        <a:buNone/>
                      </a:pPr>
                      <a:r>
                        <a:rPr b="1" i="1" lang="en-US" sz="2000" u="none" cap="none" strike="noStrike">
                          <a:solidFill>
                            <a:srgbClr val="7E7E7E"/>
                          </a:solidFill>
                          <a:latin typeface="Calibri"/>
                          <a:ea typeface="Calibri"/>
                          <a:cs typeface="Calibri"/>
                          <a:sym typeface="Calibri"/>
                        </a:rPr>
                        <a:t>Par défaut (friendly)</a:t>
                      </a:r>
                      <a:endParaRPr sz="2000" u="none" cap="none" strike="noStrike">
                        <a:latin typeface="Calibri"/>
                        <a:ea typeface="Calibri"/>
                        <a:cs typeface="Calibri"/>
                        <a:sym typeface="Calibri"/>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c>
                  <a:txBody>
                    <a:bodyPr/>
                    <a:lstStyle/>
                    <a:p>
                      <a:pPr indent="0" lvl="0" marL="0" marR="0" rtl="0" algn="l">
                        <a:lnSpc>
                          <a:spcPct val="100000"/>
                        </a:lnSpc>
                        <a:spcBef>
                          <a:spcPts val="0"/>
                        </a:spcBef>
                        <a:spcAft>
                          <a:spcPts val="0"/>
                        </a:spcAft>
                        <a:buNone/>
                      </a:pPr>
                      <a:r>
                        <a:t/>
                      </a:r>
                      <a:endParaRPr sz="2000" u="none" cap="none" strike="noStrike">
                        <a:latin typeface="Calibri"/>
                        <a:ea typeface="Calibri"/>
                        <a:cs typeface="Calibri"/>
                        <a:sym typeface="Calibri"/>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c>
                  <a:txBody>
                    <a:bodyPr/>
                    <a:lstStyle/>
                    <a:p>
                      <a:pPr indent="0" lvl="0" marL="92075" marR="0" rtl="0" algn="l">
                        <a:lnSpc>
                          <a:spcPct val="100000"/>
                        </a:lnSpc>
                        <a:spcBef>
                          <a:spcPts val="0"/>
                        </a:spcBef>
                        <a:spcAft>
                          <a:spcPts val="0"/>
                        </a:spcAft>
                        <a:buNone/>
                      </a:pPr>
                      <a:r>
                        <a:rPr lang="en-US" sz="2000" u="none" cap="none" strike="noStrike">
                          <a:latin typeface="Calibri"/>
                          <a:ea typeface="Calibri"/>
                          <a:cs typeface="Calibri"/>
                          <a:sym typeface="Calibri"/>
                        </a:rPr>
                        <a:t>Visibilité dite « </a:t>
                      </a:r>
                      <a:r>
                        <a:rPr i="1" lang="en-US" sz="2000" u="none" cap="none" strike="noStrike">
                          <a:latin typeface="Calibri"/>
                          <a:ea typeface="Calibri"/>
                          <a:cs typeface="Calibri"/>
                          <a:sym typeface="Calibri"/>
                        </a:rPr>
                        <a:t>friendly </a:t>
                      </a:r>
                      <a:r>
                        <a:rPr lang="en-US" sz="2000" u="none" cap="none" strike="noStrike">
                          <a:latin typeface="Calibri"/>
                          <a:ea typeface="Calibri"/>
                          <a:cs typeface="Calibri"/>
                          <a:sym typeface="Calibri"/>
                        </a:rPr>
                        <a:t>» ou « par défaut ».</a:t>
                      </a:r>
                      <a:endParaRPr sz="2000" u="none" cap="none" strike="noStrike">
                        <a:latin typeface="Calibri"/>
                        <a:ea typeface="Calibri"/>
                        <a:cs typeface="Calibri"/>
                        <a:sym typeface="Calibri"/>
                      </a:endParaRPr>
                    </a:p>
                    <a:p>
                      <a:pPr indent="0" lvl="0" marL="92075" marR="0" rtl="0" algn="l">
                        <a:lnSpc>
                          <a:spcPct val="100000"/>
                        </a:lnSpc>
                        <a:spcBef>
                          <a:spcPts val="0"/>
                        </a:spcBef>
                        <a:spcAft>
                          <a:spcPts val="0"/>
                        </a:spcAft>
                        <a:buNone/>
                      </a:pPr>
                      <a:r>
                        <a:rPr lang="en-US" sz="2000" u="none" cap="none" strike="noStrike">
                          <a:latin typeface="Calibri"/>
                          <a:ea typeface="Calibri"/>
                          <a:cs typeface="Calibri"/>
                          <a:sym typeface="Calibri"/>
                        </a:rPr>
                        <a:t>Accès restreint aux classes du même package</a:t>
                      </a:r>
                      <a:endParaRPr sz="2000" u="none" cap="none" strike="noStrike">
                        <a:latin typeface="Calibri"/>
                        <a:ea typeface="Calibri"/>
                        <a:cs typeface="Calibri"/>
                        <a:sym typeface="Calibri"/>
                      </a:endParaRPr>
                    </a:p>
                  </a:txBody>
                  <a:tcPr marT="41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r>
            </a:tbl>
          </a:graphicData>
        </a:graphic>
      </p:graphicFrame>
      <p:sp>
        <p:nvSpPr>
          <p:cNvPr id="391" name="Google Shape;391;p24"/>
          <p:cNvSpPr txBox="1"/>
          <p:nvPr/>
        </p:nvSpPr>
        <p:spPr>
          <a:xfrm>
            <a:off x="1097280" y="985872"/>
            <a:ext cx="10058400" cy="751488"/>
          </a:xfrm>
          <a:prstGeom prst="rect">
            <a:avLst/>
          </a:prstGeom>
          <a:noFill/>
          <a:ln>
            <a:noFill/>
          </a:ln>
        </p:spPr>
        <p:txBody>
          <a:bodyPr anchorCtr="0" anchor="b" bIns="0" lIns="0" spcFirstLastPara="1" rIns="0" wrap="square" tIns="12700">
            <a:spAutoFit/>
          </a:bodyPr>
          <a:lstStyle/>
          <a:p>
            <a:pPr indent="0" lvl="0" marL="12700" marR="0" rtl="0" algn="l">
              <a:lnSpc>
                <a:spcPct val="100000"/>
              </a:lnSpc>
              <a:spcBef>
                <a:spcPts val="0"/>
              </a:spcBef>
              <a:spcAft>
                <a:spcPts val="0"/>
              </a:spcAft>
              <a:buClr>
                <a:srgbClr val="3F3F3F"/>
              </a:buClr>
              <a:buSzPts val="4800"/>
              <a:buFont typeface="Calibri"/>
              <a:buNone/>
            </a:pPr>
            <a:r>
              <a:rPr lang="en-US" sz="4800">
                <a:solidFill>
                  <a:srgbClr val="3F3F3F"/>
                </a:solidFill>
                <a:latin typeface="Calibri"/>
                <a:ea typeface="Calibri"/>
                <a:cs typeface="Calibri"/>
                <a:sym typeface="Calibri"/>
              </a:rPr>
              <a:t>Encapsulation et visibilité</a:t>
            </a:r>
            <a:endParaRPr sz="4800">
              <a:solidFill>
                <a:srgbClr val="3F3F3F"/>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Encapsulation et visibilité</a:t>
            </a:r>
            <a:endParaRPr/>
          </a:p>
        </p:txBody>
      </p:sp>
      <p:sp>
        <p:nvSpPr>
          <p:cNvPr id="397" name="Google Shape;397;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91440" rtl="0" algn="just">
              <a:lnSpc>
                <a:spcPct val="90000"/>
              </a:lnSpc>
              <a:spcBef>
                <a:spcPts val="0"/>
              </a:spcBef>
              <a:spcAft>
                <a:spcPts val="0"/>
              </a:spcAft>
              <a:buSzPts val="2400"/>
              <a:buNone/>
            </a:pPr>
            <a:r>
              <a:t/>
            </a:r>
            <a:endParaRPr sz="2400"/>
          </a:p>
          <a:p>
            <a:pPr indent="-152400" lvl="0" marL="91440" rtl="0" algn="just">
              <a:lnSpc>
                <a:spcPct val="90000"/>
              </a:lnSpc>
              <a:spcBef>
                <a:spcPts val="1400"/>
              </a:spcBef>
              <a:spcAft>
                <a:spcPts val="0"/>
              </a:spcAft>
              <a:buSzPts val="2400"/>
              <a:buFont typeface="Noto Sans Symbols"/>
              <a:buChar char="▪"/>
            </a:pPr>
            <a:r>
              <a:rPr lang="en-US" sz="2400"/>
              <a:t>  </a:t>
            </a:r>
            <a:r>
              <a:rPr lang="en-US" sz="2400">
                <a:solidFill>
                  <a:schemeClr val="dk1"/>
                </a:solidFill>
              </a:rPr>
              <a:t>Les attributs privés d’une classe ne sont pas accessibles qu’a l’intérieur de la classe. </a:t>
            </a:r>
            <a:endParaRPr sz="2400">
              <a:solidFill>
                <a:schemeClr val="dk1"/>
              </a:solidFill>
            </a:endParaRPr>
          </a:p>
          <a:p>
            <a:pPr indent="-152400" lvl="0" marL="91440" rtl="0" algn="just">
              <a:lnSpc>
                <a:spcPct val="90000"/>
              </a:lnSpc>
              <a:spcBef>
                <a:spcPts val="1400"/>
              </a:spcBef>
              <a:spcAft>
                <a:spcPts val="0"/>
              </a:spcAft>
              <a:buSzPts val="2400"/>
              <a:buFont typeface="Noto Sans Symbols"/>
              <a:buChar char="▪"/>
            </a:pPr>
            <a:r>
              <a:rPr lang="en-US" sz="2400"/>
              <a:t>  </a:t>
            </a:r>
            <a:r>
              <a:rPr lang="en-US" sz="2400">
                <a:solidFill>
                  <a:schemeClr val="dk1"/>
                </a:solidFill>
              </a:rPr>
              <a:t>Pour donner la possibilité à autres classes d’accéder à ces attributs il faut définir dans la classe des méthodes publiques qui permettant de: </a:t>
            </a:r>
            <a:endParaRPr sz="2400">
              <a:solidFill>
                <a:schemeClr val="dk1"/>
              </a:solidFill>
            </a:endParaRPr>
          </a:p>
          <a:p>
            <a:pPr indent="-182880" lvl="3" marL="749808" rtl="0" algn="just">
              <a:lnSpc>
                <a:spcPct val="90000"/>
              </a:lnSpc>
              <a:spcBef>
                <a:spcPts val="400"/>
              </a:spcBef>
              <a:spcAft>
                <a:spcPts val="0"/>
              </a:spcAft>
              <a:buSzPts val="2400"/>
              <a:buFont typeface="Noto Sans Symbols"/>
              <a:buChar char="⮚"/>
            </a:pPr>
            <a:r>
              <a:rPr lang="en-US" sz="2400"/>
              <a:t>  </a:t>
            </a:r>
            <a:r>
              <a:rPr lang="en-US" sz="2400">
                <a:solidFill>
                  <a:schemeClr val="dk1"/>
                </a:solidFill>
              </a:rPr>
              <a:t>Lire la variable: </a:t>
            </a:r>
            <a:r>
              <a:rPr lang="en-US" sz="2400">
                <a:solidFill>
                  <a:srgbClr val="FF0000"/>
                </a:solidFill>
              </a:rPr>
              <a:t>accesseurs ou Getters</a:t>
            </a:r>
            <a:r>
              <a:rPr lang="en-US" sz="2400">
                <a:solidFill>
                  <a:schemeClr val="dk1"/>
                </a:solidFill>
              </a:rPr>
              <a:t>. </a:t>
            </a:r>
            <a:endParaRPr sz="2400">
              <a:solidFill>
                <a:schemeClr val="dk1"/>
              </a:solidFill>
            </a:endParaRPr>
          </a:p>
          <a:p>
            <a:pPr indent="-182880" lvl="3" marL="749808" rtl="0" algn="just">
              <a:lnSpc>
                <a:spcPct val="90000"/>
              </a:lnSpc>
              <a:spcBef>
                <a:spcPts val="600"/>
              </a:spcBef>
              <a:spcAft>
                <a:spcPts val="0"/>
              </a:spcAft>
              <a:buSzPts val="2400"/>
              <a:buFont typeface="Noto Sans Symbols"/>
              <a:buChar char="⮚"/>
            </a:pPr>
            <a:r>
              <a:rPr lang="en-US" sz="2400">
                <a:solidFill>
                  <a:schemeClr val="dk1"/>
                </a:solidFill>
              </a:rPr>
              <a:t>  Modifier la variable: </a:t>
            </a:r>
            <a:r>
              <a:rPr lang="en-US" sz="2400">
                <a:solidFill>
                  <a:srgbClr val="FF0000"/>
                </a:solidFill>
              </a:rPr>
              <a:t>mutateurs ou Setters</a:t>
            </a:r>
            <a:r>
              <a:rPr lang="en-US" sz="2400">
                <a:solidFill>
                  <a:schemeClr val="dk1"/>
                </a:solidFill>
              </a:rP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6"/>
          <p:cNvSpPr txBox="1"/>
          <p:nvPr/>
        </p:nvSpPr>
        <p:spPr>
          <a:xfrm>
            <a:off x="1232281" y="1626170"/>
            <a:ext cx="10520448" cy="4672433"/>
          </a:xfrm>
          <a:prstGeom prst="rect">
            <a:avLst/>
          </a:prstGeom>
          <a:noFill/>
          <a:ln>
            <a:noFill/>
          </a:ln>
        </p:spPr>
        <p:txBody>
          <a:bodyPr anchorCtr="0" anchor="t" bIns="0" lIns="0" spcFirstLastPara="1" rIns="0" wrap="square" tIns="156825">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Accesseurs et modificateurs</a:t>
            </a:r>
            <a:endParaRPr sz="2400">
              <a:solidFill>
                <a:schemeClr val="dk1"/>
              </a:solidFill>
              <a:latin typeface="Calibri"/>
              <a:ea typeface="Calibri"/>
              <a:cs typeface="Calibri"/>
              <a:sym typeface="Calibri"/>
            </a:endParaRPr>
          </a:p>
          <a:p>
            <a:pPr indent="-342900" lvl="0" marL="812800" marR="0" rtl="0" algn="just">
              <a:lnSpc>
                <a:spcPct val="100000"/>
              </a:lnSpc>
              <a:spcBef>
                <a:spcPts val="1005"/>
              </a:spcBef>
              <a:spcAft>
                <a:spcPts val="0"/>
              </a:spcAft>
              <a:buClr>
                <a:srgbClr val="3F3F3F"/>
              </a:buClr>
              <a:buSzPts val="2000"/>
              <a:buFont typeface="Noto Sans Symbols"/>
              <a:buChar char="▪"/>
            </a:pPr>
            <a:r>
              <a:rPr lang="en-US" sz="2000">
                <a:solidFill>
                  <a:schemeClr val="dk1"/>
                </a:solidFill>
                <a:latin typeface="Calibri"/>
                <a:ea typeface="Calibri"/>
                <a:cs typeface="Calibri"/>
                <a:sym typeface="Calibri"/>
              </a:rPr>
              <a:t>Méthodes qui manipulent les attributs qu’on souhaite rendre accessibles</a:t>
            </a:r>
            <a:endParaRPr sz="2000">
              <a:solidFill>
                <a:schemeClr val="dk1"/>
              </a:solidFill>
              <a:latin typeface="Calibri"/>
              <a:ea typeface="Calibri"/>
              <a:cs typeface="Calibri"/>
              <a:sym typeface="Calibri"/>
            </a:endParaRPr>
          </a:p>
          <a:p>
            <a:pPr indent="-342900" lvl="0" marL="812800" marR="0" rtl="0" algn="just">
              <a:lnSpc>
                <a:spcPct val="100000"/>
              </a:lnSpc>
              <a:spcBef>
                <a:spcPts val="994"/>
              </a:spcBef>
              <a:spcAft>
                <a:spcPts val="0"/>
              </a:spcAft>
              <a:buClr>
                <a:srgbClr val="3F3F3F"/>
              </a:buClr>
              <a:buSzPts val="2000"/>
              <a:buFont typeface="Noto Sans Symbols"/>
              <a:buChar char="▪"/>
            </a:pPr>
            <a:r>
              <a:rPr b="1" lang="en-US" sz="2000">
                <a:solidFill>
                  <a:schemeClr val="dk1"/>
                </a:solidFill>
                <a:latin typeface="Calibri"/>
                <a:ea typeface="Calibri"/>
                <a:cs typeface="Calibri"/>
                <a:sym typeface="Calibri"/>
              </a:rPr>
              <a:t>Méthode d’accès</a:t>
            </a:r>
            <a:r>
              <a:rPr b="1" lang="en-US" sz="2000">
                <a:solidFill>
                  <a:srgbClr val="404040"/>
                </a:solidFill>
                <a:latin typeface="Calibri"/>
                <a:ea typeface="Calibri"/>
                <a:cs typeface="Calibri"/>
                <a:sym typeface="Calibri"/>
              </a:rPr>
              <a:t> </a:t>
            </a:r>
            <a:r>
              <a:rPr lang="en-US" sz="2000">
                <a:solidFill>
                  <a:srgbClr val="404040"/>
                </a:solidFill>
                <a:latin typeface="Calibri"/>
                <a:ea typeface="Calibri"/>
                <a:cs typeface="Calibri"/>
                <a:sym typeface="Calibri"/>
              </a:rPr>
              <a:t>(</a:t>
            </a:r>
            <a:r>
              <a:rPr b="1" i="1" lang="en-US" sz="2000">
                <a:solidFill>
                  <a:schemeClr val="accent5"/>
                </a:solidFill>
                <a:latin typeface="Calibri"/>
                <a:ea typeface="Calibri"/>
                <a:cs typeface="Calibri"/>
                <a:sym typeface="Calibri"/>
              </a:rPr>
              <a:t>getter / accessor</a:t>
            </a:r>
            <a:r>
              <a:rPr lang="en-US" sz="2000">
                <a:solidFill>
                  <a:srgbClr val="404040"/>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285750" lvl="0" marL="1212850" marR="0" rtl="0" algn="just">
              <a:lnSpc>
                <a:spcPct val="100000"/>
              </a:lnSpc>
              <a:spcBef>
                <a:spcPts val="1005"/>
              </a:spcBef>
              <a:spcAft>
                <a:spcPts val="0"/>
              </a:spcAft>
              <a:buClr>
                <a:srgbClr val="3F3F3F"/>
              </a:buClr>
              <a:buSzPts val="1800"/>
              <a:buFont typeface="Noto Sans Symbols"/>
              <a:buChar char="⮚"/>
            </a:pPr>
            <a:r>
              <a:rPr lang="en-US" sz="1800">
                <a:solidFill>
                  <a:schemeClr val="dk1"/>
                </a:solidFill>
                <a:latin typeface="Calibri"/>
                <a:ea typeface="Calibri"/>
                <a:cs typeface="Calibri"/>
                <a:sym typeface="Calibri"/>
              </a:rPr>
              <a:t>Permet de renvoyer (retourner) un attribut privé, sans le modifier</a:t>
            </a:r>
            <a:endParaRPr sz="1800">
              <a:solidFill>
                <a:schemeClr val="dk1"/>
              </a:solidFill>
              <a:latin typeface="Calibri"/>
              <a:ea typeface="Calibri"/>
              <a:cs typeface="Calibri"/>
              <a:sym typeface="Calibri"/>
            </a:endParaRPr>
          </a:p>
          <a:p>
            <a:pPr indent="-285750" lvl="0" marL="1212850" marR="1920875" rtl="0" algn="just">
              <a:lnSpc>
                <a:spcPct val="100000"/>
              </a:lnSpc>
              <a:spcBef>
                <a:spcPts val="101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En général le nom est la méthode est      </a:t>
            </a:r>
            <a:r>
              <a:rPr b="1" lang="en-US" sz="1800">
                <a:solidFill>
                  <a:schemeClr val="accent5"/>
                </a:solidFill>
                <a:latin typeface="Calibri"/>
                <a:ea typeface="Calibri"/>
                <a:cs typeface="Calibri"/>
                <a:sym typeface="Calibri"/>
              </a:rPr>
              <a:t>get&lt;NomAttribut&gt; </a:t>
            </a:r>
            <a:endParaRPr b="1" sz="1800">
              <a:solidFill>
                <a:schemeClr val="accent5"/>
              </a:solidFill>
              <a:latin typeface="Calibri"/>
              <a:ea typeface="Calibri"/>
              <a:cs typeface="Calibri"/>
              <a:sym typeface="Calibri"/>
            </a:endParaRPr>
          </a:p>
          <a:p>
            <a:pPr indent="-285750" lvl="0" marL="1212850" marR="1920875" rtl="0" algn="just">
              <a:lnSpc>
                <a:spcPct val="100000"/>
              </a:lnSpc>
              <a:spcBef>
                <a:spcPts val="1010"/>
              </a:spcBef>
              <a:spcAft>
                <a:spcPts val="0"/>
              </a:spcAft>
              <a:buClr>
                <a:schemeClr val="accent5"/>
              </a:buClr>
              <a:buSzPts val="1800"/>
              <a:buFont typeface="Noto Sans Symbols"/>
              <a:buChar char="⮚"/>
            </a:pPr>
            <a:r>
              <a:rPr b="1" lang="en-US" sz="1800">
                <a:solidFill>
                  <a:schemeClr val="accent5"/>
                </a:solidFill>
                <a:latin typeface="Calibri"/>
                <a:ea typeface="Calibri"/>
                <a:cs typeface="Calibri"/>
                <a:sym typeface="Calibri"/>
              </a:rPr>
              <a:t>Ex.      getX()</a:t>
            </a:r>
            <a:endParaRPr sz="1800">
              <a:solidFill>
                <a:schemeClr val="accent5"/>
              </a:solidFill>
              <a:latin typeface="Calibri"/>
              <a:ea typeface="Calibri"/>
              <a:cs typeface="Calibri"/>
              <a:sym typeface="Calibri"/>
            </a:endParaRPr>
          </a:p>
          <a:p>
            <a:pPr indent="-342900" lvl="0" marL="812800" marR="0" rtl="0" algn="just">
              <a:lnSpc>
                <a:spcPct val="100000"/>
              </a:lnSpc>
              <a:spcBef>
                <a:spcPts val="985"/>
              </a:spcBef>
              <a:spcAft>
                <a:spcPts val="0"/>
              </a:spcAft>
              <a:buClr>
                <a:srgbClr val="3F3F3F"/>
              </a:buClr>
              <a:buSzPts val="2000"/>
              <a:buFont typeface="Noto Sans Symbols"/>
              <a:buChar char="▪"/>
            </a:pPr>
            <a:r>
              <a:rPr b="1" lang="en-US" sz="2000">
                <a:solidFill>
                  <a:schemeClr val="dk1"/>
                </a:solidFill>
                <a:latin typeface="Calibri"/>
                <a:ea typeface="Calibri"/>
                <a:cs typeface="Calibri"/>
                <a:sym typeface="Calibri"/>
              </a:rPr>
              <a:t>Méthode d’altération </a:t>
            </a:r>
            <a:r>
              <a:rPr lang="en-US" sz="2000">
                <a:solidFill>
                  <a:srgbClr val="404040"/>
                </a:solidFill>
                <a:latin typeface="Calibri"/>
                <a:ea typeface="Calibri"/>
                <a:cs typeface="Calibri"/>
                <a:sym typeface="Calibri"/>
              </a:rPr>
              <a:t>(</a:t>
            </a:r>
            <a:r>
              <a:rPr b="1" i="1" lang="en-US" sz="2000">
                <a:solidFill>
                  <a:schemeClr val="accent5"/>
                </a:solidFill>
                <a:latin typeface="Calibri"/>
                <a:ea typeface="Calibri"/>
                <a:cs typeface="Calibri"/>
                <a:sym typeface="Calibri"/>
              </a:rPr>
              <a:t>Setters / mutator</a:t>
            </a:r>
            <a:r>
              <a:rPr lang="en-US" sz="2000">
                <a:solidFill>
                  <a:srgbClr val="404040"/>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285750" lvl="0" marL="1212850" marR="0" rtl="0" algn="just">
              <a:lnSpc>
                <a:spcPct val="100000"/>
              </a:lnSpc>
              <a:spcBef>
                <a:spcPts val="1010"/>
              </a:spcBef>
              <a:spcAft>
                <a:spcPts val="0"/>
              </a:spcAft>
              <a:buClr>
                <a:srgbClr val="3F3F3F"/>
              </a:buClr>
              <a:buSzPts val="1800"/>
              <a:buFont typeface="Noto Sans Symbols"/>
              <a:buChar char="⮚"/>
            </a:pPr>
            <a:r>
              <a:rPr lang="en-US" sz="1800">
                <a:solidFill>
                  <a:schemeClr val="dk1"/>
                </a:solidFill>
                <a:latin typeface="Calibri"/>
                <a:ea typeface="Calibri"/>
                <a:cs typeface="Calibri"/>
                <a:sym typeface="Calibri"/>
              </a:rPr>
              <a:t>Permet de modifier un attribut</a:t>
            </a:r>
            <a:endParaRPr sz="1800">
              <a:solidFill>
                <a:schemeClr val="dk1"/>
              </a:solidFill>
              <a:latin typeface="Calibri"/>
              <a:ea typeface="Calibri"/>
              <a:cs typeface="Calibri"/>
              <a:sym typeface="Calibri"/>
            </a:endParaRPr>
          </a:p>
          <a:p>
            <a:pPr indent="-285750" lvl="0" marL="1212850" marR="0" rtl="0" algn="just">
              <a:lnSpc>
                <a:spcPct val="100000"/>
              </a:lnSpc>
              <a:spcBef>
                <a:spcPts val="994"/>
              </a:spcBef>
              <a:spcAft>
                <a:spcPts val="0"/>
              </a:spcAft>
              <a:buClr>
                <a:srgbClr val="3F3F3F"/>
              </a:buClr>
              <a:buSzPts val="1800"/>
              <a:buFont typeface="Noto Sans Symbols"/>
              <a:buChar char="⮚"/>
            </a:pPr>
            <a:r>
              <a:rPr lang="en-US" sz="1800">
                <a:solidFill>
                  <a:schemeClr val="dk1"/>
                </a:solidFill>
                <a:latin typeface="Calibri"/>
                <a:ea typeface="Calibri"/>
                <a:cs typeface="Calibri"/>
                <a:sym typeface="Calibri"/>
              </a:rPr>
              <a:t>Prend en paramètre la nouvelle valeur de l’attribut</a:t>
            </a:r>
            <a:endParaRPr sz="1800">
              <a:solidFill>
                <a:schemeClr val="dk1"/>
              </a:solidFill>
              <a:latin typeface="Calibri"/>
              <a:ea typeface="Calibri"/>
              <a:cs typeface="Calibri"/>
              <a:sym typeface="Calibri"/>
            </a:endParaRPr>
          </a:p>
          <a:p>
            <a:pPr indent="-285750" lvl="0" marL="1212850" marR="2796540" rtl="0" algn="just">
              <a:lnSpc>
                <a:spcPct val="100000"/>
              </a:lnSpc>
              <a:spcBef>
                <a:spcPts val="1010"/>
              </a:spcBef>
              <a:spcAft>
                <a:spcPts val="0"/>
              </a:spcAft>
              <a:buClr>
                <a:srgbClr val="3F3F3F"/>
              </a:buClr>
              <a:buSzPts val="1800"/>
              <a:buFont typeface="Noto Sans Symbols"/>
              <a:buChar char="⮚"/>
            </a:pPr>
            <a:r>
              <a:rPr lang="en-US" sz="1800">
                <a:solidFill>
                  <a:schemeClr val="dk1"/>
                </a:solidFill>
                <a:latin typeface="Calibri"/>
                <a:ea typeface="Calibri"/>
                <a:cs typeface="Calibri"/>
                <a:sym typeface="Calibri"/>
              </a:rPr>
              <a:t>En général, le nom de la méthode est       </a:t>
            </a:r>
            <a:r>
              <a:rPr b="1" lang="en-US" sz="1800">
                <a:solidFill>
                  <a:schemeClr val="accent5"/>
                </a:solidFill>
                <a:latin typeface="Calibri"/>
                <a:ea typeface="Calibri"/>
                <a:cs typeface="Calibri"/>
                <a:sym typeface="Calibri"/>
              </a:rPr>
              <a:t>setXXX </a:t>
            </a:r>
            <a:endParaRPr b="1" sz="1800">
              <a:solidFill>
                <a:schemeClr val="accent5"/>
              </a:solidFill>
              <a:latin typeface="Calibri"/>
              <a:ea typeface="Calibri"/>
              <a:cs typeface="Calibri"/>
              <a:sym typeface="Calibri"/>
            </a:endParaRPr>
          </a:p>
          <a:p>
            <a:pPr indent="-285750" lvl="0" marL="1212850" marR="2796540" rtl="0" algn="just">
              <a:lnSpc>
                <a:spcPct val="100000"/>
              </a:lnSpc>
              <a:spcBef>
                <a:spcPts val="1010"/>
              </a:spcBef>
              <a:spcAft>
                <a:spcPts val="0"/>
              </a:spcAft>
              <a:buClr>
                <a:schemeClr val="accent5"/>
              </a:buClr>
              <a:buSzPts val="1800"/>
              <a:buFont typeface="Noto Sans Symbols"/>
              <a:buChar char="⮚"/>
            </a:pPr>
            <a:r>
              <a:rPr b="1" lang="en-US" sz="1800">
                <a:solidFill>
                  <a:schemeClr val="accent5"/>
                </a:solidFill>
                <a:latin typeface="Calibri"/>
                <a:ea typeface="Calibri"/>
                <a:cs typeface="Calibri"/>
                <a:sym typeface="Calibri"/>
              </a:rPr>
              <a:t>Ex.    setX (int xx)</a:t>
            </a:r>
            <a:endParaRPr sz="1800">
              <a:solidFill>
                <a:schemeClr val="accent5"/>
              </a:solidFill>
              <a:latin typeface="Calibri"/>
              <a:ea typeface="Calibri"/>
              <a:cs typeface="Calibri"/>
              <a:sym typeface="Calibri"/>
            </a:endParaRPr>
          </a:p>
        </p:txBody>
      </p:sp>
      <p:sp>
        <p:nvSpPr>
          <p:cNvPr id="403" name="Google Shape;403;p26"/>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35</a:t>
            </a:r>
            <a:endParaRPr sz="2000">
              <a:solidFill>
                <a:schemeClr val="dk1"/>
              </a:solidFill>
              <a:latin typeface="Verdana"/>
              <a:ea typeface="Verdana"/>
              <a:cs typeface="Verdana"/>
              <a:sym typeface="Verdana"/>
            </a:endParaRPr>
          </a:p>
        </p:txBody>
      </p:sp>
      <p:sp>
        <p:nvSpPr>
          <p:cNvPr id="404" name="Google Shape;404;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12700" rtl="0" algn="l">
              <a:lnSpc>
                <a:spcPct val="100000"/>
              </a:lnSpc>
              <a:spcBef>
                <a:spcPts val="0"/>
              </a:spcBef>
              <a:spcAft>
                <a:spcPts val="0"/>
              </a:spcAft>
              <a:buClr>
                <a:srgbClr val="3F3F3F"/>
              </a:buClr>
              <a:buSzPts val="4800"/>
              <a:buFont typeface="Calibri"/>
              <a:buNone/>
            </a:pPr>
            <a:r>
              <a:rPr lang="en-US"/>
              <a:t>Encapsulation et visibilité</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7"/>
          <p:cNvSpPr txBox="1"/>
          <p:nvPr/>
        </p:nvSpPr>
        <p:spPr>
          <a:xfrm>
            <a:off x="1279448" y="1702667"/>
            <a:ext cx="3895725" cy="470916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7925">
            <a:spAutoFit/>
          </a:bodyPr>
          <a:lstStyle/>
          <a:p>
            <a:pPr indent="0" lvl="0" marL="90805" marR="0" rtl="0" algn="l">
              <a:lnSpc>
                <a:spcPct val="100000"/>
              </a:lnSpc>
              <a:spcBef>
                <a:spcPts val="0"/>
              </a:spcBef>
              <a:spcAft>
                <a:spcPts val="0"/>
              </a:spcAft>
              <a:buNone/>
            </a:pPr>
            <a:r>
              <a:rPr b="1" lang="en-US" sz="1200">
                <a:solidFill>
                  <a:schemeClr val="dk1"/>
                </a:solidFill>
                <a:latin typeface="Courier New"/>
                <a:ea typeface="Courier New"/>
                <a:cs typeface="Courier New"/>
                <a:sym typeface="Courier New"/>
              </a:rPr>
              <a:t>class </a:t>
            </a:r>
            <a:r>
              <a:rPr lang="en-US" sz="1200">
                <a:solidFill>
                  <a:srgbClr val="003399"/>
                </a:solidFill>
                <a:latin typeface="Courier New"/>
                <a:ea typeface="Courier New"/>
                <a:cs typeface="Courier New"/>
                <a:sym typeface="Courier New"/>
              </a:rPr>
              <a:t>Point</a:t>
            </a:r>
            <a:r>
              <a:rPr lang="en-US" sz="1200">
                <a:solidFill>
                  <a:srgbClr val="009900"/>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i="1" lang="en-US" sz="1200">
                <a:solidFill>
                  <a:srgbClr val="666666"/>
                </a:solidFill>
                <a:latin typeface="Courier New"/>
                <a:ea typeface="Courier New"/>
                <a:cs typeface="Courier New"/>
                <a:sym typeface="Courier New"/>
              </a:rPr>
              <a:t>//ATTRIBUTS</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5"/>
              </a:spcBef>
              <a:spcAft>
                <a:spcPts val="0"/>
              </a:spcAft>
              <a:buNone/>
            </a:pPr>
            <a:r>
              <a:rPr b="1" lang="en-US" sz="1200">
                <a:solidFill>
                  <a:srgbClr val="000066"/>
                </a:solidFill>
                <a:latin typeface="Courier New"/>
                <a:ea typeface="Courier New"/>
                <a:cs typeface="Courier New"/>
                <a:sym typeface="Courier New"/>
              </a:rPr>
              <a:t>private int </a:t>
            </a:r>
            <a:r>
              <a:rPr lang="en-US" sz="1200">
                <a:solidFill>
                  <a:srgbClr val="000066"/>
                </a:solidFill>
                <a:latin typeface="Courier New"/>
                <a:ea typeface="Courier New"/>
                <a:cs typeface="Courier New"/>
                <a:sym typeface="Courier New"/>
              </a:rPr>
              <a:t>x</a:t>
            </a:r>
            <a:r>
              <a:rPr lang="en-US" sz="1200">
                <a:solidFill>
                  <a:srgbClr val="339933"/>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b="1" lang="en-US" sz="1200">
                <a:solidFill>
                  <a:srgbClr val="000066"/>
                </a:solidFill>
                <a:latin typeface="Courier New"/>
                <a:ea typeface="Courier New"/>
                <a:cs typeface="Courier New"/>
                <a:sym typeface="Courier New"/>
              </a:rPr>
              <a:t>private int </a:t>
            </a:r>
            <a:r>
              <a:rPr lang="en-US" sz="1200">
                <a:solidFill>
                  <a:srgbClr val="000066"/>
                </a:solidFill>
                <a:latin typeface="Courier New"/>
                <a:ea typeface="Courier New"/>
                <a:cs typeface="Courier New"/>
                <a:sym typeface="Courier New"/>
              </a:rPr>
              <a:t>y</a:t>
            </a:r>
            <a:r>
              <a:rPr lang="en-US" sz="1200">
                <a:solidFill>
                  <a:srgbClr val="339933"/>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marR="0" rtl="0" algn="l">
              <a:lnSpc>
                <a:spcPct val="100000"/>
              </a:lnSpc>
              <a:spcBef>
                <a:spcPts val="25"/>
              </a:spcBef>
              <a:spcAft>
                <a:spcPts val="0"/>
              </a:spcAft>
              <a:buNone/>
            </a:pPr>
            <a:r>
              <a:t/>
            </a:r>
            <a:endParaRPr sz="125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i="1" lang="en-US" sz="1200">
                <a:solidFill>
                  <a:srgbClr val="666666"/>
                </a:solidFill>
                <a:latin typeface="Courier New"/>
                <a:ea typeface="Courier New"/>
                <a:cs typeface="Courier New"/>
                <a:sym typeface="Courier New"/>
              </a:rPr>
              <a:t>//Construteurs</a:t>
            </a:r>
            <a:endParaRPr sz="1200">
              <a:solidFill>
                <a:schemeClr val="dk1"/>
              </a:solidFill>
              <a:latin typeface="Courier New"/>
              <a:ea typeface="Courier New"/>
              <a:cs typeface="Courier New"/>
              <a:sym typeface="Courier New"/>
            </a:endParaRPr>
          </a:p>
          <a:p>
            <a:pPr indent="-457834" lvl="0" marL="1005840" marR="669925" rtl="0" algn="l">
              <a:lnSpc>
                <a:spcPct val="100000"/>
              </a:lnSpc>
              <a:spcBef>
                <a:spcPts val="0"/>
              </a:spcBef>
              <a:spcAft>
                <a:spcPts val="0"/>
              </a:spcAft>
              <a:buNone/>
            </a:pPr>
            <a:r>
              <a:rPr lang="en-US" sz="1200">
                <a:solidFill>
                  <a:srgbClr val="000066"/>
                </a:solidFill>
                <a:latin typeface="Courier New"/>
                <a:ea typeface="Courier New"/>
                <a:cs typeface="Courier New"/>
                <a:sym typeface="Courier New"/>
              </a:rPr>
              <a:t>public Point</a:t>
            </a:r>
            <a:r>
              <a:rPr lang="en-US" sz="1200">
                <a:solidFill>
                  <a:srgbClr val="009900"/>
                </a:solidFill>
                <a:latin typeface="Courier New"/>
                <a:ea typeface="Courier New"/>
                <a:cs typeface="Courier New"/>
                <a:sym typeface="Courier New"/>
              </a:rPr>
              <a:t>(</a:t>
            </a:r>
            <a:r>
              <a:rPr lang="en-US" sz="1200">
                <a:solidFill>
                  <a:srgbClr val="000066"/>
                </a:solidFill>
                <a:latin typeface="Courier New"/>
                <a:ea typeface="Courier New"/>
                <a:cs typeface="Courier New"/>
                <a:sym typeface="Courier New"/>
              </a:rPr>
              <a:t>int xx, int yy</a:t>
            </a:r>
            <a:r>
              <a:rPr lang="en-US" sz="1200">
                <a:solidFill>
                  <a:srgbClr val="009900"/>
                </a:solidFill>
                <a:latin typeface="Courier New"/>
                <a:ea typeface="Courier New"/>
                <a:cs typeface="Courier New"/>
                <a:sym typeface="Courier New"/>
              </a:rPr>
              <a:t>){ </a:t>
            </a:r>
            <a:r>
              <a:rPr lang="en-US" sz="1200">
                <a:solidFill>
                  <a:srgbClr val="000066"/>
                </a:solidFill>
                <a:latin typeface="Courier New"/>
                <a:ea typeface="Courier New"/>
                <a:cs typeface="Courier New"/>
                <a:sym typeface="Courier New"/>
              </a:rPr>
              <a:t>x </a:t>
            </a:r>
            <a:r>
              <a:rPr lang="en-US" sz="1200">
                <a:solidFill>
                  <a:srgbClr val="339933"/>
                </a:solidFill>
                <a:latin typeface="Courier New"/>
                <a:ea typeface="Courier New"/>
                <a:cs typeface="Courier New"/>
                <a:sym typeface="Courier New"/>
              </a:rPr>
              <a:t>= </a:t>
            </a:r>
            <a:r>
              <a:rPr lang="en-US" sz="1200">
                <a:solidFill>
                  <a:srgbClr val="000066"/>
                </a:solidFill>
                <a:latin typeface="Courier New"/>
                <a:ea typeface="Courier New"/>
                <a:cs typeface="Courier New"/>
                <a:sym typeface="Courier New"/>
              </a:rPr>
              <a:t>xx</a:t>
            </a:r>
            <a:r>
              <a:rPr lang="en-US" sz="1200">
                <a:solidFill>
                  <a:srgbClr val="339933"/>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1005840" marR="0" rtl="0" algn="l">
              <a:lnSpc>
                <a:spcPct val="100000"/>
              </a:lnSpc>
              <a:spcBef>
                <a:spcPts val="0"/>
              </a:spcBef>
              <a:spcAft>
                <a:spcPts val="0"/>
              </a:spcAft>
              <a:buNone/>
            </a:pPr>
            <a:r>
              <a:rPr lang="en-US" sz="1200">
                <a:solidFill>
                  <a:srgbClr val="000066"/>
                </a:solidFill>
                <a:latin typeface="Courier New"/>
                <a:ea typeface="Courier New"/>
                <a:cs typeface="Courier New"/>
                <a:sym typeface="Courier New"/>
              </a:rPr>
              <a:t>y </a:t>
            </a:r>
            <a:r>
              <a:rPr lang="en-US" sz="1200">
                <a:solidFill>
                  <a:srgbClr val="339933"/>
                </a:solidFill>
                <a:latin typeface="Courier New"/>
                <a:ea typeface="Courier New"/>
                <a:cs typeface="Courier New"/>
                <a:sym typeface="Courier New"/>
              </a:rPr>
              <a:t>= </a:t>
            </a:r>
            <a:r>
              <a:rPr lang="en-US" sz="1200">
                <a:solidFill>
                  <a:srgbClr val="000066"/>
                </a:solidFill>
                <a:latin typeface="Courier New"/>
                <a:ea typeface="Courier New"/>
                <a:cs typeface="Courier New"/>
                <a:sym typeface="Courier New"/>
              </a:rPr>
              <a:t>yy</a:t>
            </a:r>
            <a:r>
              <a:rPr lang="en-US" sz="1200">
                <a:solidFill>
                  <a:srgbClr val="339933"/>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200">
                <a:solidFill>
                  <a:srgbClr val="009900"/>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i="1" lang="en-US" sz="1200">
                <a:solidFill>
                  <a:srgbClr val="666666"/>
                </a:solidFill>
                <a:latin typeface="Courier New"/>
                <a:ea typeface="Courier New"/>
                <a:cs typeface="Courier New"/>
                <a:sym typeface="Courier New"/>
              </a:rPr>
              <a:t>//Getters et Setters</a:t>
            </a:r>
            <a:endParaRPr sz="1200">
              <a:solidFill>
                <a:schemeClr val="dk1"/>
              </a:solidFill>
              <a:latin typeface="Courier New"/>
              <a:ea typeface="Courier New"/>
              <a:cs typeface="Courier New"/>
              <a:sym typeface="Courier New"/>
            </a:endParaRPr>
          </a:p>
          <a:p>
            <a:pPr indent="-457834" lvl="0" marL="1005840" marR="1590675" rtl="0" algn="l">
              <a:lnSpc>
                <a:spcPct val="100000"/>
              </a:lnSpc>
              <a:spcBef>
                <a:spcPts val="0"/>
              </a:spcBef>
              <a:spcAft>
                <a:spcPts val="0"/>
              </a:spcAft>
              <a:buNone/>
            </a:pPr>
            <a:r>
              <a:rPr lang="en-US" sz="1200">
                <a:solidFill>
                  <a:srgbClr val="000066"/>
                </a:solidFill>
                <a:latin typeface="Courier New"/>
                <a:ea typeface="Courier New"/>
                <a:cs typeface="Courier New"/>
                <a:sym typeface="Courier New"/>
              </a:rPr>
              <a:t>public </a:t>
            </a:r>
            <a:r>
              <a:rPr b="1" lang="en-US" sz="1200">
                <a:solidFill>
                  <a:srgbClr val="000066"/>
                </a:solidFill>
                <a:latin typeface="Courier New"/>
                <a:ea typeface="Courier New"/>
                <a:cs typeface="Courier New"/>
                <a:sym typeface="Courier New"/>
              </a:rPr>
              <a:t>int </a:t>
            </a:r>
            <a:r>
              <a:rPr lang="en-US" sz="1200">
                <a:solidFill>
                  <a:srgbClr val="000066"/>
                </a:solidFill>
                <a:latin typeface="Courier New"/>
                <a:ea typeface="Courier New"/>
                <a:cs typeface="Courier New"/>
                <a:sym typeface="Courier New"/>
              </a:rPr>
              <a:t>getX() </a:t>
            </a:r>
            <a:r>
              <a:rPr lang="en-US" sz="1200">
                <a:solidFill>
                  <a:srgbClr val="009900"/>
                </a:solidFill>
                <a:latin typeface="Courier New"/>
                <a:ea typeface="Courier New"/>
                <a:cs typeface="Courier New"/>
                <a:sym typeface="Courier New"/>
              </a:rPr>
              <a:t>{ </a:t>
            </a:r>
            <a:r>
              <a:rPr lang="en-US" sz="1200">
                <a:solidFill>
                  <a:srgbClr val="000066"/>
                </a:solidFill>
                <a:latin typeface="Courier New"/>
                <a:ea typeface="Courier New"/>
                <a:cs typeface="Courier New"/>
                <a:sym typeface="Courier New"/>
              </a:rPr>
              <a:t>return x;</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200">
                <a:solidFill>
                  <a:srgbClr val="009900"/>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200">
                <a:solidFill>
                  <a:srgbClr val="000066"/>
                </a:solidFill>
                <a:latin typeface="Courier New"/>
                <a:ea typeface="Courier New"/>
                <a:cs typeface="Courier New"/>
                <a:sym typeface="Courier New"/>
              </a:rPr>
              <a:t>public </a:t>
            </a:r>
            <a:r>
              <a:rPr b="1" lang="en-US" sz="1200">
                <a:solidFill>
                  <a:srgbClr val="000066"/>
                </a:solidFill>
                <a:latin typeface="Courier New"/>
                <a:ea typeface="Courier New"/>
                <a:cs typeface="Courier New"/>
                <a:sym typeface="Courier New"/>
              </a:rPr>
              <a:t>int </a:t>
            </a:r>
            <a:r>
              <a:rPr lang="en-US" sz="1200">
                <a:solidFill>
                  <a:srgbClr val="000066"/>
                </a:solidFill>
                <a:latin typeface="Courier New"/>
                <a:ea typeface="Courier New"/>
                <a:cs typeface="Courier New"/>
                <a:sym typeface="Courier New"/>
              </a:rPr>
              <a:t>getY() </a:t>
            </a:r>
            <a:r>
              <a:rPr lang="en-US" sz="1200">
                <a:solidFill>
                  <a:srgbClr val="009900"/>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1005840" marR="0" rtl="0" algn="l">
              <a:lnSpc>
                <a:spcPct val="100000"/>
              </a:lnSpc>
              <a:spcBef>
                <a:spcPts val="0"/>
              </a:spcBef>
              <a:spcAft>
                <a:spcPts val="0"/>
              </a:spcAft>
              <a:buNone/>
            </a:pPr>
            <a:r>
              <a:rPr lang="en-US" sz="1200">
                <a:solidFill>
                  <a:srgbClr val="000066"/>
                </a:solidFill>
                <a:latin typeface="Courier New"/>
                <a:ea typeface="Courier New"/>
                <a:cs typeface="Courier New"/>
                <a:sym typeface="Courier New"/>
              </a:rPr>
              <a:t>return y;</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200">
                <a:solidFill>
                  <a:srgbClr val="009900"/>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549275" lvl="0" marL="1097280" marR="946150" rtl="0" algn="l">
              <a:lnSpc>
                <a:spcPct val="100000"/>
              </a:lnSpc>
              <a:spcBef>
                <a:spcPts val="0"/>
              </a:spcBef>
              <a:spcAft>
                <a:spcPts val="0"/>
              </a:spcAft>
              <a:buNone/>
            </a:pPr>
            <a:r>
              <a:rPr lang="en-US" sz="1200">
                <a:solidFill>
                  <a:srgbClr val="000066"/>
                </a:solidFill>
                <a:latin typeface="Courier New"/>
                <a:ea typeface="Courier New"/>
                <a:cs typeface="Courier New"/>
                <a:sym typeface="Courier New"/>
              </a:rPr>
              <a:t>public </a:t>
            </a:r>
            <a:r>
              <a:rPr b="1" lang="en-US" sz="1200">
                <a:solidFill>
                  <a:srgbClr val="000066"/>
                </a:solidFill>
                <a:latin typeface="Courier New"/>
                <a:ea typeface="Courier New"/>
                <a:cs typeface="Courier New"/>
                <a:sym typeface="Courier New"/>
              </a:rPr>
              <a:t>void </a:t>
            </a:r>
            <a:r>
              <a:rPr lang="en-US" sz="1200">
                <a:solidFill>
                  <a:srgbClr val="000066"/>
                </a:solidFill>
                <a:latin typeface="Courier New"/>
                <a:ea typeface="Courier New"/>
                <a:cs typeface="Courier New"/>
                <a:sym typeface="Courier New"/>
              </a:rPr>
              <a:t>setX (int x) </a:t>
            </a:r>
            <a:r>
              <a:rPr lang="en-US" sz="1200">
                <a:solidFill>
                  <a:srgbClr val="009900"/>
                </a:solidFill>
                <a:latin typeface="Courier New"/>
                <a:ea typeface="Courier New"/>
                <a:cs typeface="Courier New"/>
                <a:sym typeface="Courier New"/>
              </a:rPr>
              <a:t>{ </a:t>
            </a:r>
            <a:r>
              <a:rPr lang="en-US" sz="1200">
                <a:solidFill>
                  <a:srgbClr val="000066"/>
                </a:solidFill>
                <a:latin typeface="Courier New"/>
                <a:ea typeface="Courier New"/>
                <a:cs typeface="Courier New"/>
                <a:sym typeface="Courier New"/>
              </a:rPr>
              <a:t>this.x = x;</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5"/>
              </a:spcBef>
              <a:spcAft>
                <a:spcPts val="0"/>
              </a:spcAft>
              <a:buNone/>
            </a:pPr>
            <a:r>
              <a:rPr lang="en-US" sz="1200">
                <a:solidFill>
                  <a:srgbClr val="009900"/>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marR="0" rtl="0" algn="l">
              <a:lnSpc>
                <a:spcPct val="100000"/>
              </a:lnSpc>
              <a:spcBef>
                <a:spcPts val="20"/>
              </a:spcBef>
              <a:spcAft>
                <a:spcPts val="0"/>
              </a:spcAft>
              <a:buNone/>
            </a:pPr>
            <a:r>
              <a:t/>
            </a:r>
            <a:endParaRPr sz="1250">
              <a:solidFill>
                <a:schemeClr val="dk1"/>
              </a:solidFill>
              <a:latin typeface="Courier New"/>
              <a:ea typeface="Courier New"/>
              <a:cs typeface="Courier New"/>
              <a:sym typeface="Courier New"/>
            </a:endParaRPr>
          </a:p>
          <a:p>
            <a:pPr indent="-549275" lvl="0" marL="1097280" marR="946150" rtl="0" algn="l">
              <a:lnSpc>
                <a:spcPct val="100000"/>
              </a:lnSpc>
              <a:spcBef>
                <a:spcPts val="0"/>
              </a:spcBef>
              <a:spcAft>
                <a:spcPts val="0"/>
              </a:spcAft>
              <a:buNone/>
            </a:pPr>
            <a:r>
              <a:rPr lang="en-US" sz="1200">
                <a:solidFill>
                  <a:srgbClr val="000066"/>
                </a:solidFill>
                <a:latin typeface="Courier New"/>
                <a:ea typeface="Courier New"/>
                <a:cs typeface="Courier New"/>
                <a:sym typeface="Courier New"/>
              </a:rPr>
              <a:t>public </a:t>
            </a:r>
            <a:r>
              <a:rPr b="1" lang="en-US" sz="1200">
                <a:solidFill>
                  <a:srgbClr val="000066"/>
                </a:solidFill>
                <a:latin typeface="Courier New"/>
                <a:ea typeface="Courier New"/>
                <a:cs typeface="Courier New"/>
                <a:sym typeface="Courier New"/>
              </a:rPr>
              <a:t>void </a:t>
            </a:r>
            <a:r>
              <a:rPr lang="en-US" sz="1200">
                <a:solidFill>
                  <a:srgbClr val="000066"/>
                </a:solidFill>
                <a:latin typeface="Courier New"/>
                <a:ea typeface="Courier New"/>
                <a:cs typeface="Courier New"/>
                <a:sym typeface="Courier New"/>
              </a:rPr>
              <a:t>setY (int y) </a:t>
            </a:r>
            <a:r>
              <a:rPr lang="en-US" sz="1200">
                <a:solidFill>
                  <a:srgbClr val="009900"/>
                </a:solidFill>
                <a:latin typeface="Courier New"/>
                <a:ea typeface="Courier New"/>
                <a:cs typeface="Courier New"/>
                <a:sym typeface="Courier New"/>
              </a:rPr>
              <a:t>{ </a:t>
            </a:r>
            <a:r>
              <a:rPr lang="en-US" sz="1200">
                <a:solidFill>
                  <a:srgbClr val="000066"/>
                </a:solidFill>
                <a:latin typeface="Courier New"/>
                <a:ea typeface="Courier New"/>
                <a:cs typeface="Courier New"/>
                <a:sym typeface="Courier New"/>
              </a:rPr>
              <a:t>this.y = y;</a:t>
            </a:r>
            <a:endParaRPr sz="12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200">
                <a:solidFill>
                  <a:srgbClr val="009900"/>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90805" marR="0" rtl="0" algn="l">
              <a:lnSpc>
                <a:spcPct val="100000"/>
              </a:lnSpc>
              <a:spcBef>
                <a:spcPts val="5"/>
              </a:spcBef>
              <a:spcAft>
                <a:spcPts val="0"/>
              </a:spcAft>
              <a:buNone/>
            </a:pPr>
            <a:r>
              <a:rPr lang="en-US" sz="1200">
                <a:solidFill>
                  <a:srgbClr val="009900"/>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p:txBody>
      </p:sp>
      <p:sp>
        <p:nvSpPr>
          <p:cNvPr id="410" name="Google Shape;410;p27"/>
          <p:cNvSpPr txBox="1"/>
          <p:nvPr/>
        </p:nvSpPr>
        <p:spPr>
          <a:xfrm>
            <a:off x="5553635" y="2496044"/>
            <a:ext cx="5499847" cy="2418611"/>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5400">
            <a:spAutoFit/>
          </a:bodyPr>
          <a:lstStyle/>
          <a:p>
            <a:pPr indent="0" lvl="0" marL="92710" marR="0" rtl="0" algn="l">
              <a:lnSpc>
                <a:spcPct val="100000"/>
              </a:lnSpc>
              <a:spcBef>
                <a:spcPts val="0"/>
              </a:spcBef>
              <a:spcAft>
                <a:spcPts val="0"/>
              </a:spcAft>
              <a:buNone/>
            </a:pPr>
            <a:r>
              <a:rPr b="1" lang="en-US" sz="1400">
                <a:solidFill>
                  <a:schemeClr val="dk1"/>
                </a:solidFill>
                <a:latin typeface="Courier New"/>
                <a:ea typeface="Courier New"/>
                <a:cs typeface="Courier New"/>
                <a:sym typeface="Courier New"/>
              </a:rPr>
              <a:t>public class </a:t>
            </a:r>
            <a:r>
              <a:rPr lang="en-US" sz="1400">
                <a:solidFill>
                  <a:srgbClr val="000066"/>
                </a:solidFill>
                <a:latin typeface="Courier New"/>
                <a:ea typeface="Courier New"/>
                <a:cs typeface="Courier New"/>
                <a:sym typeface="Courier New"/>
              </a:rPr>
              <a:t>Test</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007110" marR="0" rtl="0" algn="l">
              <a:lnSpc>
                <a:spcPct val="100000"/>
              </a:lnSpc>
              <a:spcBef>
                <a:spcPts val="5"/>
              </a:spcBef>
              <a:spcAft>
                <a:spcPts val="0"/>
              </a:spcAft>
              <a:buNone/>
            </a:pPr>
            <a:r>
              <a:rPr b="1" lang="en-US" sz="1400">
                <a:solidFill>
                  <a:schemeClr val="dk1"/>
                </a:solidFill>
                <a:latin typeface="Courier New"/>
                <a:ea typeface="Courier New"/>
                <a:cs typeface="Courier New"/>
                <a:sym typeface="Courier New"/>
              </a:rPr>
              <a:t>public static </a:t>
            </a:r>
            <a:r>
              <a:rPr b="1" lang="en-US" sz="1400">
                <a:solidFill>
                  <a:srgbClr val="000066"/>
                </a:solidFill>
                <a:latin typeface="Courier New"/>
                <a:ea typeface="Courier New"/>
                <a:cs typeface="Courier New"/>
                <a:sym typeface="Courier New"/>
              </a:rPr>
              <a:t>void </a:t>
            </a:r>
            <a:r>
              <a:rPr lang="en-US" sz="1400">
                <a:solidFill>
                  <a:srgbClr val="000066"/>
                </a:solidFill>
                <a:latin typeface="Courier New"/>
                <a:ea typeface="Courier New"/>
                <a:cs typeface="Courier New"/>
                <a:sym typeface="Courier New"/>
              </a:rPr>
              <a:t>main </a:t>
            </a:r>
            <a:r>
              <a:rPr lang="en-US" sz="1400">
                <a:solidFill>
                  <a:srgbClr val="009900"/>
                </a:solidFill>
                <a:latin typeface="Courier New"/>
                <a:ea typeface="Courier New"/>
                <a:cs typeface="Courier New"/>
                <a:sym typeface="Courier New"/>
              </a:rPr>
              <a:t>(</a:t>
            </a:r>
            <a:r>
              <a:rPr lang="en-US" sz="1400">
                <a:solidFill>
                  <a:srgbClr val="003399"/>
                </a:solidFill>
                <a:latin typeface="Courier New"/>
                <a:ea typeface="Courier New"/>
                <a:cs typeface="Courier New"/>
                <a:sym typeface="Courier New"/>
              </a:rPr>
              <a:t>String</a:t>
            </a:r>
            <a:r>
              <a:rPr lang="en-US" sz="1400">
                <a:solidFill>
                  <a:srgbClr val="009900"/>
                </a:solidFill>
                <a:latin typeface="Courier New"/>
                <a:ea typeface="Courier New"/>
                <a:cs typeface="Courier New"/>
                <a:sym typeface="Courier New"/>
              </a:rPr>
              <a:t>[]</a:t>
            </a:r>
            <a:r>
              <a:rPr lang="en-US" sz="1400">
                <a:solidFill>
                  <a:schemeClr val="dk1"/>
                </a:solidFill>
                <a:latin typeface="Courier New"/>
                <a:ea typeface="Courier New"/>
                <a:cs typeface="Courier New"/>
                <a:sym typeface="Courier New"/>
              </a:rPr>
              <a:t> </a:t>
            </a:r>
            <a:r>
              <a:rPr lang="en-US" sz="1400">
                <a:solidFill>
                  <a:srgbClr val="000066"/>
                </a:solidFill>
                <a:latin typeface="Courier New"/>
                <a:ea typeface="Courier New"/>
                <a:cs typeface="Courier New"/>
                <a:sym typeface="Courier New"/>
              </a:rPr>
              <a:t>args</a:t>
            </a: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1921510" marR="0" rtl="0" algn="l">
              <a:lnSpc>
                <a:spcPct val="100000"/>
              </a:lnSpc>
              <a:spcBef>
                <a:spcPts val="0"/>
              </a:spcBef>
              <a:spcAft>
                <a:spcPts val="0"/>
              </a:spcAft>
              <a:buNone/>
            </a:pPr>
            <a:r>
              <a:t/>
            </a:r>
            <a:endParaRPr sz="1400">
              <a:solidFill>
                <a:srgbClr val="003399"/>
              </a:solidFill>
              <a:latin typeface="Courier New"/>
              <a:ea typeface="Courier New"/>
              <a:cs typeface="Courier New"/>
              <a:sym typeface="Courier New"/>
            </a:endParaRPr>
          </a:p>
          <a:p>
            <a:pPr indent="0" lvl="0" marL="1921510" marR="0" rtl="0" algn="l">
              <a:lnSpc>
                <a:spcPct val="100000"/>
              </a:lnSpc>
              <a:spcBef>
                <a:spcPts val="0"/>
              </a:spcBef>
              <a:spcAft>
                <a:spcPts val="0"/>
              </a:spcAft>
              <a:buNone/>
            </a:pPr>
            <a:r>
              <a:rPr lang="en-US" sz="1400">
                <a:solidFill>
                  <a:srgbClr val="003399"/>
                </a:solidFill>
                <a:latin typeface="Courier New"/>
                <a:ea typeface="Courier New"/>
                <a:cs typeface="Courier New"/>
                <a:sym typeface="Courier New"/>
              </a:rPr>
              <a:t>Point p = new Point (3, 4);</a:t>
            </a:r>
            <a:endParaRPr sz="1400">
              <a:solidFill>
                <a:schemeClr val="dk1"/>
              </a:solidFill>
              <a:latin typeface="Courier New"/>
              <a:ea typeface="Courier New"/>
              <a:cs typeface="Courier New"/>
              <a:sym typeface="Courier New"/>
            </a:endParaRPr>
          </a:p>
          <a:p>
            <a:pPr indent="0" lvl="0" marL="0" marR="0" rtl="0" algn="l">
              <a:lnSpc>
                <a:spcPct val="100000"/>
              </a:lnSpc>
              <a:spcBef>
                <a:spcPts val="35"/>
              </a:spcBef>
              <a:spcAft>
                <a:spcPts val="0"/>
              </a:spcAft>
              <a:buNone/>
            </a:pPr>
            <a:r>
              <a:t/>
            </a:r>
            <a:endParaRPr sz="1450">
              <a:solidFill>
                <a:schemeClr val="dk1"/>
              </a:solidFill>
              <a:latin typeface="Courier New"/>
              <a:ea typeface="Courier New"/>
              <a:cs typeface="Courier New"/>
              <a:sym typeface="Courier New"/>
            </a:endParaRPr>
          </a:p>
          <a:p>
            <a:pPr indent="0" lvl="0" marL="1921510" marR="0" rtl="0" algn="l">
              <a:lnSpc>
                <a:spcPct val="100000"/>
              </a:lnSpc>
              <a:spcBef>
                <a:spcPts val="0"/>
              </a:spcBef>
              <a:spcAft>
                <a:spcPts val="0"/>
              </a:spcAft>
              <a:buNone/>
            </a:pPr>
            <a:r>
              <a:rPr lang="en-US" sz="1400">
                <a:solidFill>
                  <a:srgbClr val="003399"/>
                </a:solidFill>
                <a:latin typeface="Courier New"/>
                <a:ea typeface="Courier New"/>
                <a:cs typeface="Courier New"/>
                <a:sym typeface="Courier New"/>
              </a:rPr>
              <a:t>p.setX(8);</a:t>
            </a:r>
            <a:endParaRPr sz="1400">
              <a:solidFill>
                <a:schemeClr val="dk1"/>
              </a:solidFill>
              <a:latin typeface="Courier New"/>
              <a:ea typeface="Courier New"/>
              <a:cs typeface="Courier New"/>
              <a:sym typeface="Courier New"/>
            </a:endParaRPr>
          </a:p>
          <a:p>
            <a:pPr indent="0" lvl="0" marL="0" marR="0" rtl="0" algn="l">
              <a:lnSpc>
                <a:spcPct val="100000"/>
              </a:lnSpc>
              <a:spcBef>
                <a:spcPts val="40"/>
              </a:spcBef>
              <a:spcAft>
                <a:spcPts val="0"/>
              </a:spcAft>
              <a:buNone/>
            </a:pPr>
            <a:r>
              <a:t/>
            </a:r>
            <a:endParaRPr sz="1450">
              <a:solidFill>
                <a:schemeClr val="dk1"/>
              </a:solidFill>
              <a:latin typeface="Courier New"/>
              <a:ea typeface="Courier New"/>
              <a:cs typeface="Courier New"/>
              <a:sym typeface="Courier New"/>
            </a:endParaRPr>
          </a:p>
          <a:p>
            <a:pPr indent="0" lvl="0" marL="1921510" marR="0" rtl="0" algn="l">
              <a:lnSpc>
                <a:spcPct val="100000"/>
              </a:lnSpc>
              <a:spcBef>
                <a:spcPts val="0"/>
              </a:spcBef>
              <a:spcAft>
                <a:spcPts val="0"/>
              </a:spcAft>
              <a:buNone/>
            </a:pPr>
            <a:r>
              <a:rPr lang="en-US" sz="1400">
                <a:solidFill>
                  <a:srgbClr val="003399"/>
                </a:solidFill>
                <a:latin typeface="Courier New"/>
                <a:ea typeface="Courier New"/>
                <a:cs typeface="Courier New"/>
                <a:sym typeface="Courier New"/>
              </a:rPr>
              <a:t>System.out.println(p.x);</a:t>
            </a:r>
            <a:endParaRPr sz="1400">
              <a:solidFill>
                <a:schemeClr val="dk1"/>
              </a:solidFill>
              <a:latin typeface="Courier New"/>
              <a:ea typeface="Courier New"/>
              <a:cs typeface="Courier New"/>
              <a:sym typeface="Courier New"/>
            </a:endParaRPr>
          </a:p>
          <a:p>
            <a:pPr indent="0" lvl="0" marL="0" marR="0" rtl="0" algn="l">
              <a:lnSpc>
                <a:spcPct val="100000"/>
              </a:lnSpc>
              <a:spcBef>
                <a:spcPts val="40"/>
              </a:spcBef>
              <a:spcAft>
                <a:spcPts val="0"/>
              </a:spcAft>
              <a:buNone/>
            </a:pPr>
            <a:r>
              <a:t/>
            </a:r>
            <a:endParaRPr sz="1450">
              <a:solidFill>
                <a:schemeClr val="dk1"/>
              </a:solidFill>
              <a:latin typeface="Courier New"/>
              <a:ea typeface="Courier New"/>
              <a:cs typeface="Courier New"/>
              <a:sym typeface="Courier New"/>
            </a:endParaRPr>
          </a:p>
          <a:p>
            <a:pPr indent="0" lvl="0" marL="100711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a:p>
            <a:pPr indent="0" lvl="0" marL="92710" marR="0" rtl="0" algn="l">
              <a:lnSpc>
                <a:spcPct val="100000"/>
              </a:lnSpc>
              <a:spcBef>
                <a:spcPts val="0"/>
              </a:spcBef>
              <a:spcAft>
                <a:spcPts val="0"/>
              </a:spcAft>
              <a:buNone/>
            </a:pPr>
            <a:r>
              <a:rPr lang="en-US" sz="1400">
                <a:solidFill>
                  <a:srgbClr val="009900"/>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411" name="Google Shape;411;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12700" rtl="0" algn="l">
              <a:lnSpc>
                <a:spcPct val="100000"/>
              </a:lnSpc>
              <a:spcBef>
                <a:spcPts val="0"/>
              </a:spcBef>
              <a:spcAft>
                <a:spcPts val="0"/>
              </a:spcAft>
              <a:buClr>
                <a:srgbClr val="3F3F3F"/>
              </a:buClr>
              <a:buSzPts val="4800"/>
              <a:buFont typeface="Calibri"/>
              <a:buNone/>
            </a:pPr>
            <a:r>
              <a:rPr lang="en-US"/>
              <a:t>Encapsulation et visibilité</a:t>
            </a:r>
            <a:endParaRPr/>
          </a:p>
        </p:txBody>
      </p:sp>
      <p:sp>
        <p:nvSpPr>
          <p:cNvPr id="412" name="Google Shape;412;p27"/>
          <p:cNvSpPr txBox="1"/>
          <p:nvPr/>
        </p:nvSpPr>
        <p:spPr>
          <a:xfrm>
            <a:off x="6736975" y="5350173"/>
            <a:ext cx="384585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Erreur de compilation 🡺 le champ Point.x n’est pas visible</a:t>
            </a:r>
            <a:endParaRPr sz="1800">
              <a:solidFill>
                <a:srgbClr val="FF0000"/>
              </a:solidFill>
              <a:latin typeface="Calibri"/>
              <a:ea typeface="Calibri"/>
              <a:cs typeface="Calibri"/>
              <a:sym typeface="Calibri"/>
            </a:endParaRPr>
          </a:p>
        </p:txBody>
      </p:sp>
      <p:sp>
        <p:nvSpPr>
          <p:cNvPr id="413" name="Google Shape;413;p27"/>
          <p:cNvSpPr/>
          <p:nvPr/>
        </p:nvSpPr>
        <p:spPr>
          <a:xfrm>
            <a:off x="7382435" y="4057247"/>
            <a:ext cx="2675965" cy="272706"/>
          </a:xfrm>
          <a:prstGeom prst="rect">
            <a:avLst/>
          </a:prstGeom>
          <a:no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8"/>
          <p:cNvSpPr txBox="1"/>
          <p:nvPr/>
        </p:nvSpPr>
        <p:spPr>
          <a:xfrm>
            <a:off x="1363906" y="1608122"/>
            <a:ext cx="8519682" cy="1392689"/>
          </a:xfrm>
          <a:prstGeom prst="rect">
            <a:avLst/>
          </a:prstGeom>
          <a:noFill/>
          <a:ln>
            <a:noFill/>
          </a:ln>
        </p:spPr>
        <p:txBody>
          <a:bodyPr anchorCtr="0" anchor="t" bIns="0" lIns="0" spcFirstLastPara="1" rIns="0" wrap="square" tIns="154925">
            <a:spAutoFit/>
          </a:bodyPr>
          <a:lstStyle/>
          <a:p>
            <a:pPr indent="-342900" lvl="0" marL="342900" marR="0" rtl="0" algn="just">
              <a:lnSpc>
                <a:spcPct val="100000"/>
              </a:lnSpc>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Les classes bénéficient également d’une visibilité</a:t>
            </a:r>
            <a:endParaRPr sz="2400">
              <a:solidFill>
                <a:schemeClr val="dk1"/>
              </a:solidFill>
              <a:latin typeface="Calibri"/>
              <a:ea typeface="Calibri"/>
              <a:cs typeface="Calibri"/>
              <a:sym typeface="Calibri"/>
            </a:endParaRPr>
          </a:p>
          <a:p>
            <a:pPr indent="-342900" lvl="0" marL="342900" marR="0" rtl="0" algn="just">
              <a:lnSpc>
                <a:spcPct val="100000"/>
              </a:lnSpc>
              <a:spcBef>
                <a:spcPts val="101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Déclarée devant le mot-clé </a:t>
            </a:r>
            <a:r>
              <a:rPr b="1" lang="en-US" sz="2400">
                <a:solidFill>
                  <a:schemeClr val="accent5"/>
                </a:solidFill>
                <a:latin typeface="Calibri"/>
                <a:ea typeface="Calibri"/>
                <a:cs typeface="Calibri"/>
                <a:sym typeface="Calibri"/>
              </a:rPr>
              <a:t>class</a:t>
            </a:r>
            <a:endParaRPr sz="2400">
              <a:solidFill>
                <a:schemeClr val="accent5"/>
              </a:solidFill>
              <a:latin typeface="Calibri"/>
              <a:ea typeface="Calibri"/>
              <a:cs typeface="Calibri"/>
              <a:sym typeface="Calibri"/>
            </a:endParaRPr>
          </a:p>
          <a:p>
            <a:pPr indent="0" lvl="0" marL="756285" marR="0" rtl="0" algn="l">
              <a:lnSpc>
                <a:spcPct val="100000"/>
              </a:lnSpc>
              <a:spcBef>
                <a:spcPts val="0"/>
              </a:spcBef>
              <a:spcAft>
                <a:spcPts val="0"/>
              </a:spcAft>
              <a:buNone/>
            </a:pPr>
            <a:r>
              <a:rPr b="1" lang="en-US" sz="2400">
                <a:solidFill>
                  <a:schemeClr val="accent5"/>
                </a:solidFill>
                <a:latin typeface="Calibri"/>
                <a:ea typeface="Calibri"/>
                <a:cs typeface="Calibri"/>
                <a:sym typeface="Calibri"/>
              </a:rPr>
              <a:t>&lt;visibilité&gt;  class &lt;nomClasse&gt;</a:t>
            </a:r>
            <a:endParaRPr sz="2400">
              <a:solidFill>
                <a:schemeClr val="accent5"/>
              </a:solidFill>
              <a:latin typeface="Calibri"/>
              <a:ea typeface="Calibri"/>
              <a:cs typeface="Calibri"/>
              <a:sym typeface="Calibri"/>
            </a:endParaRPr>
          </a:p>
        </p:txBody>
      </p:sp>
      <p:sp>
        <p:nvSpPr>
          <p:cNvPr id="419" name="Google Shape;419;p28"/>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38</a:t>
            </a:r>
            <a:endParaRPr sz="2000">
              <a:solidFill>
                <a:schemeClr val="dk1"/>
              </a:solidFill>
              <a:latin typeface="Verdana"/>
              <a:ea typeface="Verdana"/>
              <a:cs typeface="Verdana"/>
              <a:sym typeface="Verdana"/>
            </a:endParaRPr>
          </a:p>
        </p:txBody>
      </p:sp>
      <p:graphicFrame>
        <p:nvGraphicFramePr>
          <p:cNvPr id="420" name="Google Shape;420;p28"/>
          <p:cNvGraphicFramePr/>
          <p:nvPr/>
        </p:nvGraphicFramePr>
        <p:xfrm>
          <a:off x="2253101" y="3000811"/>
          <a:ext cx="3000000" cy="3000000"/>
        </p:xfrm>
        <a:graphic>
          <a:graphicData uri="http://schemas.openxmlformats.org/drawingml/2006/table">
            <a:tbl>
              <a:tblPr bandRow="1" firstRow="1">
                <a:noFill/>
                <a:tableStyleId>{AADB4A2B-A616-4299-9F59-80E0FF929C61}</a:tableStyleId>
              </a:tblPr>
              <a:tblGrid>
                <a:gridCol w="2653675"/>
                <a:gridCol w="5474325"/>
              </a:tblGrid>
              <a:tr h="370200">
                <a:tc>
                  <a:txBody>
                    <a:bodyPr/>
                    <a:lstStyle/>
                    <a:p>
                      <a:pPr indent="0" lvl="0" marL="91440" marR="0" rtl="0" algn="l">
                        <a:lnSpc>
                          <a:spcPct val="100000"/>
                        </a:lnSpc>
                        <a:spcBef>
                          <a:spcPts val="0"/>
                        </a:spcBef>
                        <a:spcAft>
                          <a:spcPts val="0"/>
                        </a:spcAft>
                        <a:buNone/>
                      </a:pPr>
                      <a:r>
                        <a:rPr b="1" lang="en-US" sz="1600" u="none" cap="none" strike="noStrike">
                          <a:solidFill>
                            <a:srgbClr val="FFFFFF"/>
                          </a:solidFill>
                          <a:latin typeface="Tahoma"/>
                          <a:ea typeface="Tahoma"/>
                          <a:cs typeface="Tahoma"/>
                          <a:sym typeface="Tahoma"/>
                        </a:rPr>
                        <a:t>Modificateur d’accès</a:t>
                      </a:r>
                      <a:endParaRPr sz="1600" u="none" cap="none" strike="noStrike">
                        <a:latin typeface="Tahoma"/>
                        <a:ea typeface="Tahoma"/>
                        <a:cs typeface="Tahoma"/>
                        <a:sym typeface="Tahoma"/>
                      </a:endParaRPr>
                    </a:p>
                  </a:txBody>
                  <a:tcPr marT="425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c>
                  <a:txBody>
                    <a:bodyPr/>
                    <a:lstStyle/>
                    <a:p>
                      <a:pPr indent="0" lvl="0" marL="92075" marR="0" rtl="0" algn="l">
                        <a:lnSpc>
                          <a:spcPct val="100000"/>
                        </a:lnSpc>
                        <a:spcBef>
                          <a:spcPts val="0"/>
                        </a:spcBef>
                        <a:spcAft>
                          <a:spcPts val="0"/>
                        </a:spcAft>
                        <a:buNone/>
                      </a:pPr>
                      <a:r>
                        <a:rPr b="1" lang="en-US" sz="1600" u="none" cap="none" strike="noStrike">
                          <a:solidFill>
                            <a:srgbClr val="FFFFFF"/>
                          </a:solidFill>
                          <a:latin typeface="Tahoma"/>
                          <a:ea typeface="Tahoma"/>
                          <a:cs typeface="Tahoma"/>
                          <a:sym typeface="Tahoma"/>
                        </a:rPr>
                        <a:t>Description</a:t>
                      </a:r>
                      <a:endParaRPr sz="1600" u="none" cap="none" strike="noStrike">
                        <a:latin typeface="Tahoma"/>
                        <a:ea typeface="Tahoma"/>
                        <a:cs typeface="Tahoma"/>
                        <a:sym typeface="Tahoma"/>
                      </a:endParaRPr>
                    </a:p>
                  </a:txBody>
                  <a:tcPr marT="425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r>
              <a:tr h="788675">
                <a:tc>
                  <a:txBody>
                    <a:bodyPr/>
                    <a:lstStyle/>
                    <a:p>
                      <a:pPr indent="0" lvl="0" marL="91440" marR="0" rtl="0" algn="l">
                        <a:lnSpc>
                          <a:spcPct val="100000"/>
                        </a:lnSpc>
                        <a:spcBef>
                          <a:spcPts val="0"/>
                        </a:spcBef>
                        <a:spcAft>
                          <a:spcPts val="0"/>
                        </a:spcAft>
                        <a:buNone/>
                      </a:pPr>
                      <a:r>
                        <a:rPr b="1" lang="en-US" sz="1600" u="none" cap="none" strike="noStrike">
                          <a:latin typeface="Tahoma"/>
                          <a:ea typeface="Tahoma"/>
                          <a:cs typeface="Tahoma"/>
                          <a:sym typeface="Tahoma"/>
                        </a:rPr>
                        <a:t>final</a:t>
                      </a:r>
                      <a:endParaRPr sz="1600" u="none" cap="none" strike="noStrike">
                        <a:latin typeface="Tahoma"/>
                        <a:ea typeface="Tahoma"/>
                        <a:cs typeface="Tahoma"/>
                        <a:sym typeface="Tahoma"/>
                      </a:endParaRPr>
                    </a:p>
                  </a:txBody>
                  <a:tcPr marT="425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c>
                  <a:txBody>
                    <a:bodyPr/>
                    <a:lstStyle/>
                    <a:p>
                      <a:pPr indent="0" lvl="0" marL="29209" marR="115570" rtl="0" algn="l">
                        <a:lnSpc>
                          <a:spcPct val="100000"/>
                        </a:lnSpc>
                        <a:spcBef>
                          <a:spcPts val="0"/>
                        </a:spcBef>
                        <a:spcAft>
                          <a:spcPts val="0"/>
                        </a:spcAft>
                        <a:buNone/>
                      </a:pPr>
                      <a:r>
                        <a:rPr lang="en-US" sz="1600" u="none" cap="none" strike="noStrike">
                          <a:latin typeface="Verdana"/>
                          <a:ea typeface="Verdana"/>
                          <a:cs typeface="Verdana"/>
                          <a:sym typeface="Verdana"/>
                        </a:rPr>
                        <a:t>La classe ne peut pas être étendue par le mécanisme d’héritage. Les classes déclarées final ne peuvent donc pas avoir de classes filles.</a:t>
                      </a:r>
                      <a:endParaRPr sz="1600" u="none" cap="none" strike="noStrike">
                        <a:latin typeface="Verdana"/>
                        <a:ea typeface="Verdana"/>
                        <a:cs typeface="Verdana"/>
                        <a:sym typeface="Verdana"/>
                      </a:endParaRPr>
                    </a:p>
                  </a:txBody>
                  <a:tcPr marT="24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r>
              <a:tr h="578475">
                <a:tc>
                  <a:txBody>
                    <a:bodyPr/>
                    <a:lstStyle/>
                    <a:p>
                      <a:pPr indent="0" lvl="0" marL="91440" marR="0" rtl="0" algn="l">
                        <a:lnSpc>
                          <a:spcPct val="100000"/>
                        </a:lnSpc>
                        <a:spcBef>
                          <a:spcPts val="0"/>
                        </a:spcBef>
                        <a:spcAft>
                          <a:spcPts val="0"/>
                        </a:spcAft>
                        <a:buNone/>
                      </a:pPr>
                      <a:r>
                        <a:rPr b="1" lang="en-US" sz="1600" u="none" cap="none" strike="noStrike">
                          <a:latin typeface="Tahoma"/>
                          <a:ea typeface="Tahoma"/>
                          <a:cs typeface="Tahoma"/>
                          <a:sym typeface="Tahoma"/>
                        </a:rPr>
                        <a:t>private</a:t>
                      </a:r>
                      <a:endParaRPr sz="1600" u="none" cap="none" strike="noStrike">
                        <a:latin typeface="Tahoma"/>
                        <a:ea typeface="Tahoma"/>
                        <a:cs typeface="Tahoma"/>
                        <a:sym typeface="Tahoma"/>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c>
                  <a:txBody>
                    <a:bodyPr/>
                    <a:lstStyle/>
                    <a:p>
                      <a:pPr indent="0" lvl="0" marL="92075" marR="485140" rtl="0" algn="l">
                        <a:lnSpc>
                          <a:spcPct val="100000"/>
                        </a:lnSpc>
                        <a:spcBef>
                          <a:spcPts val="0"/>
                        </a:spcBef>
                        <a:spcAft>
                          <a:spcPts val="0"/>
                        </a:spcAft>
                        <a:buNone/>
                      </a:pPr>
                      <a:r>
                        <a:rPr lang="en-US" sz="1600" u="none" cap="none" strike="noStrike">
                          <a:latin typeface="Verdana"/>
                          <a:ea typeface="Verdana"/>
                          <a:cs typeface="Verdana"/>
                          <a:sym typeface="Verdana"/>
                        </a:rPr>
                        <a:t>La classe n'est accessible que dans le fichier dans lequel elle est définie</a:t>
                      </a:r>
                      <a:endParaRPr sz="1600" u="none" cap="none" strike="noStrike">
                        <a:latin typeface="Verdana"/>
                        <a:ea typeface="Verdana"/>
                        <a:cs typeface="Verdana"/>
                        <a:sym typeface="Verdana"/>
                      </a:endParaRPr>
                    </a:p>
                  </a:txBody>
                  <a:tcPr marT="412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r>
              <a:tr h="370850">
                <a:tc>
                  <a:txBody>
                    <a:bodyPr/>
                    <a:lstStyle/>
                    <a:p>
                      <a:pPr indent="0" lvl="0" marL="91440" marR="0" rtl="0" algn="l">
                        <a:lnSpc>
                          <a:spcPct val="100000"/>
                        </a:lnSpc>
                        <a:spcBef>
                          <a:spcPts val="0"/>
                        </a:spcBef>
                        <a:spcAft>
                          <a:spcPts val="0"/>
                        </a:spcAft>
                        <a:buNone/>
                      </a:pPr>
                      <a:r>
                        <a:rPr b="1" lang="en-US" sz="1600" u="none" cap="none" strike="noStrike">
                          <a:latin typeface="Tahoma"/>
                          <a:ea typeface="Tahoma"/>
                          <a:cs typeface="Tahoma"/>
                          <a:sym typeface="Tahoma"/>
                        </a:rPr>
                        <a:t>public</a:t>
                      </a:r>
                      <a:endParaRPr sz="1600" u="none" cap="none" strike="noStrike">
                        <a:latin typeface="Tahoma"/>
                        <a:ea typeface="Tahoma"/>
                        <a:cs typeface="Tahoma"/>
                        <a:sym typeface="Tahoma"/>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c>
                  <a:txBody>
                    <a:bodyPr/>
                    <a:lstStyle/>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La classe est accessible partout</a:t>
                      </a:r>
                      <a:endParaRPr sz="1600" u="none" cap="none" strike="noStrike">
                        <a:latin typeface="Verdana"/>
                        <a:ea typeface="Verdana"/>
                        <a:cs typeface="Verdana"/>
                        <a:sym typeface="Verdana"/>
                      </a:endParaRPr>
                    </a:p>
                  </a:txBody>
                  <a:tcPr marT="412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2DEEE"/>
                    </a:solidFill>
                  </a:tcPr>
                </a:tc>
              </a:tr>
              <a:tr h="57847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c>
                  <a:txBody>
                    <a:bodyPr/>
                    <a:lstStyle/>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La classe est accessible par les classes du même</a:t>
                      </a:r>
                      <a:endParaRPr sz="1600" u="none" cap="none" strike="noStrike">
                        <a:latin typeface="Verdana"/>
                        <a:ea typeface="Verdana"/>
                        <a:cs typeface="Verdana"/>
                        <a:sym typeface="Verdana"/>
                      </a:endParaRPr>
                    </a:p>
                    <a:p>
                      <a:pPr indent="0" lvl="0" marL="92075" marR="0" rtl="0" algn="l">
                        <a:lnSpc>
                          <a:spcPct val="100000"/>
                        </a:lnSpc>
                        <a:spcBef>
                          <a:spcPts val="0"/>
                        </a:spcBef>
                        <a:spcAft>
                          <a:spcPts val="0"/>
                        </a:spcAft>
                        <a:buNone/>
                      </a:pPr>
                      <a:r>
                        <a:rPr lang="en-US" sz="1600" u="none" cap="none" strike="noStrike">
                          <a:latin typeface="Verdana"/>
                          <a:ea typeface="Verdana"/>
                          <a:cs typeface="Verdana"/>
                          <a:sym typeface="Verdana"/>
                        </a:rPr>
                        <a:t>package</a:t>
                      </a:r>
                      <a:endParaRPr sz="1600" u="none" cap="none" strike="noStrike">
                        <a:latin typeface="Verdana"/>
                        <a:ea typeface="Verdana"/>
                        <a:cs typeface="Verdana"/>
                        <a:sym typeface="Verdana"/>
                      </a:endParaRPr>
                    </a:p>
                  </a:txBody>
                  <a:tcPr marT="41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AEEF7"/>
                    </a:solidFill>
                  </a:tcPr>
                </a:tc>
              </a:tr>
            </a:tbl>
          </a:graphicData>
        </a:graphic>
      </p:graphicFrame>
      <p:sp>
        <p:nvSpPr>
          <p:cNvPr id="421" name="Google Shape;421;p28"/>
          <p:cNvSpPr txBox="1"/>
          <p:nvPr/>
        </p:nvSpPr>
        <p:spPr>
          <a:xfrm>
            <a:off x="1876585" y="5996940"/>
            <a:ext cx="8801100" cy="718185"/>
          </a:xfrm>
          <a:prstGeom prst="rect">
            <a:avLst/>
          </a:prstGeom>
          <a:solidFill>
            <a:srgbClr val="222A35"/>
          </a:solidFill>
          <a:ln>
            <a:noFill/>
          </a:ln>
        </p:spPr>
        <p:txBody>
          <a:bodyPr anchorCtr="0" anchor="t" bIns="0" lIns="0" spcFirstLastPara="1" rIns="0" wrap="square" tIns="218425">
            <a:spAutoFit/>
          </a:bodyPr>
          <a:lstStyle/>
          <a:p>
            <a:pPr indent="0" lvl="0" marL="91440" marR="0" rtl="0" algn="l">
              <a:lnSpc>
                <a:spcPct val="100000"/>
              </a:lnSpc>
              <a:spcBef>
                <a:spcPts val="0"/>
              </a:spcBef>
              <a:spcAft>
                <a:spcPts val="0"/>
              </a:spcAft>
              <a:buNone/>
            </a:pPr>
            <a:r>
              <a:rPr lang="en-US" sz="1800">
                <a:solidFill>
                  <a:srgbClr val="FFFFFF"/>
                </a:solidFill>
                <a:latin typeface="Verdana"/>
                <a:ea typeface="Verdana"/>
                <a:cs typeface="Verdana"/>
                <a:sym typeface="Verdana"/>
              </a:rPr>
              <a:t>Attention, une seule classe public par fichier java !</a:t>
            </a:r>
            <a:endParaRPr sz="1800">
              <a:solidFill>
                <a:schemeClr val="dk1"/>
              </a:solidFill>
              <a:latin typeface="Verdana"/>
              <a:ea typeface="Verdana"/>
              <a:cs typeface="Verdana"/>
              <a:sym typeface="Verdana"/>
            </a:endParaRPr>
          </a:p>
        </p:txBody>
      </p:sp>
      <p:sp>
        <p:nvSpPr>
          <p:cNvPr id="422" name="Google Shape;422;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Visibilité des classes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9"/>
          <p:cNvSpPr txBox="1"/>
          <p:nvPr/>
        </p:nvSpPr>
        <p:spPr>
          <a:xfrm>
            <a:off x="1232281" y="1735917"/>
            <a:ext cx="10184271" cy="4621137"/>
          </a:xfrm>
          <a:prstGeom prst="rect">
            <a:avLst/>
          </a:prstGeom>
          <a:noFill/>
          <a:ln>
            <a:noFill/>
          </a:ln>
        </p:spPr>
        <p:txBody>
          <a:bodyPr anchorCtr="0" anchor="t" bIns="0" lIns="0" spcFirstLastPara="1" rIns="0" wrap="square" tIns="156825">
            <a:spAutoFit/>
          </a:bodyPr>
          <a:lstStyle/>
          <a:p>
            <a:pPr indent="0" lvl="0" marL="12700" marR="0" rtl="0" algn="just">
              <a:lnSpc>
                <a:spcPct val="100000"/>
              </a:lnSpc>
              <a:spcBef>
                <a:spcPts val="0"/>
              </a:spcBef>
              <a:spcAft>
                <a:spcPts val="0"/>
              </a:spcAft>
              <a:buNone/>
            </a:pPr>
            <a:r>
              <a:rPr b="1" lang="en-US" sz="2400">
                <a:solidFill>
                  <a:srgbClr val="404040"/>
                </a:solidFill>
                <a:latin typeface="Calibri"/>
                <a:ea typeface="Calibri"/>
                <a:cs typeface="Calibri"/>
                <a:sym typeface="Calibri"/>
              </a:rPr>
              <a:t>Un objet est constitué:</a:t>
            </a:r>
            <a:endParaRPr sz="2400">
              <a:solidFill>
                <a:schemeClr val="dk1"/>
              </a:solidFill>
              <a:latin typeface="Calibri"/>
              <a:ea typeface="Calibri"/>
              <a:cs typeface="Calibri"/>
              <a:sym typeface="Calibri"/>
            </a:endParaRPr>
          </a:p>
          <a:p>
            <a:pPr indent="-342900" lvl="0" marL="812800" marR="0" rtl="0" algn="just">
              <a:lnSpc>
                <a:spcPct val="100000"/>
              </a:lnSpc>
              <a:spcBef>
                <a:spcPts val="1005"/>
              </a:spcBef>
              <a:spcAft>
                <a:spcPts val="0"/>
              </a:spcAft>
              <a:buClr>
                <a:schemeClr val="dk1"/>
              </a:buClr>
              <a:buSzPts val="2400"/>
              <a:buFont typeface="Noto Sans Symbols"/>
              <a:buChar char="▪"/>
            </a:pPr>
            <a:r>
              <a:rPr b="1" lang="en-US" sz="2400">
                <a:solidFill>
                  <a:schemeClr val="dk1"/>
                </a:solidFill>
                <a:latin typeface="Calibri"/>
                <a:ea typeface="Calibri"/>
                <a:cs typeface="Calibri"/>
                <a:sym typeface="Calibri"/>
              </a:rPr>
              <a:t>D’une partie dynamique</a:t>
            </a:r>
            <a:endParaRPr sz="2400">
              <a:solidFill>
                <a:schemeClr val="dk1"/>
              </a:solidFill>
              <a:latin typeface="Calibri"/>
              <a:ea typeface="Calibri"/>
              <a:cs typeface="Calibri"/>
              <a:sym typeface="Calibri"/>
            </a:endParaRPr>
          </a:p>
          <a:p>
            <a:pPr indent="-342900" lvl="0" marL="1270000" marR="0" rtl="0" algn="just">
              <a:lnSpc>
                <a:spcPct val="100000"/>
              </a:lnSpc>
              <a:spcBef>
                <a:spcPts val="1005"/>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Varie durant la vie de l’objet</a:t>
            </a:r>
            <a:endParaRPr sz="2400">
              <a:solidFill>
                <a:schemeClr val="dk1"/>
              </a:solidFill>
              <a:latin typeface="Calibri"/>
              <a:ea typeface="Calibri"/>
              <a:cs typeface="Calibri"/>
              <a:sym typeface="Calibri"/>
            </a:endParaRPr>
          </a:p>
          <a:p>
            <a:pPr indent="-342900" lvl="0" marL="1270000" marR="0" rtl="0" algn="just">
              <a:lnSpc>
                <a:spcPct val="100000"/>
              </a:lnSpc>
              <a:spcBef>
                <a:spcPts val="994"/>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Constitue l’état de l’objet</a:t>
            </a:r>
            <a:endParaRPr sz="2400">
              <a:solidFill>
                <a:schemeClr val="dk1"/>
              </a:solidFill>
              <a:latin typeface="Calibri"/>
              <a:ea typeface="Calibri"/>
              <a:cs typeface="Calibri"/>
              <a:sym typeface="Calibri"/>
            </a:endParaRPr>
          </a:p>
          <a:p>
            <a:pPr indent="-342900" lvl="0" marL="1270000" marR="0" rtl="0" algn="just">
              <a:lnSpc>
                <a:spcPct val="100000"/>
              </a:lnSpc>
              <a:spcBef>
                <a:spcPts val="994"/>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Propre à chaque objet crée</a:t>
            </a:r>
            <a:endParaRPr sz="24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t/>
            </a:r>
            <a:endParaRPr sz="2400">
              <a:solidFill>
                <a:schemeClr val="dk1"/>
              </a:solidFill>
              <a:latin typeface="Calibri"/>
              <a:ea typeface="Calibri"/>
              <a:cs typeface="Calibri"/>
              <a:sym typeface="Calibri"/>
            </a:endParaRPr>
          </a:p>
          <a:p>
            <a:pPr indent="-342900" lvl="0" marL="812800" marR="0" rtl="0" algn="just">
              <a:lnSpc>
                <a:spcPct val="100000"/>
              </a:lnSpc>
              <a:spcBef>
                <a:spcPts val="0"/>
              </a:spcBef>
              <a:spcAft>
                <a:spcPts val="0"/>
              </a:spcAft>
              <a:buClr>
                <a:schemeClr val="dk1"/>
              </a:buClr>
              <a:buSzPts val="2400"/>
              <a:buFont typeface="Noto Sans Symbols"/>
              <a:buChar char="▪"/>
            </a:pPr>
            <a:r>
              <a:rPr b="1" lang="en-US" sz="2400">
                <a:solidFill>
                  <a:schemeClr val="dk1"/>
                </a:solidFill>
                <a:latin typeface="Calibri"/>
                <a:ea typeface="Calibri"/>
                <a:cs typeface="Calibri"/>
                <a:sym typeface="Calibri"/>
              </a:rPr>
              <a:t>D’une partie statique</a:t>
            </a:r>
            <a:endParaRPr sz="2400">
              <a:solidFill>
                <a:schemeClr val="dk1"/>
              </a:solidFill>
              <a:latin typeface="Calibri"/>
              <a:ea typeface="Calibri"/>
              <a:cs typeface="Calibri"/>
              <a:sym typeface="Calibri"/>
            </a:endParaRPr>
          </a:p>
          <a:p>
            <a:pPr indent="-342900" lvl="0" marL="1270000" marR="0" rtl="0" algn="just">
              <a:lnSpc>
                <a:spcPct val="100000"/>
              </a:lnSpc>
              <a:spcBef>
                <a:spcPts val="994"/>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Commune à toutes les instances de la classe</a:t>
            </a:r>
            <a:endParaRPr sz="2400">
              <a:solidFill>
                <a:schemeClr val="dk1"/>
              </a:solidFill>
              <a:latin typeface="Calibri"/>
              <a:ea typeface="Calibri"/>
              <a:cs typeface="Calibri"/>
              <a:sym typeface="Calibri"/>
            </a:endParaRPr>
          </a:p>
          <a:p>
            <a:pPr indent="-342900" lvl="0" marL="1270000" marR="0" rtl="0" algn="just">
              <a:lnSpc>
                <a:spcPct val="100000"/>
              </a:lnSpc>
              <a:spcBef>
                <a:spcPts val="1005"/>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Une modification entraine une modification pour tous les objets de la classe</a:t>
            </a:r>
            <a:endParaRPr sz="2400">
              <a:solidFill>
                <a:schemeClr val="dk1"/>
              </a:solidFill>
              <a:latin typeface="Calibri"/>
              <a:ea typeface="Calibri"/>
              <a:cs typeface="Calibri"/>
              <a:sym typeface="Calibri"/>
            </a:endParaRPr>
          </a:p>
        </p:txBody>
      </p:sp>
      <p:sp>
        <p:nvSpPr>
          <p:cNvPr id="428" name="Google Shape;428;p29"/>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42</a:t>
            </a:r>
            <a:endParaRPr sz="2000">
              <a:solidFill>
                <a:schemeClr val="dk1"/>
              </a:solidFill>
              <a:latin typeface="Verdana"/>
              <a:ea typeface="Verdana"/>
              <a:cs typeface="Verdana"/>
              <a:sym typeface="Verdana"/>
            </a:endParaRPr>
          </a:p>
        </p:txBody>
      </p:sp>
      <p:sp>
        <p:nvSpPr>
          <p:cNvPr id="429" name="Google Shape;429;p2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12700" rtl="0" algn="l">
              <a:lnSpc>
                <a:spcPct val="100000"/>
              </a:lnSpc>
              <a:spcBef>
                <a:spcPts val="0"/>
              </a:spcBef>
              <a:spcAft>
                <a:spcPts val="0"/>
              </a:spcAft>
              <a:buClr>
                <a:srgbClr val="3F3F3F"/>
              </a:buClr>
              <a:buSzPts val="4800"/>
              <a:buFont typeface="Calibri"/>
              <a:buNone/>
            </a:pPr>
            <a:r>
              <a:rPr lang="en-US"/>
              <a:t>Attributs et méthodes de classe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0"/>
          <p:cNvSpPr txBox="1"/>
          <p:nvPr/>
        </p:nvSpPr>
        <p:spPr>
          <a:xfrm>
            <a:off x="1331259" y="1776258"/>
            <a:ext cx="9695329" cy="3513141"/>
          </a:xfrm>
          <a:prstGeom prst="rect">
            <a:avLst/>
          </a:prstGeom>
          <a:noFill/>
          <a:ln>
            <a:noFill/>
          </a:ln>
        </p:spPr>
        <p:txBody>
          <a:bodyPr anchorCtr="0" anchor="t" bIns="0" lIns="0" spcFirstLastPara="1" rIns="0" wrap="square" tIns="156825">
            <a:spAutoFit/>
          </a:bodyPr>
          <a:lstStyle/>
          <a:p>
            <a:pPr indent="0" lvl="0" marL="12700" marR="0" rtl="0" algn="just">
              <a:lnSpc>
                <a:spcPct val="100000"/>
              </a:lnSpc>
              <a:spcBef>
                <a:spcPts val="0"/>
              </a:spcBef>
              <a:spcAft>
                <a:spcPts val="0"/>
              </a:spcAft>
              <a:buNone/>
            </a:pPr>
            <a:r>
              <a:rPr b="1" lang="en-US" sz="2400">
                <a:solidFill>
                  <a:schemeClr val="dk1"/>
                </a:solidFill>
                <a:latin typeface="Calibri"/>
                <a:ea typeface="Calibri"/>
                <a:cs typeface="Calibri"/>
                <a:sym typeface="Calibri"/>
              </a:rPr>
              <a:t>La partie statique d’une classe</a:t>
            </a:r>
            <a:endParaRPr sz="2400">
              <a:solidFill>
                <a:schemeClr val="dk1"/>
              </a:solidFill>
              <a:latin typeface="Calibri"/>
              <a:ea typeface="Calibri"/>
              <a:cs typeface="Calibri"/>
              <a:sym typeface="Calibri"/>
            </a:endParaRPr>
          </a:p>
          <a:p>
            <a:pPr indent="-342900" lvl="0" marL="812800" marR="0" rtl="0" algn="just">
              <a:lnSpc>
                <a:spcPct val="100000"/>
              </a:lnSpc>
              <a:spcBef>
                <a:spcPts val="1005"/>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Constituée</a:t>
            </a:r>
            <a:endParaRPr sz="2400">
              <a:solidFill>
                <a:schemeClr val="dk1"/>
              </a:solidFill>
              <a:latin typeface="Calibri"/>
              <a:ea typeface="Calibri"/>
              <a:cs typeface="Calibri"/>
              <a:sym typeface="Calibri"/>
            </a:endParaRPr>
          </a:p>
          <a:p>
            <a:pPr indent="-342900" lvl="0" marL="1270000" marR="0" rtl="0" algn="just">
              <a:lnSpc>
                <a:spcPct val="100000"/>
              </a:lnSpc>
              <a:spcBef>
                <a:spcPts val="1005"/>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D’attributs</a:t>
            </a:r>
            <a:endParaRPr sz="2400">
              <a:solidFill>
                <a:schemeClr val="dk1"/>
              </a:solidFill>
              <a:latin typeface="Calibri"/>
              <a:ea typeface="Calibri"/>
              <a:cs typeface="Calibri"/>
              <a:sym typeface="Calibri"/>
            </a:endParaRPr>
          </a:p>
          <a:p>
            <a:pPr indent="-342900" lvl="0" marL="1270000" marR="0" rtl="0" algn="just">
              <a:lnSpc>
                <a:spcPct val="100000"/>
              </a:lnSpc>
              <a:spcBef>
                <a:spcPts val="994"/>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De méthodes</a:t>
            </a:r>
            <a:endParaRPr sz="2400">
              <a:solidFill>
                <a:schemeClr val="dk1"/>
              </a:solidFill>
              <a:latin typeface="Calibri"/>
              <a:ea typeface="Calibri"/>
              <a:cs typeface="Calibri"/>
              <a:sym typeface="Calibri"/>
            </a:endParaRPr>
          </a:p>
          <a:p>
            <a:pPr indent="-342900" lvl="0" marL="812800" marR="0" rtl="0" algn="just">
              <a:lnSpc>
                <a:spcPct val="100000"/>
              </a:lnSpc>
              <a:spcBef>
                <a:spcPts val="100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Attributs et méthodes indépendants des instances</a:t>
            </a:r>
            <a:endParaRPr sz="2400">
              <a:solidFill>
                <a:schemeClr val="dk1"/>
              </a:solidFill>
              <a:latin typeface="Calibri"/>
              <a:ea typeface="Calibri"/>
              <a:cs typeface="Calibri"/>
              <a:sym typeface="Calibri"/>
            </a:endParaRPr>
          </a:p>
          <a:p>
            <a:pPr indent="-342900" lvl="0" marL="812800" marR="0" rtl="0" algn="just">
              <a:lnSpc>
                <a:spcPct val="100000"/>
              </a:lnSpc>
              <a:spcBef>
                <a:spcPts val="994"/>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Communs à tous les objets de la classe</a:t>
            </a:r>
            <a:endParaRPr sz="2400">
              <a:solidFill>
                <a:schemeClr val="dk1"/>
              </a:solidFill>
              <a:latin typeface="Calibri"/>
              <a:ea typeface="Calibri"/>
              <a:cs typeface="Calibri"/>
              <a:sym typeface="Calibri"/>
            </a:endParaRPr>
          </a:p>
          <a:p>
            <a:pPr indent="-342900" lvl="0" marL="812800" marR="0" rtl="0" algn="just">
              <a:lnSpc>
                <a:spcPct val="100000"/>
              </a:lnSpc>
              <a:spcBef>
                <a:spcPts val="100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Utilisables même lorsqu’aucun objet n’est crée</a:t>
            </a:r>
            <a:endParaRPr sz="2400">
              <a:solidFill>
                <a:schemeClr val="dk1"/>
              </a:solidFill>
              <a:latin typeface="Calibri"/>
              <a:ea typeface="Calibri"/>
              <a:cs typeface="Calibri"/>
              <a:sym typeface="Calibri"/>
            </a:endParaRPr>
          </a:p>
        </p:txBody>
      </p:sp>
      <p:sp>
        <p:nvSpPr>
          <p:cNvPr id="435" name="Google Shape;435;p30"/>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43</a:t>
            </a:r>
            <a:endParaRPr sz="2000">
              <a:solidFill>
                <a:schemeClr val="dk1"/>
              </a:solidFill>
              <a:latin typeface="Verdana"/>
              <a:ea typeface="Verdana"/>
              <a:cs typeface="Verdana"/>
              <a:sym typeface="Verdana"/>
            </a:endParaRPr>
          </a:p>
        </p:txBody>
      </p:sp>
      <p:sp>
        <p:nvSpPr>
          <p:cNvPr id="436" name="Google Shape;436;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12700" rtl="0" algn="l">
              <a:lnSpc>
                <a:spcPct val="100000"/>
              </a:lnSpc>
              <a:spcBef>
                <a:spcPts val="0"/>
              </a:spcBef>
              <a:spcAft>
                <a:spcPts val="0"/>
              </a:spcAft>
              <a:buClr>
                <a:srgbClr val="3F3F3F"/>
              </a:buClr>
              <a:buSzPts val="4800"/>
              <a:buFont typeface="Calibri"/>
              <a:buNone/>
            </a:pPr>
            <a:r>
              <a:rPr lang="en-US"/>
              <a:t>Attributs et méthodes de classe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1"/>
          <p:cNvSpPr txBox="1"/>
          <p:nvPr/>
        </p:nvSpPr>
        <p:spPr>
          <a:xfrm>
            <a:off x="1232281" y="1802919"/>
            <a:ext cx="10412872" cy="4292842"/>
          </a:xfrm>
          <a:prstGeom prst="rect">
            <a:avLst/>
          </a:prstGeom>
          <a:noFill/>
          <a:ln>
            <a:noFill/>
          </a:ln>
        </p:spPr>
        <p:txBody>
          <a:bodyPr anchorCtr="0" anchor="t" bIns="0" lIns="0" spcFirstLastPara="1" rIns="0" wrap="square" tIns="106025">
            <a:spAutoFit/>
          </a:bodyPr>
          <a:lstStyle/>
          <a:p>
            <a:pPr indent="0" lvl="0" marL="12700" marR="0" rtl="0" algn="l">
              <a:lnSpc>
                <a:spcPct val="100000"/>
              </a:lnSpc>
              <a:spcBef>
                <a:spcPts val="0"/>
              </a:spcBef>
              <a:spcAft>
                <a:spcPts val="0"/>
              </a:spcAft>
              <a:buNone/>
            </a:pPr>
            <a:r>
              <a:rPr b="1" lang="en-US" sz="2400">
                <a:solidFill>
                  <a:schemeClr val="dk1"/>
                </a:solidFill>
                <a:latin typeface="Calibri"/>
                <a:ea typeface="Calibri"/>
                <a:cs typeface="Calibri"/>
                <a:sym typeface="Calibri"/>
              </a:rPr>
              <a:t>Attributs et méthodes de classes</a:t>
            </a:r>
            <a:endParaRPr sz="2400">
              <a:solidFill>
                <a:schemeClr val="dk1"/>
              </a:solidFill>
              <a:latin typeface="Calibri"/>
              <a:ea typeface="Calibri"/>
              <a:cs typeface="Calibri"/>
              <a:sym typeface="Calibri"/>
            </a:endParaRPr>
          </a:p>
          <a:p>
            <a:pPr indent="-342900" lvl="0" marL="812800" marR="0" rtl="0" algn="l">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Définis en utilisant le mot-clé </a:t>
            </a:r>
            <a:r>
              <a:rPr b="1" lang="en-US" sz="2400">
                <a:solidFill>
                  <a:schemeClr val="accent5"/>
                </a:solidFill>
                <a:latin typeface="Calibri"/>
                <a:ea typeface="Calibri"/>
                <a:cs typeface="Calibri"/>
                <a:sym typeface="Calibri"/>
              </a:rPr>
              <a:t>static</a:t>
            </a:r>
            <a:endParaRPr sz="2400">
              <a:solidFill>
                <a:schemeClr val="accent5"/>
              </a:solidFill>
              <a:latin typeface="Calibri"/>
              <a:ea typeface="Calibri"/>
              <a:cs typeface="Calibri"/>
              <a:sym typeface="Calibri"/>
            </a:endParaRPr>
          </a:p>
          <a:p>
            <a:pPr indent="0" lvl="0" marL="756285" marR="0" rtl="0" algn="l">
              <a:spcBef>
                <a:spcPts val="0"/>
              </a:spcBef>
              <a:spcAft>
                <a:spcPts val="0"/>
              </a:spcAft>
              <a:buNone/>
            </a:pPr>
            <a:r>
              <a:rPr lang="en-US" sz="2400">
                <a:solidFill>
                  <a:schemeClr val="dk1"/>
                </a:solidFill>
                <a:latin typeface="Calibri"/>
                <a:ea typeface="Calibri"/>
                <a:cs typeface="Calibri"/>
                <a:sym typeface="Calibri"/>
              </a:rPr>
              <a:t>Ex.</a:t>
            </a:r>
            <a:endParaRPr sz="2400">
              <a:solidFill>
                <a:schemeClr val="dk1"/>
              </a:solidFill>
              <a:latin typeface="Calibri"/>
              <a:ea typeface="Calibri"/>
              <a:cs typeface="Calibri"/>
              <a:sym typeface="Calibri"/>
            </a:endParaRPr>
          </a:p>
          <a:p>
            <a:pPr indent="0" lvl="0" marL="1250950" marR="0" rtl="0" algn="l">
              <a:spcBef>
                <a:spcPts val="0"/>
              </a:spcBef>
              <a:spcAft>
                <a:spcPts val="0"/>
              </a:spcAft>
              <a:buNone/>
            </a:pPr>
            <a:r>
              <a:rPr b="1" lang="en-US" sz="2000">
                <a:solidFill>
                  <a:schemeClr val="accent5"/>
                </a:solidFill>
                <a:latin typeface="Calibri"/>
                <a:ea typeface="Calibri"/>
                <a:cs typeface="Calibri"/>
                <a:sym typeface="Calibri"/>
              </a:rPr>
              <a:t>public static int nbPoint</a:t>
            </a:r>
            <a:endParaRPr sz="2000">
              <a:solidFill>
                <a:schemeClr val="accent5"/>
              </a:solidFill>
              <a:latin typeface="Calibri"/>
              <a:ea typeface="Calibri"/>
              <a:cs typeface="Calibri"/>
              <a:sym typeface="Calibri"/>
            </a:endParaRPr>
          </a:p>
          <a:p>
            <a:pPr indent="0" lvl="0" marL="1250950" marR="0" rtl="0" algn="l">
              <a:spcBef>
                <a:spcPts val="0"/>
              </a:spcBef>
              <a:spcAft>
                <a:spcPts val="0"/>
              </a:spcAft>
              <a:buNone/>
            </a:pPr>
            <a:r>
              <a:rPr b="1" lang="en-US" sz="2000">
                <a:solidFill>
                  <a:schemeClr val="accent5"/>
                </a:solidFill>
                <a:latin typeface="Calibri"/>
                <a:ea typeface="Calibri"/>
                <a:cs typeface="Calibri"/>
                <a:sym typeface="Calibri"/>
              </a:rPr>
              <a:t>public static int getNbPoint()</a:t>
            </a:r>
            <a:endParaRPr sz="2000">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400">
              <a:solidFill>
                <a:schemeClr val="dk1"/>
              </a:solidFill>
              <a:latin typeface="Calibri"/>
              <a:ea typeface="Calibri"/>
              <a:cs typeface="Calibri"/>
              <a:sym typeface="Calibri"/>
            </a:endParaRPr>
          </a:p>
          <a:p>
            <a:pPr indent="-342900" lvl="0" marL="812165" marR="431800" rtl="0" algn="l">
              <a:spcBef>
                <a:spcPts val="0"/>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Pour y accéder, il faut utiliser non pas une référence sur un objet, mais le nom de la classe</a:t>
            </a:r>
            <a:endParaRPr sz="2400">
              <a:solidFill>
                <a:schemeClr val="dk1"/>
              </a:solidFill>
              <a:latin typeface="Calibri"/>
              <a:ea typeface="Calibri"/>
              <a:cs typeface="Calibri"/>
              <a:sym typeface="Calibri"/>
            </a:endParaRPr>
          </a:p>
          <a:p>
            <a:pPr indent="0" lvl="0" marL="756285" marR="0" rtl="0" algn="l">
              <a:spcBef>
                <a:spcPts val="0"/>
              </a:spcBef>
              <a:spcAft>
                <a:spcPts val="0"/>
              </a:spcAft>
              <a:buNone/>
            </a:pPr>
            <a:r>
              <a:rPr lang="en-US" sz="2400">
                <a:solidFill>
                  <a:schemeClr val="dk1"/>
                </a:solidFill>
                <a:latin typeface="Calibri"/>
                <a:ea typeface="Calibri"/>
                <a:cs typeface="Calibri"/>
                <a:sym typeface="Calibri"/>
              </a:rPr>
              <a:t>Ex.</a:t>
            </a:r>
            <a:endParaRPr sz="2400">
              <a:solidFill>
                <a:schemeClr val="dk1"/>
              </a:solidFill>
              <a:latin typeface="Calibri"/>
              <a:ea typeface="Calibri"/>
              <a:cs typeface="Calibri"/>
              <a:sym typeface="Calibri"/>
            </a:endParaRPr>
          </a:p>
          <a:p>
            <a:pPr indent="0" lvl="0" marL="1250950" marR="0" rtl="0" algn="just">
              <a:spcBef>
                <a:spcPts val="0"/>
              </a:spcBef>
              <a:spcAft>
                <a:spcPts val="0"/>
              </a:spcAft>
              <a:buNone/>
            </a:pPr>
            <a:r>
              <a:rPr b="1" lang="en-US" sz="2000">
                <a:solidFill>
                  <a:schemeClr val="accent5"/>
                </a:solidFill>
                <a:latin typeface="Calibri"/>
                <a:ea typeface="Calibri"/>
                <a:cs typeface="Calibri"/>
                <a:sym typeface="Calibri"/>
              </a:rPr>
              <a:t>Point.nbPoint = 3;</a:t>
            </a:r>
            <a:endParaRPr sz="2000">
              <a:solidFill>
                <a:schemeClr val="accent5"/>
              </a:solidFill>
              <a:latin typeface="Calibri"/>
              <a:ea typeface="Calibri"/>
              <a:cs typeface="Calibri"/>
              <a:sym typeface="Calibri"/>
            </a:endParaRPr>
          </a:p>
          <a:p>
            <a:pPr indent="0" lvl="0" marL="1250950" marR="0" rtl="0" algn="just">
              <a:spcBef>
                <a:spcPts val="0"/>
              </a:spcBef>
              <a:spcAft>
                <a:spcPts val="0"/>
              </a:spcAft>
              <a:buNone/>
            </a:pPr>
            <a:r>
              <a:rPr b="1" lang="en-US" sz="2000">
                <a:solidFill>
                  <a:schemeClr val="accent5"/>
                </a:solidFill>
                <a:latin typeface="Calibri"/>
                <a:ea typeface="Calibri"/>
                <a:cs typeface="Calibri"/>
                <a:sym typeface="Calibri"/>
              </a:rPr>
              <a:t>int nb = Point.getNbPoint();</a:t>
            </a:r>
            <a:endParaRPr sz="2000">
              <a:solidFill>
                <a:schemeClr val="accent5"/>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2" name="Google Shape;442;p31"/>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44</a:t>
            </a:r>
            <a:endParaRPr sz="2000">
              <a:solidFill>
                <a:schemeClr val="dk1"/>
              </a:solidFill>
              <a:latin typeface="Verdana"/>
              <a:ea typeface="Verdana"/>
              <a:cs typeface="Verdana"/>
              <a:sym typeface="Verdana"/>
            </a:endParaRPr>
          </a:p>
        </p:txBody>
      </p:sp>
      <p:sp>
        <p:nvSpPr>
          <p:cNvPr id="443" name="Google Shape;443;p31"/>
          <p:cNvSpPr txBox="1"/>
          <p:nvPr/>
        </p:nvSpPr>
        <p:spPr>
          <a:xfrm>
            <a:off x="2576767" y="5968945"/>
            <a:ext cx="8801100" cy="648000"/>
          </a:xfrm>
          <a:prstGeom prst="rect">
            <a:avLst/>
          </a:prstGeom>
          <a:solidFill>
            <a:srgbClr val="222A35"/>
          </a:solidFill>
          <a:ln>
            <a:noFill/>
          </a:ln>
        </p:spPr>
        <p:txBody>
          <a:bodyPr anchorCtr="0" anchor="t" bIns="0" lIns="0" spcFirstLastPara="1" rIns="0" wrap="square" tIns="218425">
            <a:spAutoFit/>
          </a:bodyPr>
          <a:lstStyle/>
          <a:p>
            <a:pPr indent="0" lvl="0" marL="91440" marR="0" rtl="0" algn="l">
              <a:lnSpc>
                <a:spcPct val="100000"/>
              </a:lnSpc>
              <a:spcBef>
                <a:spcPts val="0"/>
              </a:spcBef>
              <a:spcAft>
                <a:spcPts val="0"/>
              </a:spcAft>
              <a:buNone/>
            </a:pPr>
            <a:r>
              <a:rPr lang="en-US" sz="1800">
                <a:solidFill>
                  <a:srgbClr val="FFFFFF"/>
                </a:solidFill>
                <a:latin typeface="Verdana"/>
                <a:ea typeface="Verdana"/>
                <a:cs typeface="Verdana"/>
                <a:sym typeface="Verdana"/>
              </a:rPr>
              <a:t>En général, les attributs et méthodes de classe sont public</a:t>
            </a:r>
            <a:endParaRPr sz="1800">
              <a:solidFill>
                <a:srgbClr val="FFFFFF"/>
              </a:solidFill>
              <a:latin typeface="Verdana"/>
              <a:ea typeface="Verdana"/>
              <a:cs typeface="Verdana"/>
              <a:sym typeface="Verdana"/>
            </a:endParaRPr>
          </a:p>
        </p:txBody>
      </p:sp>
      <p:sp>
        <p:nvSpPr>
          <p:cNvPr id="444" name="Google Shape;444;p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12700" rtl="0" algn="l">
              <a:lnSpc>
                <a:spcPct val="100000"/>
              </a:lnSpc>
              <a:spcBef>
                <a:spcPts val="0"/>
              </a:spcBef>
              <a:spcAft>
                <a:spcPts val="0"/>
              </a:spcAft>
              <a:buClr>
                <a:srgbClr val="3F3F3F"/>
              </a:buClr>
              <a:buSzPts val="4800"/>
              <a:buFont typeface="Calibri"/>
              <a:buNone/>
            </a:pPr>
            <a:r>
              <a:rPr lang="en-US"/>
              <a:t>Attributs et méthodes de classe</a:t>
            </a:r>
            <a:endParaRPr/>
          </a:p>
        </p:txBody>
      </p:sp>
      <p:sp>
        <p:nvSpPr>
          <p:cNvPr id="445" name="Google Shape;445;p31"/>
          <p:cNvSpPr/>
          <p:nvPr/>
        </p:nvSpPr>
        <p:spPr>
          <a:xfrm>
            <a:off x="5533526" y="4684060"/>
            <a:ext cx="6536553" cy="369332"/>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lang="en-US" sz="1800">
                <a:solidFill>
                  <a:srgbClr val="FF0000"/>
                </a:solidFill>
                <a:latin typeface="Calibri"/>
                <a:ea typeface="Calibri"/>
                <a:cs typeface="Calibri"/>
                <a:sym typeface="Calibri"/>
              </a:rPr>
              <a:t>Pour tous les points qui seront crées, la valeur </a:t>
            </a:r>
            <a:r>
              <a:rPr b="1" lang="en-US" sz="1800">
                <a:solidFill>
                  <a:schemeClr val="accent5"/>
                </a:solidFill>
                <a:latin typeface="Calibri"/>
                <a:ea typeface="Calibri"/>
                <a:cs typeface="Calibri"/>
                <a:sym typeface="Calibri"/>
              </a:rPr>
              <a:t>nbPoint </a:t>
            </a:r>
            <a:r>
              <a:rPr lang="en-US" sz="1800">
                <a:solidFill>
                  <a:srgbClr val="FF0000"/>
                </a:solidFill>
                <a:latin typeface="Calibri"/>
                <a:ea typeface="Calibri"/>
                <a:cs typeface="Calibri"/>
                <a:sym typeface="Calibri"/>
              </a:rPr>
              <a:t>sera la même </a:t>
            </a:r>
            <a:r>
              <a:rPr lang="en-US" sz="1400">
                <a:solidFill>
                  <a:srgbClr val="FF0000"/>
                </a:solidFill>
                <a:latin typeface="Verdana"/>
                <a:ea typeface="Verdana"/>
                <a:cs typeface="Verdana"/>
                <a:sym typeface="Verdana"/>
              </a:rPr>
              <a:t>!</a:t>
            </a:r>
            <a:endParaRPr sz="1400">
              <a:solidFill>
                <a:schemeClr val="dk1"/>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2"/>
          <p:cNvSpPr txBox="1"/>
          <p:nvPr/>
        </p:nvSpPr>
        <p:spPr>
          <a:xfrm>
            <a:off x="1406282" y="1859279"/>
            <a:ext cx="9299231"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400">
                <a:solidFill>
                  <a:srgbClr val="404040"/>
                </a:solidFill>
                <a:latin typeface="Calibri"/>
                <a:ea typeface="Calibri"/>
                <a:cs typeface="Calibri"/>
                <a:sym typeface="Calibri"/>
              </a:rPr>
              <a:t>Exemple d’utilisation: Compter les nombres de points crées</a:t>
            </a:r>
            <a:endParaRPr sz="2400">
              <a:solidFill>
                <a:schemeClr val="dk1"/>
              </a:solidFill>
              <a:latin typeface="Calibri"/>
              <a:ea typeface="Calibri"/>
              <a:cs typeface="Calibri"/>
              <a:sym typeface="Calibri"/>
            </a:endParaRPr>
          </a:p>
        </p:txBody>
      </p:sp>
      <p:sp>
        <p:nvSpPr>
          <p:cNvPr id="451" name="Google Shape;451;p32"/>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45</a:t>
            </a:r>
            <a:endParaRPr sz="2000">
              <a:solidFill>
                <a:schemeClr val="dk1"/>
              </a:solidFill>
              <a:latin typeface="Verdana"/>
              <a:ea typeface="Verdana"/>
              <a:cs typeface="Verdana"/>
              <a:sym typeface="Verdana"/>
            </a:endParaRPr>
          </a:p>
        </p:txBody>
      </p:sp>
      <p:sp>
        <p:nvSpPr>
          <p:cNvPr id="452" name="Google Shape;452;p32"/>
          <p:cNvSpPr txBox="1"/>
          <p:nvPr/>
        </p:nvSpPr>
        <p:spPr>
          <a:xfrm>
            <a:off x="1819170" y="2431715"/>
            <a:ext cx="4509770" cy="381635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30475">
            <a:spAutoFit/>
          </a:bodyPr>
          <a:lstStyle/>
          <a:p>
            <a:pPr indent="0" lvl="0" marL="90805" marR="0" rtl="0" algn="l">
              <a:lnSpc>
                <a:spcPct val="100000"/>
              </a:lnSpc>
              <a:spcBef>
                <a:spcPts val="0"/>
              </a:spcBef>
              <a:spcAft>
                <a:spcPts val="0"/>
              </a:spcAft>
              <a:buNone/>
            </a:pPr>
            <a:r>
              <a:rPr lang="en-US" sz="1100">
                <a:solidFill>
                  <a:srgbClr val="000066"/>
                </a:solidFill>
                <a:latin typeface="Courier New"/>
                <a:ea typeface="Courier New"/>
                <a:cs typeface="Courier New"/>
                <a:sym typeface="Courier New"/>
              </a:rPr>
              <a:t>public </a:t>
            </a:r>
            <a:r>
              <a:rPr b="1" lang="en-US" sz="1100">
                <a:solidFill>
                  <a:schemeClr val="dk1"/>
                </a:solidFill>
                <a:latin typeface="Courier New"/>
                <a:ea typeface="Courier New"/>
                <a:cs typeface="Courier New"/>
                <a:sym typeface="Courier New"/>
              </a:rPr>
              <a:t>class </a:t>
            </a:r>
            <a:r>
              <a:rPr lang="en-US" sz="1100">
                <a:solidFill>
                  <a:srgbClr val="003399"/>
                </a:solidFill>
                <a:latin typeface="Courier New"/>
                <a:ea typeface="Courier New"/>
                <a:cs typeface="Courier New"/>
                <a:sym typeface="Courier New"/>
              </a:rPr>
              <a:t>Point</a:t>
            </a:r>
            <a:r>
              <a:rPr lang="en-US" sz="1100">
                <a:solidFill>
                  <a:srgbClr val="009900"/>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b="1" lang="en-US" sz="1100">
                <a:solidFill>
                  <a:srgbClr val="000066"/>
                </a:solidFill>
                <a:latin typeface="Courier New"/>
                <a:ea typeface="Courier New"/>
                <a:cs typeface="Courier New"/>
                <a:sym typeface="Courier New"/>
              </a:rPr>
              <a:t>public static int nbPoint = 0</a:t>
            </a:r>
            <a:r>
              <a:rPr b="1" lang="en-US" sz="1100">
                <a:solidFill>
                  <a:srgbClr val="339933"/>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0" marR="0" rtl="0" algn="l">
              <a:lnSpc>
                <a:spcPct val="100000"/>
              </a:lnSpc>
              <a:spcBef>
                <a:spcPts val="15"/>
              </a:spcBef>
              <a:spcAft>
                <a:spcPts val="0"/>
              </a:spcAft>
              <a:buNone/>
            </a:pPr>
            <a:r>
              <a:t/>
            </a:r>
            <a:endParaRPr sz="115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i="1" lang="en-US" sz="1100">
                <a:solidFill>
                  <a:srgbClr val="666666"/>
                </a:solidFill>
                <a:latin typeface="Courier New"/>
                <a:ea typeface="Courier New"/>
                <a:cs typeface="Courier New"/>
                <a:sym typeface="Courier New"/>
              </a:rPr>
              <a:t>//ATTRIBUTS</a:t>
            </a:r>
            <a:endParaRPr sz="11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b="1" lang="en-US" sz="1100">
                <a:solidFill>
                  <a:srgbClr val="000066"/>
                </a:solidFill>
                <a:latin typeface="Courier New"/>
                <a:ea typeface="Courier New"/>
                <a:cs typeface="Courier New"/>
                <a:sym typeface="Courier New"/>
              </a:rPr>
              <a:t>private int </a:t>
            </a:r>
            <a:r>
              <a:rPr lang="en-US" sz="1100">
                <a:solidFill>
                  <a:srgbClr val="000066"/>
                </a:solidFill>
                <a:latin typeface="Courier New"/>
                <a:ea typeface="Courier New"/>
                <a:cs typeface="Courier New"/>
                <a:sym typeface="Courier New"/>
              </a:rPr>
              <a:t>x</a:t>
            </a:r>
            <a:r>
              <a:rPr lang="en-US" sz="1100">
                <a:solidFill>
                  <a:srgbClr val="339933"/>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b="1" lang="en-US" sz="1100">
                <a:solidFill>
                  <a:srgbClr val="000066"/>
                </a:solidFill>
                <a:latin typeface="Courier New"/>
                <a:ea typeface="Courier New"/>
                <a:cs typeface="Courier New"/>
                <a:sym typeface="Courier New"/>
              </a:rPr>
              <a:t>private int </a:t>
            </a:r>
            <a:r>
              <a:rPr lang="en-US" sz="1100">
                <a:solidFill>
                  <a:srgbClr val="000066"/>
                </a:solidFill>
                <a:latin typeface="Courier New"/>
                <a:ea typeface="Courier New"/>
                <a:cs typeface="Courier New"/>
                <a:sym typeface="Courier New"/>
              </a:rPr>
              <a:t>y</a:t>
            </a:r>
            <a:r>
              <a:rPr lang="en-US" sz="1100">
                <a:solidFill>
                  <a:srgbClr val="339933"/>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0" marR="0" rtl="0" algn="l">
              <a:lnSpc>
                <a:spcPct val="100000"/>
              </a:lnSpc>
              <a:spcBef>
                <a:spcPts val="20"/>
              </a:spcBef>
              <a:spcAft>
                <a:spcPts val="0"/>
              </a:spcAft>
              <a:buNone/>
            </a:pPr>
            <a:r>
              <a:t/>
            </a:r>
            <a:endParaRPr sz="115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i="1" lang="en-US" sz="1100">
                <a:solidFill>
                  <a:srgbClr val="666666"/>
                </a:solidFill>
                <a:latin typeface="Courier New"/>
                <a:ea typeface="Courier New"/>
                <a:cs typeface="Courier New"/>
                <a:sym typeface="Courier New"/>
              </a:rPr>
              <a:t>//CONSTRUCTEURS</a:t>
            </a:r>
            <a:endParaRPr sz="1100">
              <a:solidFill>
                <a:schemeClr val="dk1"/>
              </a:solidFill>
              <a:latin typeface="Courier New"/>
              <a:ea typeface="Courier New"/>
              <a:cs typeface="Courier New"/>
              <a:sym typeface="Courier New"/>
            </a:endParaRPr>
          </a:p>
          <a:p>
            <a:pPr indent="-457834" lvl="0" marL="1005840" marR="635635" rtl="0" algn="l">
              <a:lnSpc>
                <a:spcPct val="100000"/>
              </a:lnSpc>
              <a:spcBef>
                <a:spcPts val="0"/>
              </a:spcBef>
              <a:spcAft>
                <a:spcPts val="0"/>
              </a:spcAft>
              <a:buNone/>
            </a:pPr>
            <a:r>
              <a:rPr lang="en-US" sz="1100">
                <a:solidFill>
                  <a:srgbClr val="000066"/>
                </a:solidFill>
                <a:latin typeface="Courier New"/>
                <a:ea typeface="Courier New"/>
                <a:cs typeface="Courier New"/>
                <a:sym typeface="Courier New"/>
              </a:rPr>
              <a:t>public Point</a:t>
            </a:r>
            <a:r>
              <a:rPr lang="en-US" sz="1100">
                <a:solidFill>
                  <a:srgbClr val="009900"/>
                </a:solidFill>
                <a:latin typeface="Courier New"/>
                <a:ea typeface="Courier New"/>
                <a:cs typeface="Courier New"/>
                <a:sym typeface="Courier New"/>
              </a:rPr>
              <a:t>(</a:t>
            </a:r>
            <a:r>
              <a:rPr lang="en-US" sz="1100">
                <a:solidFill>
                  <a:srgbClr val="000066"/>
                </a:solidFill>
                <a:latin typeface="Courier New"/>
                <a:ea typeface="Courier New"/>
                <a:cs typeface="Courier New"/>
                <a:sym typeface="Courier New"/>
              </a:rPr>
              <a:t>int xx, int yy</a:t>
            </a:r>
            <a:r>
              <a:rPr lang="en-US" sz="1100">
                <a:solidFill>
                  <a:srgbClr val="009900"/>
                </a:solidFill>
                <a:latin typeface="Courier New"/>
                <a:ea typeface="Courier New"/>
                <a:cs typeface="Courier New"/>
                <a:sym typeface="Courier New"/>
              </a:rPr>
              <a:t>){ </a:t>
            </a:r>
            <a:r>
              <a:rPr b="1" lang="en-US" sz="1100">
                <a:solidFill>
                  <a:srgbClr val="000066"/>
                </a:solidFill>
                <a:latin typeface="Courier New"/>
                <a:ea typeface="Courier New"/>
                <a:cs typeface="Courier New"/>
                <a:sym typeface="Courier New"/>
              </a:rPr>
              <a:t>Point.nbPoint = Point.nbPoint + 1; </a:t>
            </a:r>
            <a:r>
              <a:rPr lang="en-US" sz="1100">
                <a:solidFill>
                  <a:srgbClr val="000066"/>
                </a:solidFill>
                <a:latin typeface="Courier New"/>
                <a:ea typeface="Courier New"/>
                <a:cs typeface="Courier New"/>
                <a:sym typeface="Courier New"/>
              </a:rPr>
              <a:t>x </a:t>
            </a:r>
            <a:r>
              <a:rPr lang="en-US" sz="1100">
                <a:solidFill>
                  <a:srgbClr val="339933"/>
                </a:solidFill>
                <a:latin typeface="Courier New"/>
                <a:ea typeface="Courier New"/>
                <a:cs typeface="Courier New"/>
                <a:sym typeface="Courier New"/>
              </a:rPr>
              <a:t>= </a:t>
            </a:r>
            <a:r>
              <a:rPr lang="en-US" sz="1100">
                <a:solidFill>
                  <a:srgbClr val="000066"/>
                </a:solidFill>
                <a:latin typeface="Courier New"/>
                <a:ea typeface="Courier New"/>
                <a:cs typeface="Courier New"/>
                <a:sym typeface="Courier New"/>
              </a:rPr>
              <a:t>xx</a:t>
            </a:r>
            <a:r>
              <a:rPr lang="en-US" sz="1100">
                <a:solidFill>
                  <a:srgbClr val="339933"/>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1005840" marR="0" rtl="0" algn="l">
              <a:lnSpc>
                <a:spcPct val="100000"/>
              </a:lnSpc>
              <a:spcBef>
                <a:spcPts val="0"/>
              </a:spcBef>
              <a:spcAft>
                <a:spcPts val="0"/>
              </a:spcAft>
              <a:buNone/>
            </a:pPr>
            <a:r>
              <a:rPr lang="en-US" sz="1100">
                <a:solidFill>
                  <a:srgbClr val="000066"/>
                </a:solidFill>
                <a:latin typeface="Courier New"/>
                <a:ea typeface="Courier New"/>
                <a:cs typeface="Courier New"/>
                <a:sym typeface="Courier New"/>
              </a:rPr>
              <a:t>y </a:t>
            </a:r>
            <a:r>
              <a:rPr lang="en-US" sz="1100">
                <a:solidFill>
                  <a:srgbClr val="339933"/>
                </a:solidFill>
                <a:latin typeface="Courier New"/>
                <a:ea typeface="Courier New"/>
                <a:cs typeface="Courier New"/>
                <a:sym typeface="Courier New"/>
              </a:rPr>
              <a:t>= </a:t>
            </a:r>
            <a:r>
              <a:rPr lang="en-US" sz="1100">
                <a:solidFill>
                  <a:srgbClr val="000066"/>
                </a:solidFill>
                <a:latin typeface="Courier New"/>
                <a:ea typeface="Courier New"/>
                <a:cs typeface="Courier New"/>
                <a:sym typeface="Courier New"/>
              </a:rPr>
              <a:t>yy</a:t>
            </a:r>
            <a:r>
              <a:rPr lang="en-US" sz="1100">
                <a:solidFill>
                  <a:srgbClr val="339933"/>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100">
                <a:solidFill>
                  <a:srgbClr val="009900"/>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0" marR="0" rtl="0" algn="l">
              <a:lnSpc>
                <a:spcPct val="100000"/>
              </a:lnSpc>
              <a:spcBef>
                <a:spcPts val="20"/>
              </a:spcBef>
              <a:spcAft>
                <a:spcPts val="0"/>
              </a:spcAft>
              <a:buNone/>
            </a:pPr>
            <a:r>
              <a:t/>
            </a:r>
            <a:endParaRPr sz="115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i="1" lang="en-US" sz="1100">
                <a:solidFill>
                  <a:srgbClr val="666666"/>
                </a:solidFill>
                <a:latin typeface="Courier New"/>
                <a:ea typeface="Courier New"/>
                <a:cs typeface="Courier New"/>
                <a:sym typeface="Courier New"/>
              </a:rPr>
              <a:t>//GETTERS</a:t>
            </a:r>
            <a:endParaRPr sz="1100">
              <a:solidFill>
                <a:schemeClr val="dk1"/>
              </a:solidFill>
              <a:latin typeface="Courier New"/>
              <a:ea typeface="Courier New"/>
              <a:cs typeface="Courier New"/>
              <a:sym typeface="Courier New"/>
            </a:endParaRPr>
          </a:p>
          <a:p>
            <a:pPr indent="-457834" lvl="0" marL="1005840" marR="2353945" rtl="0" algn="l">
              <a:lnSpc>
                <a:spcPct val="100000"/>
              </a:lnSpc>
              <a:spcBef>
                <a:spcPts val="0"/>
              </a:spcBef>
              <a:spcAft>
                <a:spcPts val="0"/>
              </a:spcAft>
              <a:buNone/>
            </a:pPr>
            <a:r>
              <a:rPr lang="en-US" sz="1100">
                <a:solidFill>
                  <a:srgbClr val="000066"/>
                </a:solidFill>
                <a:latin typeface="Courier New"/>
                <a:ea typeface="Courier New"/>
                <a:cs typeface="Courier New"/>
                <a:sym typeface="Courier New"/>
              </a:rPr>
              <a:t>public </a:t>
            </a:r>
            <a:r>
              <a:rPr b="1" lang="en-US" sz="1100">
                <a:solidFill>
                  <a:srgbClr val="000066"/>
                </a:solidFill>
                <a:latin typeface="Courier New"/>
                <a:ea typeface="Courier New"/>
                <a:cs typeface="Courier New"/>
                <a:sym typeface="Courier New"/>
              </a:rPr>
              <a:t>int </a:t>
            </a:r>
            <a:r>
              <a:rPr lang="en-US" sz="1100">
                <a:solidFill>
                  <a:srgbClr val="000066"/>
                </a:solidFill>
                <a:latin typeface="Courier New"/>
                <a:ea typeface="Courier New"/>
                <a:cs typeface="Courier New"/>
                <a:sym typeface="Courier New"/>
              </a:rPr>
              <a:t>getX() </a:t>
            </a:r>
            <a:r>
              <a:rPr lang="en-US" sz="1100">
                <a:solidFill>
                  <a:srgbClr val="009900"/>
                </a:solidFill>
                <a:latin typeface="Courier New"/>
                <a:ea typeface="Courier New"/>
                <a:cs typeface="Courier New"/>
                <a:sym typeface="Courier New"/>
              </a:rPr>
              <a:t>{ </a:t>
            </a:r>
            <a:r>
              <a:rPr lang="en-US" sz="1100">
                <a:solidFill>
                  <a:srgbClr val="000066"/>
                </a:solidFill>
                <a:latin typeface="Courier New"/>
                <a:ea typeface="Courier New"/>
                <a:cs typeface="Courier New"/>
                <a:sym typeface="Courier New"/>
              </a:rPr>
              <a:t>return x;</a:t>
            </a:r>
            <a:endParaRPr sz="11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100">
                <a:solidFill>
                  <a:srgbClr val="009900"/>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457834" lvl="0" marL="1005840" marR="2353945" rtl="0" algn="l">
              <a:lnSpc>
                <a:spcPct val="100000"/>
              </a:lnSpc>
              <a:spcBef>
                <a:spcPts val="0"/>
              </a:spcBef>
              <a:spcAft>
                <a:spcPts val="0"/>
              </a:spcAft>
              <a:buNone/>
            </a:pPr>
            <a:r>
              <a:rPr lang="en-US" sz="1100">
                <a:solidFill>
                  <a:srgbClr val="000066"/>
                </a:solidFill>
                <a:latin typeface="Courier New"/>
                <a:ea typeface="Courier New"/>
                <a:cs typeface="Courier New"/>
                <a:sym typeface="Courier New"/>
              </a:rPr>
              <a:t>public </a:t>
            </a:r>
            <a:r>
              <a:rPr b="1" lang="en-US" sz="1100">
                <a:solidFill>
                  <a:srgbClr val="000066"/>
                </a:solidFill>
                <a:latin typeface="Courier New"/>
                <a:ea typeface="Courier New"/>
                <a:cs typeface="Courier New"/>
                <a:sym typeface="Courier New"/>
              </a:rPr>
              <a:t>int </a:t>
            </a:r>
            <a:r>
              <a:rPr lang="en-US" sz="1100">
                <a:solidFill>
                  <a:srgbClr val="000066"/>
                </a:solidFill>
                <a:latin typeface="Courier New"/>
                <a:ea typeface="Courier New"/>
                <a:cs typeface="Courier New"/>
                <a:sym typeface="Courier New"/>
              </a:rPr>
              <a:t>getY() </a:t>
            </a:r>
            <a:r>
              <a:rPr lang="en-US" sz="1100">
                <a:solidFill>
                  <a:srgbClr val="009900"/>
                </a:solidFill>
                <a:latin typeface="Courier New"/>
                <a:ea typeface="Courier New"/>
                <a:cs typeface="Courier New"/>
                <a:sym typeface="Courier New"/>
              </a:rPr>
              <a:t>{ </a:t>
            </a:r>
            <a:r>
              <a:rPr lang="en-US" sz="1100">
                <a:solidFill>
                  <a:srgbClr val="000066"/>
                </a:solidFill>
                <a:latin typeface="Courier New"/>
                <a:ea typeface="Courier New"/>
                <a:cs typeface="Courier New"/>
                <a:sym typeface="Courier New"/>
              </a:rPr>
              <a:t>return y;</a:t>
            </a:r>
            <a:endParaRPr sz="1100">
              <a:solidFill>
                <a:schemeClr val="dk1"/>
              </a:solidFill>
              <a:latin typeface="Courier New"/>
              <a:ea typeface="Courier New"/>
              <a:cs typeface="Courier New"/>
              <a:sym typeface="Courier New"/>
            </a:endParaRPr>
          </a:p>
          <a:p>
            <a:pPr indent="0" lvl="0" marL="548005" marR="0" rtl="0" algn="l">
              <a:lnSpc>
                <a:spcPct val="100000"/>
              </a:lnSpc>
              <a:spcBef>
                <a:spcPts val="0"/>
              </a:spcBef>
              <a:spcAft>
                <a:spcPts val="0"/>
              </a:spcAft>
              <a:buNone/>
            </a:pPr>
            <a:r>
              <a:rPr lang="en-US" sz="1100">
                <a:solidFill>
                  <a:srgbClr val="009900"/>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90805" marR="0" rtl="0" algn="l">
              <a:lnSpc>
                <a:spcPct val="100000"/>
              </a:lnSpc>
              <a:spcBef>
                <a:spcPts val="0"/>
              </a:spcBef>
              <a:spcAft>
                <a:spcPts val="0"/>
              </a:spcAft>
              <a:buNone/>
            </a:pPr>
            <a:r>
              <a:rPr lang="en-US" sz="1100">
                <a:solidFill>
                  <a:srgbClr val="000066"/>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p:txBody>
      </p:sp>
      <p:sp>
        <p:nvSpPr>
          <p:cNvPr id="453" name="Google Shape;453;p32"/>
          <p:cNvSpPr/>
          <p:nvPr/>
        </p:nvSpPr>
        <p:spPr>
          <a:xfrm>
            <a:off x="6430794" y="2451527"/>
            <a:ext cx="4737100" cy="2516505"/>
          </a:xfrm>
          <a:custGeom>
            <a:rect b="b" l="l" r="r" t="t"/>
            <a:pathLst>
              <a:path extrusionOk="0" h="2516504" w="4737100">
                <a:moveTo>
                  <a:pt x="0" y="2516124"/>
                </a:moveTo>
                <a:lnTo>
                  <a:pt x="4736592" y="2516124"/>
                </a:lnTo>
                <a:lnTo>
                  <a:pt x="4736592" y="0"/>
                </a:lnTo>
                <a:lnTo>
                  <a:pt x="0" y="0"/>
                </a:lnTo>
                <a:lnTo>
                  <a:pt x="0" y="251612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32"/>
          <p:cNvSpPr txBox="1"/>
          <p:nvPr/>
        </p:nvSpPr>
        <p:spPr>
          <a:xfrm>
            <a:off x="6537925" y="2467783"/>
            <a:ext cx="4116704" cy="34671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050">
                <a:solidFill>
                  <a:schemeClr val="dk1"/>
                </a:solidFill>
                <a:latin typeface="Courier New"/>
                <a:ea typeface="Courier New"/>
                <a:cs typeface="Courier New"/>
                <a:sym typeface="Courier New"/>
              </a:rPr>
              <a:t>public class </a:t>
            </a:r>
            <a:r>
              <a:rPr lang="en-US" sz="1050">
                <a:solidFill>
                  <a:srgbClr val="000066"/>
                </a:solidFill>
                <a:latin typeface="Courier New"/>
                <a:ea typeface="Courier New"/>
                <a:cs typeface="Courier New"/>
                <a:sym typeface="Courier New"/>
              </a:rPr>
              <a:t>Test</a:t>
            </a:r>
            <a:r>
              <a:rPr lang="en-US" sz="1050">
                <a:solidFill>
                  <a:srgbClr val="009900"/>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indent="0" lvl="0" marL="927100" marR="0" rtl="0" algn="l">
              <a:lnSpc>
                <a:spcPct val="100000"/>
              </a:lnSpc>
              <a:spcBef>
                <a:spcPts val="0"/>
              </a:spcBef>
              <a:spcAft>
                <a:spcPts val="0"/>
              </a:spcAft>
              <a:buNone/>
            </a:pPr>
            <a:r>
              <a:rPr b="1" lang="en-US" sz="1050">
                <a:solidFill>
                  <a:schemeClr val="dk1"/>
                </a:solidFill>
                <a:latin typeface="Courier New"/>
                <a:ea typeface="Courier New"/>
                <a:cs typeface="Courier New"/>
                <a:sym typeface="Courier New"/>
              </a:rPr>
              <a:t>public static </a:t>
            </a:r>
            <a:r>
              <a:rPr b="1" lang="en-US" sz="1050">
                <a:solidFill>
                  <a:srgbClr val="000066"/>
                </a:solidFill>
                <a:latin typeface="Courier New"/>
                <a:ea typeface="Courier New"/>
                <a:cs typeface="Courier New"/>
                <a:sym typeface="Courier New"/>
              </a:rPr>
              <a:t>void </a:t>
            </a:r>
            <a:r>
              <a:rPr lang="en-US" sz="1050">
                <a:solidFill>
                  <a:srgbClr val="000066"/>
                </a:solidFill>
                <a:latin typeface="Courier New"/>
                <a:ea typeface="Courier New"/>
                <a:cs typeface="Courier New"/>
                <a:sym typeface="Courier New"/>
              </a:rPr>
              <a:t>main </a:t>
            </a:r>
            <a:r>
              <a:rPr lang="en-US" sz="1050">
                <a:solidFill>
                  <a:srgbClr val="009900"/>
                </a:solidFill>
                <a:latin typeface="Courier New"/>
                <a:ea typeface="Courier New"/>
                <a:cs typeface="Courier New"/>
                <a:sym typeface="Courier New"/>
              </a:rPr>
              <a:t>(</a:t>
            </a:r>
            <a:r>
              <a:rPr lang="en-US" sz="1050">
                <a:solidFill>
                  <a:srgbClr val="003399"/>
                </a:solidFill>
                <a:latin typeface="Courier New"/>
                <a:ea typeface="Courier New"/>
                <a:cs typeface="Courier New"/>
                <a:sym typeface="Courier New"/>
              </a:rPr>
              <a:t>String</a:t>
            </a:r>
            <a:r>
              <a:rPr lang="en-US" sz="1050">
                <a:solidFill>
                  <a:srgbClr val="009900"/>
                </a:solidFill>
                <a:latin typeface="Courier New"/>
                <a:ea typeface="Courier New"/>
                <a:cs typeface="Courier New"/>
                <a:sym typeface="Courier New"/>
              </a:rPr>
              <a:t>[] </a:t>
            </a:r>
            <a:r>
              <a:rPr lang="en-US" sz="1050">
                <a:solidFill>
                  <a:srgbClr val="000066"/>
                </a:solidFill>
                <a:latin typeface="Courier New"/>
                <a:ea typeface="Courier New"/>
                <a:cs typeface="Courier New"/>
                <a:sym typeface="Courier New"/>
              </a:rPr>
              <a:t>args</a:t>
            </a:r>
            <a:r>
              <a:rPr lang="en-US" sz="1050">
                <a:solidFill>
                  <a:srgbClr val="009900"/>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p:txBody>
      </p:sp>
      <p:sp>
        <p:nvSpPr>
          <p:cNvPr id="455" name="Google Shape;455;p32"/>
          <p:cNvSpPr txBox="1"/>
          <p:nvPr/>
        </p:nvSpPr>
        <p:spPr>
          <a:xfrm>
            <a:off x="8367105" y="2948097"/>
            <a:ext cx="2724785" cy="1866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050">
                <a:solidFill>
                  <a:srgbClr val="003399"/>
                </a:solidFill>
                <a:latin typeface="Courier New"/>
                <a:ea typeface="Courier New"/>
                <a:cs typeface="Courier New"/>
                <a:sym typeface="Courier New"/>
              </a:rPr>
              <a:t>System.out.println(Point.nbPoint);</a:t>
            </a:r>
            <a:endParaRPr sz="1050">
              <a:solidFill>
                <a:schemeClr val="dk1"/>
              </a:solidFill>
              <a:latin typeface="Courier New"/>
              <a:ea typeface="Courier New"/>
              <a:cs typeface="Courier New"/>
              <a:sym typeface="Courier New"/>
            </a:endParaRPr>
          </a:p>
        </p:txBody>
      </p:sp>
      <p:sp>
        <p:nvSpPr>
          <p:cNvPr id="456" name="Google Shape;456;p32"/>
          <p:cNvSpPr txBox="1"/>
          <p:nvPr/>
        </p:nvSpPr>
        <p:spPr>
          <a:xfrm>
            <a:off x="8367105" y="3268138"/>
            <a:ext cx="2170430" cy="1866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050">
                <a:solidFill>
                  <a:srgbClr val="003399"/>
                </a:solidFill>
                <a:latin typeface="Courier New"/>
                <a:ea typeface="Courier New"/>
                <a:cs typeface="Courier New"/>
                <a:sym typeface="Courier New"/>
              </a:rPr>
              <a:t>Point p1 = new Point(0, 0);</a:t>
            </a:r>
            <a:endParaRPr sz="1050">
              <a:solidFill>
                <a:schemeClr val="dk1"/>
              </a:solidFill>
              <a:latin typeface="Courier New"/>
              <a:ea typeface="Courier New"/>
              <a:cs typeface="Courier New"/>
              <a:sym typeface="Courier New"/>
            </a:endParaRPr>
          </a:p>
        </p:txBody>
      </p:sp>
      <p:sp>
        <p:nvSpPr>
          <p:cNvPr id="457" name="Google Shape;457;p32"/>
          <p:cNvSpPr txBox="1"/>
          <p:nvPr/>
        </p:nvSpPr>
        <p:spPr>
          <a:xfrm>
            <a:off x="8367105" y="3588177"/>
            <a:ext cx="2724785" cy="1866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050">
                <a:solidFill>
                  <a:srgbClr val="003399"/>
                </a:solidFill>
                <a:latin typeface="Courier New"/>
                <a:ea typeface="Courier New"/>
                <a:cs typeface="Courier New"/>
                <a:sym typeface="Courier New"/>
              </a:rPr>
              <a:t>System.out.println(Point.nbPoint);</a:t>
            </a:r>
            <a:endParaRPr sz="1050">
              <a:solidFill>
                <a:schemeClr val="dk1"/>
              </a:solidFill>
              <a:latin typeface="Courier New"/>
              <a:ea typeface="Courier New"/>
              <a:cs typeface="Courier New"/>
              <a:sym typeface="Courier New"/>
            </a:endParaRPr>
          </a:p>
        </p:txBody>
      </p:sp>
      <p:sp>
        <p:nvSpPr>
          <p:cNvPr id="458" name="Google Shape;458;p32"/>
          <p:cNvSpPr txBox="1"/>
          <p:nvPr/>
        </p:nvSpPr>
        <p:spPr>
          <a:xfrm>
            <a:off x="8367105" y="3908218"/>
            <a:ext cx="2171065" cy="1866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050">
                <a:solidFill>
                  <a:srgbClr val="003399"/>
                </a:solidFill>
                <a:latin typeface="Courier New"/>
                <a:ea typeface="Courier New"/>
                <a:cs typeface="Courier New"/>
                <a:sym typeface="Courier New"/>
              </a:rPr>
              <a:t>Point p2 = new Point(3, 4);</a:t>
            </a:r>
            <a:endParaRPr sz="1050">
              <a:solidFill>
                <a:schemeClr val="dk1"/>
              </a:solidFill>
              <a:latin typeface="Courier New"/>
              <a:ea typeface="Courier New"/>
              <a:cs typeface="Courier New"/>
              <a:sym typeface="Courier New"/>
            </a:endParaRPr>
          </a:p>
        </p:txBody>
      </p:sp>
      <p:sp>
        <p:nvSpPr>
          <p:cNvPr id="459" name="Google Shape;459;p32"/>
          <p:cNvSpPr txBox="1"/>
          <p:nvPr/>
        </p:nvSpPr>
        <p:spPr>
          <a:xfrm>
            <a:off x="8367105" y="4228638"/>
            <a:ext cx="2724785" cy="1866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050">
                <a:solidFill>
                  <a:srgbClr val="003399"/>
                </a:solidFill>
                <a:latin typeface="Courier New"/>
                <a:ea typeface="Courier New"/>
                <a:cs typeface="Courier New"/>
                <a:sym typeface="Courier New"/>
              </a:rPr>
              <a:t>System.out.println(Point.nbPoint);</a:t>
            </a:r>
            <a:endParaRPr sz="1050">
              <a:solidFill>
                <a:schemeClr val="dk1"/>
              </a:solidFill>
              <a:latin typeface="Courier New"/>
              <a:ea typeface="Courier New"/>
              <a:cs typeface="Courier New"/>
              <a:sym typeface="Courier New"/>
            </a:endParaRPr>
          </a:p>
        </p:txBody>
      </p:sp>
      <p:sp>
        <p:nvSpPr>
          <p:cNvPr id="460" name="Google Shape;460;p32"/>
          <p:cNvSpPr txBox="1"/>
          <p:nvPr/>
        </p:nvSpPr>
        <p:spPr>
          <a:xfrm>
            <a:off x="7452705" y="4548678"/>
            <a:ext cx="106045" cy="1866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050">
                <a:solidFill>
                  <a:srgbClr val="009900"/>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p:txBody>
      </p:sp>
      <p:sp>
        <p:nvSpPr>
          <p:cNvPr id="461" name="Google Shape;461;p32"/>
          <p:cNvSpPr txBox="1"/>
          <p:nvPr/>
        </p:nvSpPr>
        <p:spPr>
          <a:xfrm>
            <a:off x="6537925" y="4708699"/>
            <a:ext cx="106045" cy="1866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050">
                <a:solidFill>
                  <a:srgbClr val="009900"/>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p:txBody>
      </p:sp>
      <p:grpSp>
        <p:nvGrpSpPr>
          <p:cNvPr id="462" name="Google Shape;462;p32"/>
          <p:cNvGrpSpPr/>
          <p:nvPr/>
        </p:nvGrpSpPr>
        <p:grpSpPr>
          <a:xfrm>
            <a:off x="6969470" y="3567095"/>
            <a:ext cx="934211" cy="2353056"/>
            <a:chOff x="7813547" y="3651503"/>
            <a:chExt cx="934211" cy="2353056"/>
          </a:xfrm>
        </p:grpSpPr>
        <p:pic>
          <p:nvPicPr>
            <p:cNvPr id="463" name="Google Shape;463;p32"/>
            <p:cNvPicPr preferRelativeResize="0"/>
            <p:nvPr/>
          </p:nvPicPr>
          <p:blipFill rotWithShape="1">
            <a:blip r:embed="rId3">
              <a:alphaModFix/>
            </a:blip>
            <a:srcRect b="0" l="0" r="0" t="0"/>
            <a:stretch/>
          </p:blipFill>
          <p:spPr>
            <a:xfrm>
              <a:off x="7813547" y="3651503"/>
              <a:ext cx="934211" cy="2353056"/>
            </a:xfrm>
            <a:prstGeom prst="rect">
              <a:avLst/>
            </a:prstGeom>
            <a:noFill/>
            <a:ln>
              <a:noFill/>
            </a:ln>
          </p:spPr>
        </p:pic>
        <p:pic>
          <p:nvPicPr>
            <p:cNvPr id="464" name="Google Shape;464;p32"/>
            <p:cNvPicPr preferRelativeResize="0"/>
            <p:nvPr/>
          </p:nvPicPr>
          <p:blipFill rotWithShape="1">
            <a:blip r:embed="rId4">
              <a:alphaModFix/>
            </a:blip>
            <a:srcRect b="0" l="0" r="0" t="0"/>
            <a:stretch/>
          </p:blipFill>
          <p:spPr>
            <a:xfrm>
              <a:off x="7866813" y="3666743"/>
              <a:ext cx="827606" cy="2245639"/>
            </a:xfrm>
            <a:prstGeom prst="rect">
              <a:avLst/>
            </a:prstGeom>
            <a:noFill/>
            <a:ln>
              <a:noFill/>
            </a:ln>
          </p:spPr>
        </p:pic>
      </p:grpSp>
      <p:sp>
        <p:nvSpPr>
          <p:cNvPr id="465" name="Google Shape;465;p32"/>
          <p:cNvSpPr txBox="1"/>
          <p:nvPr/>
        </p:nvSpPr>
        <p:spPr>
          <a:xfrm>
            <a:off x="8253444" y="5378596"/>
            <a:ext cx="377825" cy="86946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Merriweather"/>
                <a:ea typeface="Merriweather"/>
                <a:cs typeface="Merriweather"/>
                <a:sym typeface="Merriweather"/>
              </a:rPr>
              <a:t>0</a:t>
            </a:r>
            <a:endParaRPr/>
          </a:p>
          <a:p>
            <a:pPr indent="0" lvl="0" marL="12700" marR="0" rtl="0" algn="l">
              <a:lnSpc>
                <a:spcPct val="100000"/>
              </a:lnSpc>
              <a:spcBef>
                <a:spcPts val="100"/>
              </a:spcBef>
              <a:spcAft>
                <a:spcPts val="0"/>
              </a:spcAft>
              <a:buNone/>
            </a:pPr>
            <a:r>
              <a:rPr lang="en-US" sz="1800">
                <a:solidFill>
                  <a:schemeClr val="dk1"/>
                </a:solidFill>
                <a:latin typeface="Merriweather"/>
                <a:ea typeface="Merriweather"/>
                <a:cs typeface="Merriweather"/>
                <a:sym typeface="Merriweather"/>
              </a:rPr>
              <a:t>1</a:t>
            </a:r>
            <a:endParaRPr/>
          </a:p>
          <a:p>
            <a:pPr indent="0" lvl="0" marL="12700" marR="0" rtl="0" algn="l">
              <a:lnSpc>
                <a:spcPct val="100000"/>
              </a:lnSpc>
              <a:spcBef>
                <a:spcPts val="100"/>
              </a:spcBef>
              <a:spcAft>
                <a:spcPts val="0"/>
              </a:spcAft>
              <a:buNone/>
            </a:pPr>
            <a:r>
              <a:rPr lang="en-US" sz="1800">
                <a:solidFill>
                  <a:schemeClr val="dk1"/>
                </a:solidFill>
                <a:latin typeface="Merriweather"/>
                <a:ea typeface="Merriweather"/>
                <a:cs typeface="Merriweather"/>
                <a:sym typeface="Merriweather"/>
              </a:rPr>
              <a:t>2</a:t>
            </a:r>
            <a:endParaRPr sz="1800">
              <a:solidFill>
                <a:schemeClr val="dk1"/>
              </a:solidFill>
              <a:latin typeface="Merriweather"/>
              <a:ea typeface="Merriweather"/>
              <a:cs typeface="Merriweather"/>
              <a:sym typeface="Merriweather"/>
            </a:endParaRPr>
          </a:p>
        </p:txBody>
      </p:sp>
      <p:sp>
        <p:nvSpPr>
          <p:cNvPr id="466" name="Google Shape;466;p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12700" rtl="0" algn="l">
              <a:lnSpc>
                <a:spcPct val="100000"/>
              </a:lnSpc>
              <a:spcBef>
                <a:spcPts val="0"/>
              </a:spcBef>
              <a:spcAft>
                <a:spcPts val="0"/>
              </a:spcAft>
              <a:buClr>
                <a:srgbClr val="3F3F3F"/>
              </a:buClr>
              <a:buSzPts val="4800"/>
              <a:buFont typeface="Calibri"/>
              <a:buNone/>
            </a:pPr>
            <a:r>
              <a:rPr lang="en-US"/>
              <a:t>Attributs et méthodes de classe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3"/>
          <p:cNvSpPr txBox="1"/>
          <p:nvPr/>
        </p:nvSpPr>
        <p:spPr>
          <a:xfrm>
            <a:off x="1097280" y="1735917"/>
            <a:ext cx="10157908" cy="3051476"/>
          </a:xfrm>
          <a:prstGeom prst="rect">
            <a:avLst/>
          </a:prstGeom>
          <a:noFill/>
          <a:ln>
            <a:noFill/>
          </a:ln>
        </p:spPr>
        <p:txBody>
          <a:bodyPr anchorCtr="0" anchor="t" bIns="0" lIns="0" spcFirstLastPara="1" rIns="0" wrap="square" tIns="156825">
            <a:spAutoFit/>
          </a:bodyPr>
          <a:lstStyle/>
          <a:p>
            <a:pPr indent="0" lvl="0" marL="12700" marR="0" rtl="0" algn="l">
              <a:lnSpc>
                <a:spcPct val="100000"/>
              </a:lnSpc>
              <a:spcBef>
                <a:spcPts val="0"/>
              </a:spcBef>
              <a:spcAft>
                <a:spcPts val="0"/>
              </a:spcAft>
              <a:buNone/>
            </a:pPr>
            <a:r>
              <a:rPr b="1" lang="en-US" sz="2400">
                <a:solidFill>
                  <a:srgbClr val="404040"/>
                </a:solidFill>
                <a:latin typeface="Calibri"/>
                <a:ea typeface="Calibri"/>
                <a:cs typeface="Calibri"/>
                <a:sym typeface="Calibri"/>
              </a:rPr>
              <a:t>Constantes de classe</a:t>
            </a:r>
            <a:endParaRPr sz="2400">
              <a:solidFill>
                <a:schemeClr val="dk1"/>
              </a:solidFill>
              <a:latin typeface="Calibri"/>
              <a:ea typeface="Calibri"/>
              <a:cs typeface="Calibri"/>
              <a:sym typeface="Calibri"/>
            </a:endParaRPr>
          </a:p>
          <a:p>
            <a:pPr indent="-342900" lvl="0" marL="812800" marR="0" rtl="0" algn="just">
              <a:lnSpc>
                <a:spcPct val="100000"/>
              </a:lnSpc>
              <a:spcBef>
                <a:spcPts val="1005"/>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Un attribut de classe peut-être une constante</a:t>
            </a:r>
            <a:endParaRPr sz="2400">
              <a:solidFill>
                <a:schemeClr val="dk1"/>
              </a:solidFill>
              <a:latin typeface="Calibri"/>
              <a:ea typeface="Calibri"/>
              <a:cs typeface="Calibri"/>
              <a:sym typeface="Calibri"/>
            </a:endParaRPr>
          </a:p>
          <a:p>
            <a:pPr indent="-342900" lvl="0" marL="812800" marR="0" rtl="0" algn="just">
              <a:lnSpc>
                <a:spcPct val="100000"/>
              </a:lnSpc>
              <a:spcBef>
                <a:spcPts val="994"/>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ll s’agit de constante liée à une classe</a:t>
            </a:r>
            <a:endParaRPr sz="2400">
              <a:solidFill>
                <a:schemeClr val="dk1"/>
              </a:solidFill>
              <a:latin typeface="Calibri"/>
              <a:ea typeface="Calibri"/>
              <a:cs typeface="Calibri"/>
              <a:sym typeface="Calibri"/>
            </a:endParaRPr>
          </a:p>
          <a:p>
            <a:pPr indent="-342900" lvl="0" marL="812800" marR="0" rtl="0" algn="just">
              <a:lnSpc>
                <a:spcPct val="100000"/>
              </a:lnSpc>
              <a:spcBef>
                <a:spcPts val="994"/>
              </a:spcBef>
              <a:spcAft>
                <a:spcPts val="0"/>
              </a:spcAft>
              <a:buClr>
                <a:srgbClr val="3F3F3F"/>
              </a:buClr>
              <a:buSzPts val="2400"/>
              <a:buFont typeface="Noto Sans Symbols"/>
              <a:buChar char="▪"/>
            </a:pPr>
            <a:r>
              <a:rPr lang="en-US" sz="2400">
                <a:solidFill>
                  <a:schemeClr val="dk1"/>
                </a:solidFill>
                <a:latin typeface="Calibri"/>
                <a:ea typeface="Calibri"/>
                <a:cs typeface="Calibri"/>
                <a:sym typeface="Calibri"/>
              </a:rPr>
              <a:t>Défini avec le mot clé</a:t>
            </a:r>
            <a:r>
              <a:rPr lang="en-US" sz="2400">
                <a:solidFill>
                  <a:srgbClr val="404040"/>
                </a:solidFill>
                <a:latin typeface="Calibri"/>
                <a:ea typeface="Calibri"/>
                <a:cs typeface="Calibri"/>
                <a:sym typeface="Calibri"/>
              </a:rPr>
              <a:t> </a:t>
            </a:r>
            <a:r>
              <a:rPr b="1" lang="en-US" sz="2400">
                <a:solidFill>
                  <a:srgbClr val="5B9BD4"/>
                </a:solidFill>
                <a:latin typeface="Calibri"/>
                <a:ea typeface="Calibri"/>
                <a:cs typeface="Calibri"/>
                <a:sym typeface="Calibri"/>
              </a:rPr>
              <a:t>final</a:t>
            </a:r>
            <a:endParaRPr sz="2400">
              <a:solidFill>
                <a:schemeClr val="dk1"/>
              </a:solidFill>
              <a:latin typeface="Calibri"/>
              <a:ea typeface="Calibri"/>
              <a:cs typeface="Calibri"/>
              <a:sym typeface="Calibri"/>
            </a:endParaRPr>
          </a:p>
          <a:p>
            <a:pPr indent="0" lvl="0" marL="151130" marR="0" rtl="0" algn="ctr">
              <a:lnSpc>
                <a:spcPct val="100000"/>
              </a:lnSpc>
              <a:spcBef>
                <a:spcPts val="0"/>
              </a:spcBef>
              <a:spcAft>
                <a:spcPts val="0"/>
              </a:spcAft>
              <a:buNone/>
            </a:pPr>
            <a:r>
              <a:t/>
            </a:r>
            <a:endParaRPr b="1" sz="2400">
              <a:solidFill>
                <a:srgbClr val="5B9BD4"/>
              </a:solidFill>
              <a:latin typeface="Calibri"/>
              <a:ea typeface="Calibri"/>
              <a:cs typeface="Calibri"/>
              <a:sym typeface="Calibri"/>
            </a:endParaRPr>
          </a:p>
          <a:p>
            <a:pPr indent="0" lvl="0" marL="151130" marR="0" rtl="0" algn="ctr">
              <a:lnSpc>
                <a:spcPct val="100000"/>
              </a:lnSpc>
              <a:spcBef>
                <a:spcPts val="0"/>
              </a:spcBef>
              <a:spcAft>
                <a:spcPts val="0"/>
              </a:spcAft>
              <a:buNone/>
            </a:pPr>
            <a:r>
              <a:rPr b="1" lang="en-US" sz="2400">
                <a:solidFill>
                  <a:srgbClr val="5B9BD4"/>
                </a:solidFill>
                <a:latin typeface="Calibri"/>
                <a:ea typeface="Calibri"/>
                <a:cs typeface="Calibri"/>
                <a:sym typeface="Calibri"/>
              </a:rPr>
              <a:t>public final static int VITESSE_MAX = 280</a:t>
            </a:r>
            <a:endParaRPr sz="2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900">
              <a:solidFill>
                <a:schemeClr val="dk1"/>
              </a:solidFill>
              <a:latin typeface="Tahoma"/>
              <a:ea typeface="Tahoma"/>
              <a:cs typeface="Tahoma"/>
              <a:sym typeface="Tahoma"/>
            </a:endParaRPr>
          </a:p>
        </p:txBody>
      </p:sp>
      <p:sp>
        <p:nvSpPr>
          <p:cNvPr id="472" name="Google Shape;472;p33"/>
          <p:cNvSpPr txBox="1"/>
          <p:nvPr/>
        </p:nvSpPr>
        <p:spPr>
          <a:xfrm>
            <a:off x="923036" y="799033"/>
            <a:ext cx="309245"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FDFFFF"/>
                </a:solidFill>
                <a:latin typeface="Verdana"/>
                <a:ea typeface="Verdana"/>
                <a:cs typeface="Verdana"/>
                <a:sym typeface="Verdana"/>
              </a:rPr>
              <a:t>46</a:t>
            </a:r>
            <a:endParaRPr sz="2000">
              <a:solidFill>
                <a:schemeClr val="dk1"/>
              </a:solidFill>
              <a:latin typeface="Verdana"/>
              <a:ea typeface="Verdana"/>
              <a:cs typeface="Verdana"/>
              <a:sym typeface="Verdana"/>
            </a:endParaRPr>
          </a:p>
        </p:txBody>
      </p:sp>
      <p:sp>
        <p:nvSpPr>
          <p:cNvPr id="473" name="Google Shape;473;p33"/>
          <p:cNvSpPr txBox="1"/>
          <p:nvPr/>
        </p:nvSpPr>
        <p:spPr>
          <a:xfrm>
            <a:off x="2691383" y="1254252"/>
            <a:ext cx="9500870" cy="530860"/>
          </a:xfrm>
          <a:prstGeom prst="rect">
            <a:avLst/>
          </a:prstGeom>
          <a:noFill/>
          <a:ln>
            <a:noFill/>
          </a:ln>
        </p:spPr>
        <p:txBody>
          <a:bodyPr anchorCtr="0" anchor="t" bIns="0" lIns="0" spcFirstLastPara="1" rIns="0" wrap="square" tIns="123825">
            <a:spAutoFit/>
          </a:bodyPr>
          <a:lstStyle/>
          <a:p>
            <a:pPr indent="0" lvl="0" marL="90805" marR="0" rtl="0" algn="l">
              <a:lnSpc>
                <a:spcPct val="100000"/>
              </a:lnSpc>
              <a:spcBef>
                <a:spcPts val="0"/>
              </a:spcBef>
              <a:spcAft>
                <a:spcPts val="0"/>
              </a:spcAft>
              <a:buNone/>
            </a:pPr>
            <a:r>
              <a:rPr b="1" lang="en-US" sz="1800">
                <a:solidFill>
                  <a:srgbClr val="FFFFFF"/>
                </a:solidFill>
                <a:latin typeface="Tahoma"/>
                <a:ea typeface="Tahoma"/>
                <a:cs typeface="Tahoma"/>
                <a:sym typeface="Tahoma"/>
              </a:rPr>
              <a:t>6) Attributs et méthodes de classe</a:t>
            </a:r>
            <a:endParaRPr sz="1800">
              <a:solidFill>
                <a:schemeClr val="dk1"/>
              </a:solidFill>
              <a:latin typeface="Tahoma"/>
              <a:ea typeface="Tahoma"/>
              <a:cs typeface="Tahoma"/>
              <a:sym typeface="Tahoma"/>
            </a:endParaRPr>
          </a:p>
        </p:txBody>
      </p:sp>
      <p:sp>
        <p:nvSpPr>
          <p:cNvPr id="474" name="Google Shape;474;p3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12700" rtl="0" algn="l">
              <a:lnSpc>
                <a:spcPct val="100000"/>
              </a:lnSpc>
              <a:spcBef>
                <a:spcPts val="0"/>
              </a:spcBef>
              <a:spcAft>
                <a:spcPts val="0"/>
              </a:spcAft>
              <a:buClr>
                <a:srgbClr val="3F3F3F"/>
              </a:buClr>
              <a:buSzPts val="4800"/>
              <a:buFont typeface="Calibri"/>
              <a:buNone/>
            </a:pPr>
            <a:r>
              <a:rPr lang="en-US"/>
              <a:t>Attributs et méthodes de classe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480" name="Google Shape;480;p34"/>
          <p:cNvSpPr/>
          <p:nvPr/>
        </p:nvSpPr>
        <p:spPr>
          <a:xfrm>
            <a:off x="1097280" y="2458720"/>
            <a:ext cx="10058400" cy="2374054"/>
          </a:xfrm>
          <a:prstGeom prst="rect">
            <a:avLst/>
          </a:prstGeom>
        </p:spPr>
        <p:txBody>
          <a:bodyPr>
            <a:prstTxWarp prst="textPlain"/>
          </a:bodyPr>
          <a:lstStyle/>
          <a:p>
            <a:pPr lvl="0" algn="ctr"/>
            <a:r>
              <a:rPr b="0" i="0">
                <a:ln>
                  <a:noFill/>
                </a:ln>
                <a:solidFill>
                  <a:schemeClr val="accent1"/>
                </a:solidFill>
                <a:latin typeface="Calibri"/>
              </a:rPr>
              <a:t>MERCI!</a:t>
            </a:r>
          </a:p>
        </p:txBody>
      </p:sp>
      <p:sp>
        <p:nvSpPr>
          <p:cNvPr id="481" name="Google Shape;481;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étrospective">
  <a:themeElements>
    <a:clrScheme name="Personnalisé 4">
      <a:dk1>
        <a:srgbClr val="000000"/>
      </a:dk1>
      <a:lt1>
        <a:srgbClr val="FFFFFF"/>
      </a:lt1>
      <a:dk2>
        <a:srgbClr val="44546A"/>
      </a:dk2>
      <a:lt2>
        <a:srgbClr val="FFFFFF"/>
      </a:lt2>
      <a:accent1>
        <a:srgbClr val="44546A"/>
      </a:accent1>
      <a:accent2>
        <a:srgbClr val="FFFFFF"/>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2023-02-06T19:13:16Z</dcterms:created>
  <dc:creator>Compte Microsoft</dc:creator>
</cp:coreProperties>
</file>